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p:sldMasterIdLst>
    <p:sldMasterId id="2147483658" r:id="rId4"/>
  </p:sldMasterIdLst>
  <p:notesMasterIdLst>
    <p:notesMasterId r:id="rId22"/>
  </p:notesMasterIdLst>
  <p:handoutMasterIdLst>
    <p:handoutMasterId r:id="rId23"/>
  </p:handoutMasterIdLst>
  <p:sldIdLst>
    <p:sldId id="375" r:id="rId5"/>
    <p:sldId id="377" r:id="rId6"/>
    <p:sldId id="379" r:id="rId7"/>
    <p:sldId id="376" r:id="rId8"/>
    <p:sldId id="389" r:id="rId9"/>
    <p:sldId id="385" r:id="rId10"/>
    <p:sldId id="380" r:id="rId11"/>
    <p:sldId id="353" r:id="rId12"/>
    <p:sldId id="354" r:id="rId13"/>
    <p:sldId id="366" r:id="rId14"/>
    <p:sldId id="387" r:id="rId15"/>
    <p:sldId id="386" r:id="rId16"/>
    <p:sldId id="390" r:id="rId17"/>
    <p:sldId id="388" r:id="rId18"/>
    <p:sldId id="381" r:id="rId19"/>
    <p:sldId id="382" r:id="rId20"/>
    <p:sldId id="384"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E420C6F-6876-4EE9-868D-F4E9EAE44D39}" v="16" dt="2025-03-26T20:01:23.49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676" autoAdjust="0"/>
    <p:restoredTop sz="92184" autoAdjust="0"/>
  </p:normalViewPr>
  <p:slideViewPr>
    <p:cSldViewPr snapToGrid="0">
      <p:cViewPr varScale="1">
        <p:scale>
          <a:sx n="98" d="100"/>
          <a:sy n="98" d="100"/>
        </p:scale>
        <p:origin x="904" y="56"/>
      </p:cViewPr>
      <p:guideLst/>
    </p:cSldViewPr>
  </p:slideViewPr>
  <p:notesTextViewPr>
    <p:cViewPr>
      <p:scale>
        <a:sx n="1" d="1"/>
        <a:sy n="1" d="1"/>
      </p:scale>
      <p:origin x="0" y="0"/>
    </p:cViewPr>
  </p:notesTextViewPr>
  <p:sorterViewPr>
    <p:cViewPr>
      <p:scale>
        <a:sx n="80" d="100"/>
        <a:sy n="80" d="100"/>
      </p:scale>
      <p:origin x="0" y="0"/>
    </p:cViewPr>
  </p:sorterViewPr>
  <p:notesViewPr>
    <p:cSldViewPr snapToGrid="0" showGuides="1">
      <p:cViewPr varScale="1">
        <p:scale>
          <a:sx n="60" d="100"/>
          <a:sy n="60" d="100"/>
        </p:scale>
        <p:origin x="3187" y="4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commentAuthors" Target="commen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3CF665F-8FD5-4AAF-9CE1-1389A42A3594}" type="doc">
      <dgm:prSet loTypeId="urn:diagrams.loki3.com/BracketList" loCatId="officeonline" qsTypeId="urn:microsoft.com/office/officeart/2005/8/quickstyle/simple1" qsCatId="simple" csTypeId="urn:microsoft.com/office/officeart/2005/8/colors/accent2_1" csCatId="accent2" phldr="1"/>
      <dgm:spPr/>
      <dgm:t>
        <a:bodyPr/>
        <a:lstStyle/>
        <a:p>
          <a:endParaRPr lang="en-US"/>
        </a:p>
      </dgm:t>
    </dgm:pt>
    <dgm:pt modelId="{C5A09EA4-55C8-40F5-B55F-7539D3B9F2CA}">
      <dgm:prSet phldrT="[Text]"/>
      <dgm:spPr>
        <a:ln w="28575">
          <a:solidFill>
            <a:schemeClr val="accent6">
              <a:lumMod val="75000"/>
            </a:schemeClr>
          </a:solidFill>
        </a:ln>
      </dgm:spPr>
      <dgm:t>
        <a:bodyPr/>
        <a:lstStyle/>
        <a:p>
          <a:endParaRPr lang="en-US" dirty="0"/>
        </a:p>
      </dgm:t>
    </dgm:pt>
    <dgm:pt modelId="{86414A43-1326-420D-BAB2-48C4133D4C5B}" type="parTrans" cxnId="{F7828CCF-92F8-4D5F-98FC-6A41E9E8AC33}">
      <dgm:prSet/>
      <dgm:spPr/>
      <dgm:t>
        <a:bodyPr/>
        <a:lstStyle/>
        <a:p>
          <a:endParaRPr lang="en-US"/>
        </a:p>
      </dgm:t>
    </dgm:pt>
    <dgm:pt modelId="{1CF87EF6-7E50-4061-8DBB-10C993F377AA}" type="sibTrans" cxnId="{F7828CCF-92F8-4D5F-98FC-6A41E9E8AC33}">
      <dgm:prSet/>
      <dgm:spPr/>
      <dgm:t>
        <a:bodyPr/>
        <a:lstStyle/>
        <a:p>
          <a:endParaRPr lang="en-US"/>
        </a:p>
      </dgm:t>
    </dgm:pt>
    <dgm:pt modelId="{BBE0CE27-E070-4FCA-BAA0-68D5D0F742D2}">
      <dgm:prSet phldrT="[Text]"/>
      <dgm:spPr>
        <a:ln w="28575">
          <a:solidFill>
            <a:srgbClr val="7030A0"/>
          </a:solidFill>
        </a:ln>
      </dgm:spPr>
      <dgm:t>
        <a:bodyPr/>
        <a:lstStyle/>
        <a:p>
          <a:endParaRPr lang="en-US" dirty="0"/>
        </a:p>
      </dgm:t>
    </dgm:pt>
    <dgm:pt modelId="{67ADC71B-1F70-49AC-92D9-18CFE55B1867}" type="parTrans" cxnId="{E4DA4248-C655-42BC-BA41-A5F048FB33A7}">
      <dgm:prSet/>
      <dgm:spPr/>
      <dgm:t>
        <a:bodyPr/>
        <a:lstStyle/>
        <a:p>
          <a:endParaRPr lang="en-US"/>
        </a:p>
      </dgm:t>
    </dgm:pt>
    <dgm:pt modelId="{7B5F42C0-9C7A-4A3F-85D3-50A43323E9D2}" type="sibTrans" cxnId="{E4DA4248-C655-42BC-BA41-A5F048FB33A7}">
      <dgm:prSet/>
      <dgm:spPr/>
      <dgm:t>
        <a:bodyPr/>
        <a:lstStyle/>
        <a:p>
          <a:endParaRPr lang="en-US"/>
        </a:p>
      </dgm:t>
    </dgm:pt>
    <dgm:pt modelId="{DD8EC328-47AF-455B-B063-54DB9DE2B1D7}">
      <dgm:prSet phldrT="[Text]"/>
      <dgm:spPr/>
      <dgm:t>
        <a:bodyPr/>
        <a:lstStyle/>
        <a:p>
          <a:endParaRPr lang="en-US" dirty="0"/>
        </a:p>
      </dgm:t>
    </dgm:pt>
    <dgm:pt modelId="{7991114B-BBD1-4AD3-8797-FF666740343C}" type="parTrans" cxnId="{25212BC5-5A79-406F-9D3E-A460A8874C22}">
      <dgm:prSet/>
      <dgm:spPr/>
      <dgm:t>
        <a:bodyPr/>
        <a:lstStyle/>
        <a:p>
          <a:endParaRPr lang="en-US"/>
        </a:p>
      </dgm:t>
    </dgm:pt>
    <dgm:pt modelId="{3FEC9D90-DB9D-4573-9012-0F939FC8F78C}" type="sibTrans" cxnId="{25212BC5-5A79-406F-9D3E-A460A8874C22}">
      <dgm:prSet/>
      <dgm:spPr/>
      <dgm:t>
        <a:bodyPr/>
        <a:lstStyle/>
        <a:p>
          <a:endParaRPr lang="en-US"/>
        </a:p>
      </dgm:t>
    </dgm:pt>
    <dgm:pt modelId="{E6FB4903-454D-4EFC-88CE-2AAD90D53118}">
      <dgm:prSet phldrT="[Text]"/>
      <dgm:spPr/>
      <dgm:t>
        <a:bodyPr/>
        <a:lstStyle/>
        <a:p>
          <a:endParaRPr lang="en-US" dirty="0"/>
        </a:p>
      </dgm:t>
    </dgm:pt>
    <dgm:pt modelId="{C9906C00-48B7-48C3-9E88-D64CF1DAF449}" type="parTrans" cxnId="{FA273178-6994-47C2-BD48-0B65FD58E32D}">
      <dgm:prSet/>
      <dgm:spPr/>
      <dgm:t>
        <a:bodyPr/>
        <a:lstStyle/>
        <a:p>
          <a:endParaRPr lang="en-US"/>
        </a:p>
      </dgm:t>
    </dgm:pt>
    <dgm:pt modelId="{B47A0057-F219-4C03-897D-709189601F95}" type="sibTrans" cxnId="{FA273178-6994-47C2-BD48-0B65FD58E32D}">
      <dgm:prSet/>
      <dgm:spPr/>
      <dgm:t>
        <a:bodyPr/>
        <a:lstStyle/>
        <a:p>
          <a:endParaRPr lang="en-US"/>
        </a:p>
      </dgm:t>
    </dgm:pt>
    <dgm:pt modelId="{8E414426-2A24-4B62-89BE-FBF69F08943D}">
      <dgm:prSet phldrT="[Text]"/>
      <dgm:spPr/>
      <dgm:t>
        <a:bodyPr/>
        <a:lstStyle/>
        <a:p>
          <a:endParaRPr lang="en-US" dirty="0"/>
        </a:p>
      </dgm:t>
    </dgm:pt>
    <dgm:pt modelId="{5D053F47-5779-47B4-8504-0098AA47B6F9}" type="parTrans" cxnId="{CF9D828B-892E-4043-9A44-60840E1418A5}">
      <dgm:prSet/>
      <dgm:spPr/>
      <dgm:t>
        <a:bodyPr/>
        <a:lstStyle/>
        <a:p>
          <a:endParaRPr lang="en-US"/>
        </a:p>
      </dgm:t>
    </dgm:pt>
    <dgm:pt modelId="{9DACB67F-1F28-4724-97BC-E1EC501FD6F7}" type="sibTrans" cxnId="{CF9D828B-892E-4043-9A44-60840E1418A5}">
      <dgm:prSet/>
      <dgm:spPr/>
      <dgm:t>
        <a:bodyPr/>
        <a:lstStyle/>
        <a:p>
          <a:endParaRPr lang="en-US"/>
        </a:p>
      </dgm:t>
    </dgm:pt>
    <dgm:pt modelId="{11762C5D-A41D-4E2F-BE99-E912B42A261A}">
      <dgm:prSet phldrT="[Text]"/>
      <dgm:spPr>
        <a:ln w="28575">
          <a:solidFill>
            <a:srgbClr val="A80000"/>
          </a:solidFill>
        </a:ln>
      </dgm:spPr>
      <dgm:t>
        <a:bodyPr/>
        <a:lstStyle/>
        <a:p>
          <a:endParaRPr lang="en-US" dirty="0"/>
        </a:p>
      </dgm:t>
    </dgm:pt>
    <dgm:pt modelId="{262279DE-E217-4A62-BA95-22E6B9B059B4}" type="sibTrans" cxnId="{89465E5F-E9F0-4292-9506-D8ED9001B9B7}">
      <dgm:prSet/>
      <dgm:spPr/>
      <dgm:t>
        <a:bodyPr/>
        <a:lstStyle/>
        <a:p>
          <a:endParaRPr lang="en-US"/>
        </a:p>
      </dgm:t>
    </dgm:pt>
    <dgm:pt modelId="{A4A5E140-29A1-4B85-95E3-A7BDEC295598}" type="parTrans" cxnId="{89465E5F-E9F0-4292-9506-D8ED9001B9B7}">
      <dgm:prSet/>
      <dgm:spPr/>
      <dgm:t>
        <a:bodyPr/>
        <a:lstStyle/>
        <a:p>
          <a:endParaRPr lang="en-US"/>
        </a:p>
      </dgm:t>
    </dgm:pt>
    <dgm:pt modelId="{8364C001-8251-4AB3-847B-9F509D4201B4}" type="pres">
      <dgm:prSet presAssocID="{F3CF665F-8FD5-4AAF-9CE1-1389A42A3594}" presName="Name0" presStyleCnt="0">
        <dgm:presLayoutVars>
          <dgm:dir/>
          <dgm:animLvl val="lvl"/>
          <dgm:resizeHandles val="exact"/>
        </dgm:presLayoutVars>
      </dgm:prSet>
      <dgm:spPr/>
    </dgm:pt>
    <dgm:pt modelId="{FFF82818-EBCC-4BDB-B091-6945D7FF96FF}" type="pres">
      <dgm:prSet presAssocID="{DD8EC328-47AF-455B-B063-54DB9DE2B1D7}" presName="linNode" presStyleCnt="0"/>
      <dgm:spPr/>
    </dgm:pt>
    <dgm:pt modelId="{0C1D72CE-66F8-47FD-9148-3352EB4B2AD6}" type="pres">
      <dgm:prSet presAssocID="{DD8EC328-47AF-455B-B063-54DB9DE2B1D7}" presName="parTx" presStyleLbl="revTx" presStyleIdx="0" presStyleCnt="3">
        <dgm:presLayoutVars>
          <dgm:chMax val="1"/>
          <dgm:bulletEnabled val="1"/>
        </dgm:presLayoutVars>
      </dgm:prSet>
      <dgm:spPr/>
    </dgm:pt>
    <dgm:pt modelId="{C0AA508C-73E9-4C87-BC43-634B4EDA8EA5}" type="pres">
      <dgm:prSet presAssocID="{DD8EC328-47AF-455B-B063-54DB9DE2B1D7}" presName="bracket" presStyleLbl="parChTrans1D1" presStyleIdx="0" presStyleCnt="3"/>
      <dgm:spPr>
        <a:ln>
          <a:solidFill>
            <a:srgbClr val="A80000"/>
          </a:solidFill>
        </a:ln>
      </dgm:spPr>
    </dgm:pt>
    <dgm:pt modelId="{6A6536C8-49F7-4DF9-A426-26EEFC2AD5B7}" type="pres">
      <dgm:prSet presAssocID="{DD8EC328-47AF-455B-B063-54DB9DE2B1D7}" presName="spH" presStyleCnt="0"/>
      <dgm:spPr/>
    </dgm:pt>
    <dgm:pt modelId="{F9359D53-7D54-4D53-8B05-2CE8A13272B5}" type="pres">
      <dgm:prSet presAssocID="{DD8EC328-47AF-455B-B063-54DB9DE2B1D7}" presName="desTx" presStyleLbl="node1" presStyleIdx="0" presStyleCnt="3" custLinFactNeighborX="-5310" custLinFactNeighborY="1383">
        <dgm:presLayoutVars>
          <dgm:bulletEnabled val="1"/>
        </dgm:presLayoutVars>
      </dgm:prSet>
      <dgm:spPr/>
    </dgm:pt>
    <dgm:pt modelId="{AFA149CD-3F90-41A9-863C-D9BDF0470764}" type="pres">
      <dgm:prSet presAssocID="{3FEC9D90-DB9D-4573-9012-0F939FC8F78C}" presName="spV" presStyleCnt="0"/>
      <dgm:spPr/>
    </dgm:pt>
    <dgm:pt modelId="{7CCA9EF9-DF7E-4CAC-A541-B35C2A300819}" type="pres">
      <dgm:prSet presAssocID="{E6FB4903-454D-4EFC-88CE-2AAD90D53118}" presName="linNode" presStyleCnt="0"/>
      <dgm:spPr/>
    </dgm:pt>
    <dgm:pt modelId="{8EE3F717-8CCB-48AE-9DDC-F15FC01FECA4}" type="pres">
      <dgm:prSet presAssocID="{E6FB4903-454D-4EFC-88CE-2AAD90D53118}" presName="parTx" presStyleLbl="revTx" presStyleIdx="1" presStyleCnt="3">
        <dgm:presLayoutVars>
          <dgm:chMax val="1"/>
          <dgm:bulletEnabled val="1"/>
        </dgm:presLayoutVars>
      </dgm:prSet>
      <dgm:spPr/>
    </dgm:pt>
    <dgm:pt modelId="{301541D7-C0B4-43E7-9D06-C571A2BF84ED}" type="pres">
      <dgm:prSet presAssocID="{E6FB4903-454D-4EFC-88CE-2AAD90D53118}" presName="bracket" presStyleLbl="parChTrans1D1" presStyleIdx="1" presStyleCnt="3"/>
      <dgm:spPr>
        <a:ln>
          <a:solidFill>
            <a:srgbClr val="7030A0"/>
          </a:solidFill>
        </a:ln>
      </dgm:spPr>
    </dgm:pt>
    <dgm:pt modelId="{3D5A10F4-4573-49C4-AA59-3A659F43C40E}" type="pres">
      <dgm:prSet presAssocID="{E6FB4903-454D-4EFC-88CE-2AAD90D53118}" presName="spH" presStyleCnt="0"/>
      <dgm:spPr/>
    </dgm:pt>
    <dgm:pt modelId="{C815A1D9-45AB-4E90-9E9D-DC9B909B085C}" type="pres">
      <dgm:prSet presAssocID="{E6FB4903-454D-4EFC-88CE-2AAD90D53118}" presName="desTx" presStyleLbl="node1" presStyleIdx="1" presStyleCnt="3" custLinFactNeighborY="807">
        <dgm:presLayoutVars>
          <dgm:bulletEnabled val="1"/>
        </dgm:presLayoutVars>
      </dgm:prSet>
      <dgm:spPr/>
    </dgm:pt>
    <dgm:pt modelId="{7689116D-EEF0-43B8-B78F-C977C8FE26C4}" type="pres">
      <dgm:prSet presAssocID="{B47A0057-F219-4C03-897D-709189601F95}" presName="spV" presStyleCnt="0"/>
      <dgm:spPr/>
    </dgm:pt>
    <dgm:pt modelId="{B32CA2D0-DC24-461A-AE13-87256E19DE5D}" type="pres">
      <dgm:prSet presAssocID="{8E414426-2A24-4B62-89BE-FBF69F08943D}" presName="linNode" presStyleCnt="0"/>
      <dgm:spPr/>
    </dgm:pt>
    <dgm:pt modelId="{CDCFE62A-6350-4350-9785-07402004DF36}" type="pres">
      <dgm:prSet presAssocID="{8E414426-2A24-4B62-89BE-FBF69F08943D}" presName="parTx" presStyleLbl="revTx" presStyleIdx="2" presStyleCnt="3">
        <dgm:presLayoutVars>
          <dgm:chMax val="1"/>
          <dgm:bulletEnabled val="1"/>
        </dgm:presLayoutVars>
      </dgm:prSet>
      <dgm:spPr/>
    </dgm:pt>
    <dgm:pt modelId="{99073D87-65D5-482A-8B7B-EABC31A565B5}" type="pres">
      <dgm:prSet presAssocID="{8E414426-2A24-4B62-89BE-FBF69F08943D}" presName="bracket" presStyleLbl="parChTrans1D1" presStyleIdx="2" presStyleCnt="3"/>
      <dgm:spPr>
        <a:ln>
          <a:solidFill>
            <a:schemeClr val="accent6">
              <a:lumMod val="75000"/>
            </a:schemeClr>
          </a:solidFill>
        </a:ln>
      </dgm:spPr>
    </dgm:pt>
    <dgm:pt modelId="{0F94FBEA-1399-4F75-AF01-45A0F0D5939D}" type="pres">
      <dgm:prSet presAssocID="{8E414426-2A24-4B62-89BE-FBF69F08943D}" presName="spH" presStyleCnt="0"/>
      <dgm:spPr/>
    </dgm:pt>
    <dgm:pt modelId="{80B05F97-D282-49CF-9D41-4871C1016991}" type="pres">
      <dgm:prSet presAssocID="{8E414426-2A24-4B62-89BE-FBF69F08943D}" presName="desTx" presStyleLbl="node1" presStyleIdx="2" presStyleCnt="3">
        <dgm:presLayoutVars>
          <dgm:bulletEnabled val="1"/>
        </dgm:presLayoutVars>
      </dgm:prSet>
      <dgm:spPr/>
    </dgm:pt>
  </dgm:ptLst>
  <dgm:cxnLst>
    <dgm:cxn modelId="{3C9ED636-C3D3-4D4A-B2EF-4E709533B285}" type="presOf" srcId="{E6FB4903-454D-4EFC-88CE-2AAD90D53118}" destId="{8EE3F717-8CCB-48AE-9DDC-F15FC01FECA4}" srcOrd="0" destOrd="0" presId="urn:diagrams.loki3.com/BracketList"/>
    <dgm:cxn modelId="{89465E5F-E9F0-4292-9506-D8ED9001B9B7}" srcId="{DD8EC328-47AF-455B-B063-54DB9DE2B1D7}" destId="{11762C5D-A41D-4E2F-BE99-E912B42A261A}" srcOrd="0" destOrd="0" parTransId="{A4A5E140-29A1-4B85-95E3-A7BDEC295598}" sibTransId="{262279DE-E217-4A62-BA95-22E6B9B059B4}"/>
    <dgm:cxn modelId="{E4DA4248-C655-42BC-BA41-A5F048FB33A7}" srcId="{E6FB4903-454D-4EFC-88CE-2AAD90D53118}" destId="{BBE0CE27-E070-4FCA-BAA0-68D5D0F742D2}" srcOrd="0" destOrd="0" parTransId="{67ADC71B-1F70-49AC-92D9-18CFE55B1867}" sibTransId="{7B5F42C0-9C7A-4A3F-85D3-50A43323E9D2}"/>
    <dgm:cxn modelId="{FA6E8070-54D9-4699-97E1-D8657E54E68A}" type="presOf" srcId="{11762C5D-A41D-4E2F-BE99-E912B42A261A}" destId="{F9359D53-7D54-4D53-8B05-2CE8A13272B5}" srcOrd="0" destOrd="0" presId="urn:diagrams.loki3.com/BracketList"/>
    <dgm:cxn modelId="{48791B78-A9B6-4B7C-A771-6A73A7E52ED6}" type="presOf" srcId="{BBE0CE27-E070-4FCA-BAA0-68D5D0F742D2}" destId="{C815A1D9-45AB-4E90-9E9D-DC9B909B085C}" srcOrd="0" destOrd="0" presId="urn:diagrams.loki3.com/BracketList"/>
    <dgm:cxn modelId="{FA273178-6994-47C2-BD48-0B65FD58E32D}" srcId="{F3CF665F-8FD5-4AAF-9CE1-1389A42A3594}" destId="{E6FB4903-454D-4EFC-88CE-2AAD90D53118}" srcOrd="1" destOrd="0" parTransId="{C9906C00-48B7-48C3-9E88-D64CF1DAF449}" sibTransId="{B47A0057-F219-4C03-897D-709189601F95}"/>
    <dgm:cxn modelId="{CF9D828B-892E-4043-9A44-60840E1418A5}" srcId="{F3CF665F-8FD5-4AAF-9CE1-1389A42A3594}" destId="{8E414426-2A24-4B62-89BE-FBF69F08943D}" srcOrd="2" destOrd="0" parTransId="{5D053F47-5779-47B4-8504-0098AA47B6F9}" sibTransId="{9DACB67F-1F28-4724-97BC-E1EC501FD6F7}"/>
    <dgm:cxn modelId="{89E80298-4F5D-4008-8D15-F0447178CE79}" type="presOf" srcId="{C5A09EA4-55C8-40F5-B55F-7539D3B9F2CA}" destId="{80B05F97-D282-49CF-9D41-4871C1016991}" srcOrd="0" destOrd="0" presId="urn:diagrams.loki3.com/BracketList"/>
    <dgm:cxn modelId="{25212BC5-5A79-406F-9D3E-A460A8874C22}" srcId="{F3CF665F-8FD5-4AAF-9CE1-1389A42A3594}" destId="{DD8EC328-47AF-455B-B063-54DB9DE2B1D7}" srcOrd="0" destOrd="0" parTransId="{7991114B-BBD1-4AD3-8797-FF666740343C}" sibTransId="{3FEC9D90-DB9D-4573-9012-0F939FC8F78C}"/>
    <dgm:cxn modelId="{0774D2C7-1A47-4879-BB6C-6CF374D47A6F}" type="presOf" srcId="{8E414426-2A24-4B62-89BE-FBF69F08943D}" destId="{CDCFE62A-6350-4350-9785-07402004DF36}" srcOrd="0" destOrd="0" presId="urn:diagrams.loki3.com/BracketList"/>
    <dgm:cxn modelId="{F7828CCF-92F8-4D5F-98FC-6A41E9E8AC33}" srcId="{8E414426-2A24-4B62-89BE-FBF69F08943D}" destId="{C5A09EA4-55C8-40F5-B55F-7539D3B9F2CA}" srcOrd="0" destOrd="0" parTransId="{86414A43-1326-420D-BAB2-48C4133D4C5B}" sibTransId="{1CF87EF6-7E50-4061-8DBB-10C993F377AA}"/>
    <dgm:cxn modelId="{1C2D41D5-CEC0-4D64-8665-8E48CAEF5B64}" type="presOf" srcId="{F3CF665F-8FD5-4AAF-9CE1-1389A42A3594}" destId="{8364C001-8251-4AB3-847B-9F509D4201B4}" srcOrd="0" destOrd="0" presId="urn:diagrams.loki3.com/BracketList"/>
    <dgm:cxn modelId="{C87A1EF5-D413-4559-8074-E763159C8D67}" type="presOf" srcId="{DD8EC328-47AF-455B-B063-54DB9DE2B1D7}" destId="{0C1D72CE-66F8-47FD-9148-3352EB4B2AD6}" srcOrd="0" destOrd="0" presId="urn:diagrams.loki3.com/BracketList"/>
    <dgm:cxn modelId="{71719AC1-525C-499A-B34A-E935BEC25103}" type="presParOf" srcId="{8364C001-8251-4AB3-847B-9F509D4201B4}" destId="{FFF82818-EBCC-4BDB-B091-6945D7FF96FF}" srcOrd="0" destOrd="0" presId="urn:diagrams.loki3.com/BracketList"/>
    <dgm:cxn modelId="{34666C6F-1CD4-48A7-AC3E-D9E437396D6F}" type="presParOf" srcId="{FFF82818-EBCC-4BDB-B091-6945D7FF96FF}" destId="{0C1D72CE-66F8-47FD-9148-3352EB4B2AD6}" srcOrd="0" destOrd="0" presId="urn:diagrams.loki3.com/BracketList"/>
    <dgm:cxn modelId="{E8F1D865-7B3D-495B-92ED-13A4BC33EB97}" type="presParOf" srcId="{FFF82818-EBCC-4BDB-B091-6945D7FF96FF}" destId="{C0AA508C-73E9-4C87-BC43-634B4EDA8EA5}" srcOrd="1" destOrd="0" presId="urn:diagrams.loki3.com/BracketList"/>
    <dgm:cxn modelId="{3DD9304D-5A84-4E44-A35E-6B517FF43F5F}" type="presParOf" srcId="{FFF82818-EBCC-4BDB-B091-6945D7FF96FF}" destId="{6A6536C8-49F7-4DF9-A426-26EEFC2AD5B7}" srcOrd="2" destOrd="0" presId="urn:diagrams.loki3.com/BracketList"/>
    <dgm:cxn modelId="{0353C14C-FD14-43B2-9878-BDB1E7CD6B02}" type="presParOf" srcId="{FFF82818-EBCC-4BDB-B091-6945D7FF96FF}" destId="{F9359D53-7D54-4D53-8B05-2CE8A13272B5}" srcOrd="3" destOrd="0" presId="urn:diagrams.loki3.com/BracketList"/>
    <dgm:cxn modelId="{A516DED2-A566-48DF-82DB-ED74395DB0D8}" type="presParOf" srcId="{8364C001-8251-4AB3-847B-9F509D4201B4}" destId="{AFA149CD-3F90-41A9-863C-D9BDF0470764}" srcOrd="1" destOrd="0" presId="urn:diagrams.loki3.com/BracketList"/>
    <dgm:cxn modelId="{75EB67A2-9F9D-42D3-B7DD-6333724EC38C}" type="presParOf" srcId="{8364C001-8251-4AB3-847B-9F509D4201B4}" destId="{7CCA9EF9-DF7E-4CAC-A541-B35C2A300819}" srcOrd="2" destOrd="0" presId="urn:diagrams.loki3.com/BracketList"/>
    <dgm:cxn modelId="{D1A95D05-7DA2-4B07-8653-717BF2A96166}" type="presParOf" srcId="{7CCA9EF9-DF7E-4CAC-A541-B35C2A300819}" destId="{8EE3F717-8CCB-48AE-9DDC-F15FC01FECA4}" srcOrd="0" destOrd="0" presId="urn:diagrams.loki3.com/BracketList"/>
    <dgm:cxn modelId="{19F2CF7C-FF44-4009-B740-5D312A986995}" type="presParOf" srcId="{7CCA9EF9-DF7E-4CAC-A541-B35C2A300819}" destId="{301541D7-C0B4-43E7-9D06-C571A2BF84ED}" srcOrd="1" destOrd="0" presId="urn:diagrams.loki3.com/BracketList"/>
    <dgm:cxn modelId="{D0AC39CB-CB7D-464F-AB2C-312DF095858C}" type="presParOf" srcId="{7CCA9EF9-DF7E-4CAC-A541-B35C2A300819}" destId="{3D5A10F4-4573-49C4-AA59-3A659F43C40E}" srcOrd="2" destOrd="0" presId="urn:diagrams.loki3.com/BracketList"/>
    <dgm:cxn modelId="{7060EA48-9027-4AAE-ACDD-9DDE9DD6D6C4}" type="presParOf" srcId="{7CCA9EF9-DF7E-4CAC-A541-B35C2A300819}" destId="{C815A1D9-45AB-4E90-9E9D-DC9B909B085C}" srcOrd="3" destOrd="0" presId="urn:diagrams.loki3.com/BracketList"/>
    <dgm:cxn modelId="{074FF213-79A5-4730-960B-2E62429EF589}" type="presParOf" srcId="{8364C001-8251-4AB3-847B-9F509D4201B4}" destId="{7689116D-EEF0-43B8-B78F-C977C8FE26C4}" srcOrd="3" destOrd="0" presId="urn:diagrams.loki3.com/BracketList"/>
    <dgm:cxn modelId="{A6D2B01B-4B47-4E01-A406-D2D5454E4606}" type="presParOf" srcId="{8364C001-8251-4AB3-847B-9F509D4201B4}" destId="{B32CA2D0-DC24-461A-AE13-87256E19DE5D}" srcOrd="4" destOrd="0" presId="urn:diagrams.loki3.com/BracketList"/>
    <dgm:cxn modelId="{C534DFA5-69EC-4013-AA4E-FE4DFE7DDE49}" type="presParOf" srcId="{B32CA2D0-DC24-461A-AE13-87256E19DE5D}" destId="{CDCFE62A-6350-4350-9785-07402004DF36}" srcOrd="0" destOrd="0" presId="urn:diagrams.loki3.com/BracketList"/>
    <dgm:cxn modelId="{AC2E96D6-D734-4578-B2EA-46C3805C830F}" type="presParOf" srcId="{B32CA2D0-DC24-461A-AE13-87256E19DE5D}" destId="{99073D87-65D5-482A-8B7B-EABC31A565B5}" srcOrd="1" destOrd="0" presId="urn:diagrams.loki3.com/BracketList"/>
    <dgm:cxn modelId="{3437E99F-3B3C-470A-A8B5-ADEB4D3EAEBC}" type="presParOf" srcId="{B32CA2D0-DC24-461A-AE13-87256E19DE5D}" destId="{0F94FBEA-1399-4F75-AF01-45A0F0D5939D}" srcOrd="2" destOrd="0" presId="urn:diagrams.loki3.com/BracketList"/>
    <dgm:cxn modelId="{6DCA4F6E-9A94-4FC1-9ECA-7650AC75B9E3}" type="presParOf" srcId="{B32CA2D0-DC24-461A-AE13-87256E19DE5D}" destId="{80B05F97-D282-49CF-9D41-4871C1016991}" srcOrd="3" destOrd="0" presId="urn:diagrams.loki3.com/Bracket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1D72CE-66F8-47FD-9148-3352EB4B2AD6}">
      <dsp:nvSpPr>
        <dsp:cNvPr id="0" name=""/>
        <dsp:cNvSpPr/>
      </dsp:nvSpPr>
      <dsp:spPr>
        <a:xfrm>
          <a:off x="0" y="12183"/>
          <a:ext cx="1019099" cy="891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20040" tIns="114300" rIns="320040" bIns="114300" numCol="1" spcCol="1270" anchor="ctr" anchorCtr="0">
          <a:noAutofit/>
        </a:bodyPr>
        <a:lstStyle/>
        <a:p>
          <a:pPr marL="0" lvl="0" indent="0" algn="r" defTabSz="2000250">
            <a:lnSpc>
              <a:spcPct val="90000"/>
            </a:lnSpc>
            <a:spcBef>
              <a:spcPct val="0"/>
            </a:spcBef>
            <a:spcAft>
              <a:spcPct val="35000"/>
            </a:spcAft>
            <a:buNone/>
          </a:pPr>
          <a:endParaRPr lang="en-US" sz="4500" kern="1200" dirty="0"/>
        </a:p>
      </dsp:txBody>
      <dsp:txXfrm>
        <a:off x="0" y="12183"/>
        <a:ext cx="1019099" cy="891000"/>
      </dsp:txXfrm>
    </dsp:sp>
    <dsp:sp modelId="{C0AA508C-73E9-4C87-BC43-634B4EDA8EA5}">
      <dsp:nvSpPr>
        <dsp:cNvPr id="0" name=""/>
        <dsp:cNvSpPr/>
      </dsp:nvSpPr>
      <dsp:spPr>
        <a:xfrm>
          <a:off x="1019099" y="12183"/>
          <a:ext cx="203819" cy="891000"/>
        </a:xfrm>
        <a:prstGeom prst="leftBrace">
          <a:avLst>
            <a:gd name="adj1" fmla="val 35000"/>
            <a:gd name="adj2" fmla="val 50000"/>
          </a:avLst>
        </a:prstGeom>
        <a:noFill/>
        <a:ln w="12700" cap="flat" cmpd="sng" algn="ctr">
          <a:solidFill>
            <a:srgbClr val="A80000"/>
          </a:solidFill>
          <a:prstDash val="solid"/>
          <a:miter lim="800000"/>
        </a:ln>
        <a:effectLst/>
      </dsp:spPr>
      <dsp:style>
        <a:lnRef idx="2">
          <a:scrgbClr r="0" g="0" b="0"/>
        </a:lnRef>
        <a:fillRef idx="0">
          <a:scrgbClr r="0" g="0" b="0"/>
        </a:fillRef>
        <a:effectRef idx="0">
          <a:scrgbClr r="0" g="0" b="0"/>
        </a:effectRef>
        <a:fontRef idx="minor"/>
      </dsp:style>
    </dsp:sp>
    <dsp:sp modelId="{F9359D53-7D54-4D53-8B05-2CE8A13272B5}">
      <dsp:nvSpPr>
        <dsp:cNvPr id="0" name=""/>
        <dsp:cNvSpPr/>
      </dsp:nvSpPr>
      <dsp:spPr>
        <a:xfrm>
          <a:off x="1300118" y="24506"/>
          <a:ext cx="2771951" cy="891000"/>
        </a:xfrm>
        <a:prstGeom prst="rect">
          <a:avLst/>
        </a:prstGeom>
        <a:solidFill>
          <a:schemeClr val="lt1">
            <a:hueOff val="0"/>
            <a:satOff val="0"/>
            <a:lumOff val="0"/>
            <a:alphaOff val="0"/>
          </a:schemeClr>
        </a:solidFill>
        <a:ln w="28575" cap="flat" cmpd="sng" algn="ctr">
          <a:solidFill>
            <a:srgbClr val="A8000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1450" tIns="171450" rIns="171450" bIns="171450" numCol="1" spcCol="1270" anchor="ctr" anchorCtr="0">
          <a:noAutofit/>
        </a:bodyPr>
        <a:lstStyle/>
        <a:p>
          <a:pPr marL="285750" lvl="1" indent="-285750" algn="l" defTabSz="2000250">
            <a:lnSpc>
              <a:spcPct val="90000"/>
            </a:lnSpc>
            <a:spcBef>
              <a:spcPct val="0"/>
            </a:spcBef>
            <a:spcAft>
              <a:spcPct val="15000"/>
            </a:spcAft>
            <a:buChar char="•"/>
          </a:pPr>
          <a:endParaRPr lang="en-US" sz="4500" kern="1200" dirty="0"/>
        </a:p>
      </dsp:txBody>
      <dsp:txXfrm>
        <a:off x="1300118" y="24506"/>
        <a:ext cx="2771951" cy="891000"/>
      </dsp:txXfrm>
    </dsp:sp>
    <dsp:sp modelId="{8EE3F717-8CCB-48AE-9DDC-F15FC01FECA4}">
      <dsp:nvSpPr>
        <dsp:cNvPr id="0" name=""/>
        <dsp:cNvSpPr/>
      </dsp:nvSpPr>
      <dsp:spPr>
        <a:xfrm>
          <a:off x="0" y="1065183"/>
          <a:ext cx="1019099" cy="891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20040" tIns="114300" rIns="320040" bIns="114300" numCol="1" spcCol="1270" anchor="ctr" anchorCtr="0">
          <a:noAutofit/>
        </a:bodyPr>
        <a:lstStyle/>
        <a:p>
          <a:pPr marL="0" lvl="0" indent="0" algn="r" defTabSz="2000250">
            <a:lnSpc>
              <a:spcPct val="90000"/>
            </a:lnSpc>
            <a:spcBef>
              <a:spcPct val="0"/>
            </a:spcBef>
            <a:spcAft>
              <a:spcPct val="35000"/>
            </a:spcAft>
            <a:buNone/>
          </a:pPr>
          <a:endParaRPr lang="en-US" sz="4500" kern="1200" dirty="0"/>
        </a:p>
      </dsp:txBody>
      <dsp:txXfrm>
        <a:off x="0" y="1065183"/>
        <a:ext cx="1019099" cy="891000"/>
      </dsp:txXfrm>
    </dsp:sp>
    <dsp:sp modelId="{301541D7-C0B4-43E7-9D06-C571A2BF84ED}">
      <dsp:nvSpPr>
        <dsp:cNvPr id="0" name=""/>
        <dsp:cNvSpPr/>
      </dsp:nvSpPr>
      <dsp:spPr>
        <a:xfrm>
          <a:off x="1019099" y="1065183"/>
          <a:ext cx="203819" cy="891000"/>
        </a:xfrm>
        <a:prstGeom prst="leftBrace">
          <a:avLst>
            <a:gd name="adj1" fmla="val 35000"/>
            <a:gd name="adj2" fmla="val 50000"/>
          </a:avLst>
        </a:prstGeom>
        <a:noFill/>
        <a:ln w="12700" cap="flat" cmpd="sng" algn="ctr">
          <a:solidFill>
            <a:srgbClr val="7030A0"/>
          </a:solidFill>
          <a:prstDash val="solid"/>
          <a:miter lim="800000"/>
        </a:ln>
        <a:effectLst/>
      </dsp:spPr>
      <dsp:style>
        <a:lnRef idx="2">
          <a:scrgbClr r="0" g="0" b="0"/>
        </a:lnRef>
        <a:fillRef idx="0">
          <a:scrgbClr r="0" g="0" b="0"/>
        </a:fillRef>
        <a:effectRef idx="0">
          <a:scrgbClr r="0" g="0" b="0"/>
        </a:effectRef>
        <a:fontRef idx="minor"/>
      </dsp:style>
    </dsp:sp>
    <dsp:sp modelId="{C815A1D9-45AB-4E90-9E9D-DC9B909B085C}">
      <dsp:nvSpPr>
        <dsp:cNvPr id="0" name=""/>
        <dsp:cNvSpPr/>
      </dsp:nvSpPr>
      <dsp:spPr>
        <a:xfrm>
          <a:off x="1304447" y="1072373"/>
          <a:ext cx="2771951" cy="891000"/>
        </a:xfrm>
        <a:prstGeom prst="rect">
          <a:avLst/>
        </a:prstGeom>
        <a:solidFill>
          <a:schemeClr val="lt1">
            <a:hueOff val="0"/>
            <a:satOff val="0"/>
            <a:lumOff val="0"/>
            <a:alphaOff val="0"/>
          </a:schemeClr>
        </a:solidFill>
        <a:ln w="28575" cap="flat" cmpd="sng" algn="ctr">
          <a:solidFill>
            <a:srgbClr val="7030A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1450" tIns="171450" rIns="171450" bIns="171450" numCol="1" spcCol="1270" anchor="ctr" anchorCtr="0">
          <a:noAutofit/>
        </a:bodyPr>
        <a:lstStyle/>
        <a:p>
          <a:pPr marL="285750" lvl="1" indent="-285750" algn="l" defTabSz="2000250">
            <a:lnSpc>
              <a:spcPct val="90000"/>
            </a:lnSpc>
            <a:spcBef>
              <a:spcPct val="0"/>
            </a:spcBef>
            <a:spcAft>
              <a:spcPct val="15000"/>
            </a:spcAft>
            <a:buChar char="•"/>
          </a:pPr>
          <a:endParaRPr lang="en-US" sz="4500" kern="1200" dirty="0"/>
        </a:p>
      </dsp:txBody>
      <dsp:txXfrm>
        <a:off x="1304447" y="1072373"/>
        <a:ext cx="2771951" cy="891000"/>
      </dsp:txXfrm>
    </dsp:sp>
    <dsp:sp modelId="{CDCFE62A-6350-4350-9785-07402004DF36}">
      <dsp:nvSpPr>
        <dsp:cNvPr id="0" name=""/>
        <dsp:cNvSpPr/>
      </dsp:nvSpPr>
      <dsp:spPr>
        <a:xfrm>
          <a:off x="0" y="2118183"/>
          <a:ext cx="1019099" cy="891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20040" tIns="114300" rIns="320040" bIns="114300" numCol="1" spcCol="1270" anchor="ctr" anchorCtr="0">
          <a:noAutofit/>
        </a:bodyPr>
        <a:lstStyle/>
        <a:p>
          <a:pPr marL="0" lvl="0" indent="0" algn="r" defTabSz="2000250">
            <a:lnSpc>
              <a:spcPct val="90000"/>
            </a:lnSpc>
            <a:spcBef>
              <a:spcPct val="0"/>
            </a:spcBef>
            <a:spcAft>
              <a:spcPct val="35000"/>
            </a:spcAft>
            <a:buNone/>
          </a:pPr>
          <a:endParaRPr lang="en-US" sz="4500" kern="1200" dirty="0"/>
        </a:p>
      </dsp:txBody>
      <dsp:txXfrm>
        <a:off x="0" y="2118183"/>
        <a:ext cx="1019099" cy="891000"/>
      </dsp:txXfrm>
    </dsp:sp>
    <dsp:sp modelId="{99073D87-65D5-482A-8B7B-EABC31A565B5}">
      <dsp:nvSpPr>
        <dsp:cNvPr id="0" name=""/>
        <dsp:cNvSpPr/>
      </dsp:nvSpPr>
      <dsp:spPr>
        <a:xfrm>
          <a:off x="1019099" y="2118183"/>
          <a:ext cx="203819" cy="891000"/>
        </a:xfrm>
        <a:prstGeom prst="leftBrace">
          <a:avLst>
            <a:gd name="adj1" fmla="val 35000"/>
            <a:gd name="adj2" fmla="val 50000"/>
          </a:avLst>
        </a:prstGeom>
        <a:noFill/>
        <a:ln w="12700" cap="flat" cmpd="sng" algn="ctr">
          <a:solidFill>
            <a:schemeClr val="accent6">
              <a:lumMod val="75000"/>
            </a:schemeClr>
          </a:solidFill>
          <a:prstDash val="solid"/>
          <a:miter lim="800000"/>
        </a:ln>
        <a:effectLst/>
      </dsp:spPr>
      <dsp:style>
        <a:lnRef idx="2">
          <a:scrgbClr r="0" g="0" b="0"/>
        </a:lnRef>
        <a:fillRef idx="0">
          <a:scrgbClr r="0" g="0" b="0"/>
        </a:fillRef>
        <a:effectRef idx="0">
          <a:scrgbClr r="0" g="0" b="0"/>
        </a:effectRef>
        <a:fontRef idx="minor"/>
      </dsp:style>
    </dsp:sp>
    <dsp:sp modelId="{80B05F97-D282-49CF-9D41-4871C1016991}">
      <dsp:nvSpPr>
        <dsp:cNvPr id="0" name=""/>
        <dsp:cNvSpPr/>
      </dsp:nvSpPr>
      <dsp:spPr>
        <a:xfrm>
          <a:off x="1304447" y="2118183"/>
          <a:ext cx="2771951" cy="891000"/>
        </a:xfrm>
        <a:prstGeom prst="rect">
          <a:avLst/>
        </a:prstGeom>
        <a:solidFill>
          <a:schemeClr val="lt1">
            <a:hueOff val="0"/>
            <a:satOff val="0"/>
            <a:lumOff val="0"/>
            <a:alphaOff val="0"/>
          </a:schemeClr>
        </a:solidFill>
        <a:ln w="28575" cap="flat" cmpd="sng" algn="ctr">
          <a:solidFill>
            <a:schemeClr val="accent6">
              <a:lumMod val="75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1450" tIns="171450" rIns="171450" bIns="171450" numCol="1" spcCol="1270" anchor="ctr" anchorCtr="0">
          <a:noAutofit/>
        </a:bodyPr>
        <a:lstStyle/>
        <a:p>
          <a:pPr marL="285750" lvl="1" indent="-285750" algn="l" defTabSz="2000250">
            <a:lnSpc>
              <a:spcPct val="90000"/>
            </a:lnSpc>
            <a:spcBef>
              <a:spcPct val="0"/>
            </a:spcBef>
            <a:spcAft>
              <a:spcPct val="15000"/>
            </a:spcAft>
            <a:buChar char="•"/>
          </a:pPr>
          <a:endParaRPr lang="en-US" sz="4500" kern="1200" dirty="0"/>
        </a:p>
      </dsp:txBody>
      <dsp:txXfrm>
        <a:off x="1304447" y="2118183"/>
        <a:ext cx="2771951" cy="891000"/>
      </dsp:txXfrm>
    </dsp:sp>
  </dsp:spTree>
</dsp:drawing>
</file>

<file path=ppt/diagrams/layout1.xml><?xml version="1.0" encoding="utf-8"?>
<dgm:layoutDef xmlns:dgm="http://schemas.openxmlformats.org/drawingml/2006/diagram" xmlns:a="http://schemas.openxmlformats.org/drawingml/2006/main" uniqueId="urn:diagrams.loki3.com/BracketList">
  <dgm:title val="Vertical Bracket List"/>
  <dgm:desc val="Use to show grouped blocks of information.  Works well with large amounts of Level 2 text."/>
  <dgm:catLst>
    <dgm:cat type="list" pri="4110"/>
    <dgm:cat type="officeonline" pri="3000"/>
  </dgm:catLst>
  <dgm:sampData>
    <dgm:dataModel>
      <dgm:ptLst>
        <dgm:pt modelId="0" type="doc"/>
        <dgm:pt modelId="1">
          <dgm:prSet phldr="1"/>
        </dgm:pt>
        <dgm:pt modelId="11">
          <dgm:prSet phldr="1"/>
        </dgm:pt>
        <dgm:pt modelId="2">
          <dgm:prSet phldr="1"/>
        </dgm:pt>
        <dgm:pt modelId="21">
          <dgm:prSet phldr="1"/>
        </dgm:pt>
      </dgm:ptLst>
      <dgm:cxnLst>
        <dgm:cxn modelId="3" srcId="0" destId="1" srcOrd="0" destOrd="0"/>
        <dgm:cxn modelId="4" srcId="1" destId="11" srcOrd="0" destOrd="0"/>
        <dgm:cxn modelId="5" srcId="0" destId="2" srcOrd="0" destOrd="0"/>
        <dgm:cxn modelId="6" srcId="2" destId="21" srcOrd="0" destOrd="0"/>
      </dgm:cxnLst>
      <dgm:bg/>
      <dgm:whole/>
    </dgm:dataModel>
  </dgm:sampData>
  <dgm:styleData useDef="1">
    <dgm:dataModel>
      <dgm:ptLst/>
      <dgm:bg/>
      <dgm:whole/>
    </dgm:dataModel>
  </dgm:styleData>
  <dgm:clrData useDef="1">
    <dgm:dataModel>
      <dgm:pt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V" refType="primFontSz" refFor="des" refForName="parTx" fact="0.1"/>
      <dgm:constr type="primFontSz" for="des" forName="parTx" val="65"/>
      <dgm:constr type="primFontSz" for="des" forName="desTx" refType="primFontSz" refFor="des" refForName="parTx"/>
      <dgm:constr type="h" for="des" forName="parTx" refType="primFontSz" refFor="des" refForName="parTx" fact="0.55"/>
      <dgm:constr type="h" for="des" forName="bracket" refType="primFontSz" refFor="des" refForName="parTx" fact="0.55"/>
      <dgm:constr type="h" for="des" forName="desTx" refType="primFontSz" refFor="des" refForName="parTx" fact="0.55"/>
    </dgm:constrLst>
    <dgm:ruleLst>
      <dgm:rule type="primFontSz" for="des" forName="parTx" val="5" fact="NaN" max="NaN"/>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Tx" refType="w" fact="0.25"/>
          <dgm:constr type="w" for="ch" forName="bracket" refType="w" fact="0.05"/>
          <dgm:constr type="w" for="ch" forName="spH" refType="w" fact="0.02"/>
          <dgm:constr type="w" for="ch" forName="desTx" refType="w" fact="0.68"/>
          <dgm:constr type="h" for="ch" forName="bracket" refType="h" refFor="ch" refForName="desTx" op="gte"/>
          <dgm:constr type="h" for="ch" forName="bracket" refType="h" refFor="ch" refForName="parTx" op="gte"/>
          <dgm:constr type="h" for="ch" forName="desTx" refType="h" refFor="ch" refForName="parTx" op="gte"/>
        </dgm:constrLst>
        <dgm:ruleLst/>
        <dgm:layoutNode name="parTx" styleLbl="revTx">
          <dgm:varLst>
            <dgm:chMax val="1"/>
            <dgm:bulletEnabled val="1"/>
          </dgm:varLst>
          <dgm:choose name="Name8">
            <dgm:if name="Name9" func="var" arg="dir" op="equ" val="norm">
              <dgm:alg type="tx">
                <dgm:param type="parTxLTRAlign" val="r"/>
              </dgm:alg>
            </dgm:if>
            <dgm:else name="Name10">
              <dgm:alg type="tx">
                <dgm:param type="parTxLTRAlign" val="l"/>
              </dgm:alg>
            </dgm:else>
          </dgm:choose>
          <dgm:shape xmlns:r="http://schemas.openxmlformats.org/officeDocument/2006/relationships" type="rect" r:blip="">
            <dgm:adjLst/>
          </dgm:shape>
          <dgm:presOf axis="self" ptType="node"/>
          <dgm:constrLst>
            <dgm:constr type="tMarg" refType="primFontSz" fact="0.2"/>
            <dgm:constr type="bMarg" refType="primFontSz" fact="0.2"/>
          </dgm:constrLst>
          <dgm:ruleLst>
            <dgm:rule type="h" val="INF" fact="NaN" max="NaN"/>
          </dgm:ruleLst>
        </dgm:layoutNode>
        <dgm:layoutNode name="bracket" styleLbl="parChTrans1D1">
          <dgm:alg type="sp"/>
          <dgm:choose name="Name11">
            <dgm:if name="Name12" func="var" arg="dir" op="equ" val="norm">
              <dgm:shape xmlns:r="http://schemas.openxmlformats.org/officeDocument/2006/relationships" type="leftBrace" r:blip="">
                <dgm:adjLst>
                  <dgm:adj idx="1" val="0.35"/>
                </dgm:adjLst>
              </dgm:shape>
            </dgm:if>
            <dgm:else name="Name13">
              <dgm:shape xmlns:r="http://schemas.openxmlformats.org/officeDocument/2006/relationships" rot="180" type="leftBrace" r:blip="">
                <dgm:adjLst>
                  <dgm:adj idx="1" val="0.35"/>
                </dgm:adjLst>
              </dgm:shape>
            </dgm:else>
          </dgm:choose>
          <dgm:presOf/>
        </dgm:layoutNode>
        <dgm:layoutNode name="spH">
          <dgm:alg type="sp"/>
        </dgm:layoutNode>
        <dgm:choose name="Name14">
          <dgm:if name="Name15" axis="ch" ptType="node" func="cnt" op="gte" val="1">
            <dgm:layoutNode name="desTx" styleLbl="node1">
              <dgm:varLst>
                <dgm:bulletEnabled val="1"/>
              </dgm:varLst>
              <dgm:alg type="tx">
                <dgm:param type="stBulletLvl" val="1"/>
                <dgm:param type="txAnchorVertCh" val="mid"/>
              </dgm:alg>
              <dgm:shape xmlns:r="http://schemas.openxmlformats.org/officeDocument/2006/relationships" type="rect" r:blip="">
                <dgm:adjLst/>
              </dgm:shape>
              <dgm:presOf axis="des" ptType="node"/>
              <dgm:constrLst>
                <dgm:constr type="secFontSz" refType="primFontSz"/>
                <dgm:constr type="tMarg" refType="primFontSz" fact="0.3"/>
                <dgm:constr type="bMarg" refType="primFontSz" fact="0.3"/>
                <dgm:constr type="lMarg" refType="primFontSz" fact="0.3"/>
                <dgm:constr type="rMarg" refType="primFontSz" fact="0.3"/>
              </dgm:constrLst>
              <dgm:ruleLst>
                <dgm:rule type="h" val="INF" fact="NaN" max="NaN"/>
              </dgm:ruleLst>
            </dgm:layoutNode>
          </dgm:if>
          <dgm:else name="Name16"/>
        </dgm:choose>
      </dgm:layoutNode>
      <dgm:forEach name="Name17" axis="followSib" ptType="sibTrans" cnt="1">
        <dgm:layoutNode name="spV">
          <dgm:alg type="sp"/>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95B66E5-15AA-4745-8A67-3CE257BEE39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a:t>PEEIACON 2024</a:t>
            </a:r>
            <a:endParaRPr lang="en-US" dirty="0"/>
          </a:p>
        </p:txBody>
      </p:sp>
      <p:sp>
        <p:nvSpPr>
          <p:cNvPr id="4" name="Footer Placeholder 3">
            <a:extLst>
              <a:ext uri="{FF2B5EF4-FFF2-40B4-BE49-F238E27FC236}">
                <a16:creationId xmlns:a16="http://schemas.microsoft.com/office/drawing/2014/main" id="{AC844A45-21B3-834A-A491-E4E4B9DC117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PEEIACON 2024</a:t>
            </a:r>
            <a:endParaRPr lang="en-US" dirty="0"/>
          </a:p>
        </p:txBody>
      </p:sp>
      <p:sp>
        <p:nvSpPr>
          <p:cNvPr id="5" name="Slide Number Placeholder 4">
            <a:extLst>
              <a:ext uri="{FF2B5EF4-FFF2-40B4-BE49-F238E27FC236}">
                <a16:creationId xmlns:a16="http://schemas.microsoft.com/office/drawing/2014/main" id="{AC039FDB-18A0-074D-8BA3-A4C3DE896AF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E6D13E5-4CEC-3A4A-8E5D-AFCEE7512EEC}" type="slidenum">
              <a:t>‹#›</a:t>
            </a:fld>
            <a:endParaRPr lang="en-US" dirty="0"/>
          </a:p>
        </p:txBody>
      </p:sp>
    </p:spTree>
    <p:extLst>
      <p:ext uri="{BB962C8B-B14F-4D97-AF65-F5344CB8AC3E}">
        <p14:creationId xmlns:p14="http://schemas.microsoft.com/office/powerpoint/2010/main" val="265322844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a:t>PEEIACON 2024</a:t>
            </a:r>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EE7A52F-9D89-7442-A8E9-48D1527B5F6B}" type="datetimeFigureOut">
              <a:rPr lang="en-US" smtClean="0"/>
              <a:t>3/26/2025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PEEIACON 2024</a:t>
            </a:r>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9C7E07-3C67-C64C-8DA0-0404F6303970}" type="slidenum">
              <a:rPr lang="en-US" smtClean="0"/>
              <a:t>‹#›</a:t>
            </a:fld>
            <a:endParaRPr lang="en-US" dirty="0"/>
          </a:p>
        </p:txBody>
      </p:sp>
    </p:spTree>
    <p:extLst>
      <p:ext uri="{BB962C8B-B14F-4D97-AF65-F5344CB8AC3E}">
        <p14:creationId xmlns:p14="http://schemas.microsoft.com/office/powerpoint/2010/main" val="4032528379"/>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[morning/afternoon/evening] everyone! Today, I am presenting our work titled </a:t>
            </a:r>
            <a:r>
              <a:rPr lang="en-US" b="1" dirty="0"/>
              <a:t>‘Covariance Matrix-Based DOA Estimation Using CNN: Performance Across Narrow and Wide Grids.’</a:t>
            </a:r>
            <a:r>
              <a:rPr lang="en-US" dirty="0"/>
              <a:t> This work is authored by ( all the names) and presented by myself, Tanvir Ahmed. This presentation will cover our approach to improving DOA estimation using deep learning, its motivation, methodology, results, and future directions.</a:t>
            </a:r>
          </a:p>
        </p:txBody>
      </p:sp>
      <p:sp>
        <p:nvSpPr>
          <p:cNvPr id="4" name="Slide Number Placeholder 3"/>
          <p:cNvSpPr>
            <a:spLocks noGrp="1"/>
          </p:cNvSpPr>
          <p:nvPr>
            <p:ph type="sldNum" sz="quarter" idx="5"/>
          </p:nvPr>
        </p:nvSpPr>
        <p:spPr/>
        <p:txBody>
          <a:bodyPr/>
          <a:lstStyle/>
          <a:p>
            <a:fld id="{A89C7E07-3C67-C64C-8DA0-0404F6303970}" type="slidenum">
              <a:rPr lang="en-US" smtClean="0"/>
              <a:t>1</a:t>
            </a:fld>
            <a:endParaRPr lang="en-US" dirty="0"/>
          </a:p>
        </p:txBody>
      </p:sp>
    </p:spTree>
    <p:extLst>
      <p:ext uri="{BB962C8B-B14F-4D97-AF65-F5344CB8AC3E}">
        <p14:creationId xmlns:p14="http://schemas.microsoft.com/office/powerpoint/2010/main" val="31110430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give you an overview of this presentation, I will begin with an </a:t>
            </a:r>
            <a:r>
              <a:rPr lang="en-US" b="1" dirty="0"/>
              <a:t>introduction</a:t>
            </a:r>
            <a:r>
              <a:rPr lang="en-US" dirty="0"/>
              <a:t> to DOA estimation, followed by the </a:t>
            </a:r>
            <a:r>
              <a:rPr lang="en-US" b="1" dirty="0"/>
              <a:t>motivation</a:t>
            </a:r>
            <a:r>
              <a:rPr lang="en-US" dirty="0"/>
              <a:t> behind using deep learning. I will then discuss some </a:t>
            </a:r>
            <a:r>
              <a:rPr lang="en-US" b="1" dirty="0"/>
              <a:t>related works</a:t>
            </a:r>
            <a:r>
              <a:rPr lang="en-US" dirty="0"/>
              <a:t> before moving into our </a:t>
            </a:r>
            <a:r>
              <a:rPr lang="en-US" b="1" dirty="0"/>
              <a:t>project objectives</a:t>
            </a:r>
            <a:r>
              <a:rPr lang="en-US" dirty="0"/>
              <a:t>. Next, I will go over the </a:t>
            </a:r>
            <a:r>
              <a:rPr lang="en-US" b="1" dirty="0"/>
              <a:t>dataset preparation, model architecture, and parameters</a:t>
            </a:r>
            <a:r>
              <a:rPr lang="en-US" dirty="0"/>
              <a:t> used in our approach. After that, I will present our </a:t>
            </a:r>
            <a:r>
              <a:rPr lang="en-US" b="1" dirty="0"/>
              <a:t>results</a:t>
            </a:r>
            <a:r>
              <a:rPr lang="en-US" dirty="0"/>
              <a:t>, including an </a:t>
            </a:r>
            <a:r>
              <a:rPr lang="en-US" b="1" dirty="0"/>
              <a:t>ablation study and computational complexity analysis</a:t>
            </a:r>
            <a:r>
              <a:rPr lang="en-US" dirty="0"/>
              <a:t>. Finally, I will conclude with key findings and discuss future directions.</a:t>
            </a:r>
          </a:p>
        </p:txBody>
      </p:sp>
      <p:sp>
        <p:nvSpPr>
          <p:cNvPr id="4" name="Slide Number Placeholder 3"/>
          <p:cNvSpPr>
            <a:spLocks noGrp="1"/>
          </p:cNvSpPr>
          <p:nvPr>
            <p:ph type="sldNum" sz="quarter" idx="5"/>
          </p:nvPr>
        </p:nvSpPr>
        <p:spPr/>
        <p:txBody>
          <a:bodyPr/>
          <a:lstStyle/>
          <a:p>
            <a:fld id="{A89C7E07-3C67-C64C-8DA0-0404F6303970}" type="slidenum">
              <a:rPr lang="en-US" smtClean="0"/>
              <a:t>2</a:t>
            </a:fld>
            <a:endParaRPr lang="en-US" dirty="0"/>
          </a:p>
        </p:txBody>
      </p:sp>
    </p:spTree>
    <p:extLst>
      <p:ext uri="{BB962C8B-B14F-4D97-AF65-F5344CB8AC3E}">
        <p14:creationId xmlns:p14="http://schemas.microsoft.com/office/powerpoint/2010/main" val="9380471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Direction-of-Arrival, or DOA, estimation is a fundamental task in signal processing where we determine the angles at which signals arrive at an array of sensors or antennas. This technique is critical in applications such as radar, sonar, wireless communications, and autonomous navigation. However, traditional DOA estimation techniques face challenges such as </a:t>
            </a:r>
            <a:r>
              <a:rPr lang="en-US" b="1" dirty="0"/>
              <a:t>high computational complexity, sensitivity to noise, and performance degradation due to model mismatches</a:t>
            </a:r>
            <a:r>
              <a:rPr lang="en-US" dirty="0"/>
              <a:t>. Our study explores deep learning as an alternative solution to improve DOA estimation accuracy and efficiency.</a:t>
            </a:r>
          </a:p>
          <a:p>
            <a:endParaRPr lang="en-US" dirty="0"/>
          </a:p>
          <a:p>
            <a:r>
              <a:rPr lang="en-US" dirty="0"/>
              <a:t>DOA estimation plays a crucial role in multiple domains. </a:t>
            </a:r>
            <a:r>
              <a:rPr lang="en-US" b="1" dirty="0"/>
              <a:t>Radar systems</a:t>
            </a:r>
            <a:r>
              <a:rPr lang="en-US" dirty="0"/>
              <a:t> use it for tracking and identifying objects. </a:t>
            </a:r>
            <a:r>
              <a:rPr lang="en-US" b="1" dirty="0"/>
              <a:t>Sonar systems</a:t>
            </a:r>
            <a:r>
              <a:rPr lang="en-US" dirty="0"/>
              <a:t> depend on it for underwater navigation and object detection. In </a:t>
            </a:r>
            <a:r>
              <a:rPr lang="en-US" b="1" dirty="0"/>
              <a:t>wireless communications</a:t>
            </a:r>
            <a:r>
              <a:rPr lang="en-US" dirty="0"/>
              <a:t>, it is vital for improving signal quality through beamforming. Additionally, it supports </a:t>
            </a:r>
            <a:r>
              <a:rPr lang="en-US" b="1" dirty="0"/>
              <a:t>autonomous vehicles</a:t>
            </a:r>
            <a:r>
              <a:rPr lang="en-US" dirty="0"/>
              <a:t> in obstacle detection and navigation. Despite its importance, DOA estimation is computationally expensive and struggles with noise and real-world variations. Traditional methods are highly sensitive to low SNR conditions, making robust estimation challenging.</a:t>
            </a:r>
          </a:p>
        </p:txBody>
      </p:sp>
      <p:sp>
        <p:nvSpPr>
          <p:cNvPr id="4" name="Slide Number Placeholder 3"/>
          <p:cNvSpPr>
            <a:spLocks noGrp="1"/>
          </p:cNvSpPr>
          <p:nvPr>
            <p:ph type="sldNum" sz="quarter" idx="5"/>
          </p:nvPr>
        </p:nvSpPr>
        <p:spPr/>
        <p:txBody>
          <a:bodyPr/>
          <a:lstStyle/>
          <a:p>
            <a:fld id="{A89C7E07-3C67-C64C-8DA0-0404F6303970}" type="slidenum">
              <a:rPr lang="en-US" smtClean="0"/>
              <a:t>3</a:t>
            </a:fld>
            <a:endParaRPr lang="en-US" dirty="0"/>
          </a:p>
        </p:txBody>
      </p:sp>
    </p:spTree>
    <p:extLst>
      <p:ext uri="{BB962C8B-B14F-4D97-AF65-F5344CB8AC3E}">
        <p14:creationId xmlns:p14="http://schemas.microsoft.com/office/powerpoint/2010/main" val="18057002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Traditional methods like MUSIC and ESPRIT are widely used but have </a:t>
            </a:r>
            <a:r>
              <a:rPr lang="en-US" b="1" dirty="0"/>
              <a:t>limitations</a:t>
            </a:r>
            <a:r>
              <a:rPr lang="en-US" dirty="0"/>
              <a:t>: they require prior knowledge of signal sources and struggle with coherent signals and low SNR conditions. These methods are also </a:t>
            </a:r>
            <a:r>
              <a:rPr lang="en-US" b="1" dirty="0"/>
              <a:t>sensitive to model mismatches</a:t>
            </a:r>
            <a:r>
              <a:rPr lang="en-US" dirty="0"/>
              <a:t>, meaning real-world factors like hardware imperfections significantly degrade accuracy. </a:t>
            </a:r>
            <a:r>
              <a:rPr lang="en-US" b="1" dirty="0"/>
              <a:t>Deep learning, on the other hand, offers key advantages</a:t>
            </a:r>
            <a:r>
              <a:rPr lang="en-US" dirty="0"/>
              <a:t>: it can automatically extract features from data, is more robust to noise, and is efficient in handling nonlinear relationships. These benefits make deep learning a promising approach for DOA estimation</a:t>
            </a:r>
          </a:p>
        </p:txBody>
      </p:sp>
      <p:sp>
        <p:nvSpPr>
          <p:cNvPr id="4" name="Slide Number Placeholder 3"/>
          <p:cNvSpPr>
            <a:spLocks noGrp="1"/>
          </p:cNvSpPr>
          <p:nvPr>
            <p:ph type="sldNum" sz="quarter" idx="5"/>
          </p:nvPr>
        </p:nvSpPr>
        <p:spPr/>
        <p:txBody>
          <a:bodyPr/>
          <a:lstStyle/>
          <a:p>
            <a:fld id="{A89C7E07-3C67-C64C-8DA0-0404F6303970}" type="slidenum">
              <a:rPr lang="en-US" smtClean="0"/>
              <a:t>4</a:t>
            </a:fld>
            <a:endParaRPr lang="en-US" dirty="0"/>
          </a:p>
        </p:txBody>
      </p:sp>
    </p:spTree>
    <p:extLst>
      <p:ext uri="{BB962C8B-B14F-4D97-AF65-F5344CB8AC3E}">
        <p14:creationId xmlns:p14="http://schemas.microsoft.com/office/powerpoint/2010/main" val="8087319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Various studies have explored deep learning for DOA estimation. Researchers have investigated </a:t>
            </a:r>
            <a:r>
              <a:rPr lang="en-US" b="1" dirty="0"/>
              <a:t>deep neural networks (DNNs), convolutional neural networks (CNNs), and hybrid approaches</a:t>
            </a:r>
            <a:r>
              <a:rPr lang="en-US" dirty="0"/>
              <a:t> to improve estimation accuracy. CNNs, in particular, have shown promising results in extracting spatial features from covariance matrices. However, challenges remain in </a:t>
            </a:r>
            <a:r>
              <a:rPr lang="en-US" b="1" dirty="0"/>
              <a:t>optimizing model architectures, reducing computational complexity, and ensuring robustness under extreme noise conditions</a:t>
            </a:r>
            <a:r>
              <a:rPr lang="en-US" dirty="0"/>
              <a:t>. Our approach builds upon these works by proposing a CNN-based model that processes covariance matrices for improved DOA estimation.</a:t>
            </a:r>
          </a:p>
        </p:txBody>
      </p:sp>
      <p:sp>
        <p:nvSpPr>
          <p:cNvPr id="4" name="Slide Number Placeholder 3"/>
          <p:cNvSpPr>
            <a:spLocks noGrp="1"/>
          </p:cNvSpPr>
          <p:nvPr>
            <p:ph type="sldNum" sz="quarter" idx="5"/>
          </p:nvPr>
        </p:nvSpPr>
        <p:spPr/>
        <p:txBody>
          <a:bodyPr/>
          <a:lstStyle/>
          <a:p>
            <a:fld id="{A89C7E07-3C67-C64C-8DA0-0404F6303970}" type="slidenum">
              <a:rPr lang="en-US" smtClean="0"/>
              <a:t>5</a:t>
            </a:fld>
            <a:endParaRPr lang="en-US" dirty="0"/>
          </a:p>
        </p:txBody>
      </p:sp>
    </p:spTree>
    <p:extLst>
      <p:ext uri="{BB962C8B-B14F-4D97-AF65-F5344CB8AC3E}">
        <p14:creationId xmlns:p14="http://schemas.microsoft.com/office/powerpoint/2010/main" val="9534440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dirty="0"/>
              <a:t>Our primary goal is to </a:t>
            </a:r>
            <a:r>
              <a:rPr lang="en-US" b="1" dirty="0"/>
              <a:t>design and implement a robust deep learning-based DOA estimation model</a:t>
            </a:r>
            <a:r>
              <a:rPr lang="en-US" dirty="0"/>
              <a:t>. Specifically, we aim to:</a:t>
            </a:r>
          </a:p>
          <a:p>
            <a:pPr>
              <a:buFont typeface="+mj-lt"/>
              <a:buAutoNum type="arabicPeriod"/>
            </a:pPr>
            <a:r>
              <a:rPr lang="en-US" b="1" dirty="0"/>
              <a:t>Leverage covariance matrices</a:t>
            </a:r>
            <a:r>
              <a:rPr lang="en-US" dirty="0"/>
              <a:t> as input features for the CNN.</a:t>
            </a:r>
          </a:p>
          <a:p>
            <a:pPr>
              <a:buFont typeface="+mj-lt"/>
              <a:buAutoNum type="arabicPeriod"/>
            </a:pPr>
            <a:r>
              <a:rPr lang="en-US" b="1" dirty="0"/>
              <a:t>Achieve high accuracy</a:t>
            </a:r>
            <a:r>
              <a:rPr lang="en-US" dirty="0"/>
              <a:t> even under low SNR conditions.</a:t>
            </a:r>
          </a:p>
          <a:p>
            <a:pPr>
              <a:buFont typeface="+mj-lt"/>
              <a:buAutoNum type="arabicPeriod"/>
            </a:pPr>
            <a:r>
              <a:rPr lang="en-US" b="1" dirty="0"/>
              <a:t>Minimize parameter tuning</a:t>
            </a:r>
            <a:r>
              <a:rPr lang="en-US" dirty="0"/>
              <a:t> to enhance usability.</a:t>
            </a:r>
            <a:br>
              <a:rPr lang="en-US" dirty="0"/>
            </a:br>
            <a:r>
              <a:rPr lang="en-US" dirty="0"/>
              <a:t>Our expected outcomes include improved </a:t>
            </a:r>
            <a:r>
              <a:rPr lang="en-US" b="1" dirty="0"/>
              <a:t>noise robustness and computational efficiency</a:t>
            </a:r>
            <a:r>
              <a:rPr lang="en-US" dirty="0"/>
              <a:t>, making this solution suitable for real-time applications.</a:t>
            </a:r>
          </a:p>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6</a:t>
            </a:fld>
            <a:endParaRPr lang="en-US" dirty="0"/>
          </a:p>
        </p:txBody>
      </p:sp>
    </p:spTree>
    <p:extLst>
      <p:ext uri="{BB962C8B-B14F-4D97-AF65-F5344CB8AC3E}">
        <p14:creationId xmlns:p14="http://schemas.microsoft.com/office/powerpoint/2010/main" val="24655421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dirty="0"/>
              <a:t>The success of any deep learning model largely depends on the quality and diversity of its dataset. For DOA estimation, we needed a dataset that captured a wide range of realistic conditions, including different signal-to-noise ratios and varying angular resolutions.</a:t>
            </a:r>
          </a:p>
          <a:p>
            <a:pPr>
              <a:buNone/>
            </a:pPr>
            <a:r>
              <a:rPr lang="en-US" b="1" dirty="0"/>
              <a:t>Dataset Characteristics:</a:t>
            </a:r>
          </a:p>
          <a:p>
            <a:pPr>
              <a:buFont typeface="Arial" panose="020B0604020202020204" pitchFamily="34" charset="0"/>
              <a:buChar char="•"/>
            </a:pPr>
            <a:r>
              <a:rPr lang="en-US" dirty="0"/>
              <a:t>We designed a </a:t>
            </a:r>
            <a:r>
              <a:rPr lang="en-US" b="1" dirty="0"/>
              <a:t>synthetic dataset</a:t>
            </a:r>
            <a:r>
              <a:rPr lang="en-US" dirty="0"/>
              <a:t> specifically to train and evaluate our CNN-based DOA estimation model.</a:t>
            </a:r>
          </a:p>
          <a:p>
            <a:pPr>
              <a:buFont typeface="Arial" panose="020B0604020202020204" pitchFamily="34" charset="0"/>
              <a:buChar char="•"/>
            </a:pPr>
            <a:r>
              <a:rPr lang="en-US" dirty="0"/>
              <a:t>The dataset was structured into two configurations: </a:t>
            </a:r>
          </a:p>
          <a:p>
            <a:pPr marL="742950" lvl="1" indent="-285750">
              <a:buFont typeface="Arial" panose="020B0604020202020204" pitchFamily="34" charset="0"/>
              <a:buChar char="•"/>
            </a:pPr>
            <a:r>
              <a:rPr lang="en-US" b="1" dirty="0"/>
              <a:t>Narrow Grid:</a:t>
            </a:r>
            <a:r>
              <a:rPr lang="en-US" dirty="0"/>
              <a:t> Covers angles from </a:t>
            </a:r>
            <a:r>
              <a:rPr lang="en-US" b="1" dirty="0"/>
              <a:t>-60° to 60°</a:t>
            </a:r>
            <a:r>
              <a:rPr lang="en-US" dirty="0"/>
              <a:t>, totaling </a:t>
            </a:r>
            <a:r>
              <a:rPr lang="en-US" b="1" dirty="0"/>
              <a:t>121 grid points</a:t>
            </a:r>
            <a:r>
              <a:rPr lang="en-US" dirty="0"/>
              <a:t>.</a:t>
            </a:r>
          </a:p>
          <a:p>
            <a:pPr marL="742950" lvl="1" indent="-285750">
              <a:buFont typeface="Arial" panose="020B0604020202020204" pitchFamily="34" charset="0"/>
              <a:buChar char="•"/>
            </a:pPr>
            <a:r>
              <a:rPr lang="en-US" b="1" dirty="0"/>
              <a:t>Wide Grid:</a:t>
            </a:r>
            <a:r>
              <a:rPr lang="en-US" dirty="0"/>
              <a:t> Extends from </a:t>
            </a:r>
            <a:r>
              <a:rPr lang="en-US" b="1" dirty="0"/>
              <a:t>-90° to 90°</a:t>
            </a:r>
            <a:r>
              <a:rPr lang="en-US" dirty="0"/>
              <a:t>, resulting in </a:t>
            </a:r>
            <a:r>
              <a:rPr lang="en-US" b="1" dirty="0"/>
              <a:t>181 grid points</a:t>
            </a:r>
            <a:r>
              <a:rPr lang="en-US" dirty="0"/>
              <a:t>.</a:t>
            </a:r>
          </a:p>
          <a:p>
            <a:pPr>
              <a:buFont typeface="Arial" panose="020B0604020202020204" pitchFamily="34" charset="0"/>
              <a:buChar char="•"/>
            </a:pPr>
            <a:r>
              <a:rPr lang="en-US" dirty="0"/>
              <a:t>Each configuration consists of multiple signal scenarios to train the model across a diverse range of input conditions.</a:t>
            </a:r>
          </a:p>
          <a:p>
            <a:pPr>
              <a:buNone/>
            </a:pPr>
            <a:r>
              <a:rPr lang="en-US" b="1" dirty="0"/>
              <a:t>Design Considerations:</a:t>
            </a:r>
          </a:p>
          <a:p>
            <a:pPr>
              <a:buFont typeface="Arial" panose="020B0604020202020204" pitchFamily="34" charset="0"/>
              <a:buChar char="•"/>
            </a:pPr>
            <a:r>
              <a:rPr lang="en-US" b="1" dirty="0"/>
              <a:t>Signal-to-Noise Ratio (SNR) Levels:</a:t>
            </a:r>
            <a:r>
              <a:rPr lang="en-US" dirty="0"/>
              <a:t> We introduced five different SNR conditions ranging from </a:t>
            </a:r>
            <a:r>
              <a:rPr lang="en-US" b="1" dirty="0"/>
              <a:t>-20 dB to 0 dB</a:t>
            </a:r>
            <a:r>
              <a:rPr lang="en-US" dirty="0"/>
              <a:t> to simulate real-world challenges, ensuring the model is robust under noise.</a:t>
            </a:r>
          </a:p>
          <a:p>
            <a:pPr>
              <a:buFont typeface="Arial" panose="020B0604020202020204" pitchFamily="34" charset="0"/>
              <a:buChar char="•"/>
            </a:pPr>
            <a:r>
              <a:rPr lang="en-US" b="1" dirty="0"/>
              <a:t>Antenna Configuration:</a:t>
            </a:r>
            <a:r>
              <a:rPr lang="en-US" dirty="0"/>
              <a:t> We used a </a:t>
            </a:r>
            <a:r>
              <a:rPr lang="en-US" b="1" dirty="0"/>
              <a:t>16-element uniform linear array (ULA)</a:t>
            </a:r>
            <a:r>
              <a:rPr lang="en-US" dirty="0"/>
              <a:t>, which is commonly employed in DOA estimation.</a:t>
            </a:r>
          </a:p>
          <a:p>
            <a:pPr>
              <a:buFont typeface="Arial" panose="020B0604020202020204" pitchFamily="34" charset="0"/>
              <a:buChar char="•"/>
            </a:pPr>
            <a:r>
              <a:rPr lang="en-US" b="1" dirty="0"/>
              <a:t>Covariance Matrix Representation:</a:t>
            </a:r>
            <a:r>
              <a:rPr lang="en-US" dirty="0"/>
              <a:t> Instead of raw signals, we computed </a:t>
            </a:r>
            <a:r>
              <a:rPr lang="en-US" b="1" dirty="0"/>
              <a:t>16 × 16 covariance matrices</a:t>
            </a:r>
            <a:r>
              <a:rPr lang="en-US" dirty="0"/>
              <a:t> to capture the </a:t>
            </a:r>
            <a:r>
              <a:rPr lang="en-US" b="1" dirty="0"/>
              <a:t>spatial and statistical properties</a:t>
            </a:r>
            <a:r>
              <a:rPr lang="en-US" dirty="0"/>
              <a:t> of the received signals.</a:t>
            </a:r>
          </a:p>
          <a:p>
            <a:pPr>
              <a:buNone/>
            </a:pPr>
            <a:r>
              <a:rPr lang="en-US" b="1" dirty="0"/>
              <a:t>Final Dataset Size:</a:t>
            </a:r>
          </a:p>
          <a:p>
            <a:pPr>
              <a:buFont typeface="Arial" panose="020B0604020202020204" pitchFamily="34" charset="0"/>
              <a:buChar char="•"/>
            </a:pPr>
            <a:r>
              <a:rPr lang="en-US" b="1" dirty="0"/>
              <a:t>Narrow Grid:</a:t>
            </a:r>
            <a:r>
              <a:rPr lang="en-US" dirty="0"/>
              <a:t> 36,300 samples</a:t>
            </a:r>
          </a:p>
          <a:p>
            <a:pPr>
              <a:buFont typeface="Arial" panose="020B0604020202020204" pitchFamily="34" charset="0"/>
              <a:buChar char="•"/>
            </a:pPr>
            <a:r>
              <a:rPr lang="en-US" b="1" dirty="0"/>
              <a:t>Wide Grid:</a:t>
            </a:r>
            <a:r>
              <a:rPr lang="en-US" dirty="0"/>
              <a:t> 81,450 samples</a:t>
            </a:r>
          </a:p>
          <a:p>
            <a:r>
              <a:rPr lang="en-US" dirty="0"/>
              <a:t>With this dataset, our model can effectively learn to estimate DOAs with high precision, even in challenging noise conditions."</a:t>
            </a:r>
          </a:p>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7</a:t>
            </a:fld>
            <a:endParaRPr lang="en-US" dirty="0"/>
          </a:p>
        </p:txBody>
      </p:sp>
    </p:spTree>
    <p:extLst>
      <p:ext uri="{BB962C8B-B14F-4D97-AF65-F5344CB8AC3E}">
        <p14:creationId xmlns:p14="http://schemas.microsoft.com/office/powerpoint/2010/main" val="20620569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i="1" dirty="0"/>
              <a:t>In this slide, I will explain the dataset preparation process, which is crucial for training our deep learning-based DOA estimation model."</a:t>
            </a:r>
            <a:endParaRPr lang="en-US" dirty="0"/>
          </a:p>
          <a:p>
            <a:pPr>
              <a:buNone/>
            </a:pPr>
            <a:r>
              <a:rPr lang="en-US" b="1" dirty="0"/>
              <a:t>Covariance Matrix Generation</a:t>
            </a:r>
          </a:p>
          <a:p>
            <a:pPr>
              <a:buNone/>
            </a:pPr>
            <a:r>
              <a:rPr lang="en-US" i="1" dirty="0"/>
              <a:t>"We begin by generating covariance matrices, which serve as the primary input to our model. The covariance matrix captures the spatial correlation of the received signals, making it a powerful representation for DOA estimation."</a:t>
            </a:r>
            <a:endParaRPr lang="en-US" dirty="0"/>
          </a:p>
          <a:p>
            <a:pPr>
              <a:buFont typeface="Arial" panose="020B0604020202020204" pitchFamily="34" charset="0"/>
              <a:buChar char="•"/>
            </a:pPr>
            <a:r>
              <a:rPr lang="en-US" i="1" dirty="0"/>
              <a:t>To achieve this, we simulate the </a:t>
            </a:r>
            <a:r>
              <a:rPr lang="en-US" b="1" i="1" dirty="0"/>
              <a:t>antenna array response</a:t>
            </a:r>
            <a:r>
              <a:rPr lang="en-US" i="1" dirty="0"/>
              <a:t> for different angle combinations.</a:t>
            </a:r>
            <a:endParaRPr lang="en-US" dirty="0"/>
          </a:p>
          <a:p>
            <a:pPr>
              <a:buFont typeface="Arial" panose="020B0604020202020204" pitchFamily="34" charset="0"/>
              <a:buChar char="•"/>
            </a:pPr>
            <a:r>
              <a:rPr lang="en-US" i="1" dirty="0"/>
              <a:t>Each signal is generated using </a:t>
            </a:r>
            <a:r>
              <a:rPr lang="en-US" b="1" i="1" dirty="0"/>
              <a:t>200 snapshots</a:t>
            </a:r>
            <a:r>
              <a:rPr lang="en-US" i="1" dirty="0"/>
              <a:t>, ensuring a sufficient amount of data for robust training.</a:t>
            </a:r>
            <a:endParaRPr lang="en-US" dirty="0"/>
          </a:p>
          <a:p>
            <a:pPr>
              <a:buFont typeface="Arial" panose="020B0604020202020204" pitchFamily="34" charset="0"/>
              <a:buChar char="•"/>
            </a:pPr>
            <a:r>
              <a:rPr lang="en-US" i="1" dirty="0"/>
              <a:t>We introduce </a:t>
            </a:r>
            <a:r>
              <a:rPr lang="en-US" b="1" i="1" dirty="0"/>
              <a:t>noise based on different SNR levels</a:t>
            </a:r>
            <a:r>
              <a:rPr lang="en-US" i="1" dirty="0"/>
              <a:t> (-20 dB to 0 dB) to make the dataset more realistic and improve generalization.</a:t>
            </a:r>
            <a:endParaRPr lang="en-US" dirty="0"/>
          </a:p>
          <a:p>
            <a:pPr>
              <a:buFont typeface="Arial" panose="020B0604020202020204" pitchFamily="34" charset="0"/>
              <a:buChar char="•"/>
            </a:pPr>
            <a:r>
              <a:rPr lang="en-US" i="1" dirty="0"/>
              <a:t>The resulting covariance matrix has a shape of </a:t>
            </a:r>
            <a:r>
              <a:rPr lang="en-US" b="1" i="1" dirty="0"/>
              <a:t>16 × 16</a:t>
            </a:r>
            <a:r>
              <a:rPr lang="en-US" i="1" dirty="0"/>
              <a:t>, which aligns with our 16-element uniform linear array.</a:t>
            </a:r>
            <a:endParaRPr lang="en-US" dirty="0"/>
          </a:p>
          <a:p>
            <a:pPr>
              <a:buNone/>
            </a:pPr>
            <a:r>
              <a:rPr lang="en-US" i="1" dirty="0"/>
              <a:t>"The mathematical representation of the covariance matrix is shown here, where </a:t>
            </a:r>
            <a:r>
              <a:rPr lang="en-US" b="1" i="1" dirty="0"/>
              <a:t>Y</a:t>
            </a:r>
            <a:r>
              <a:rPr lang="en-US" i="1" dirty="0"/>
              <a:t> represents the received signal matrix, and the term </a:t>
            </a:r>
            <a:r>
              <a:rPr lang="en-US" b="1" i="1" dirty="0"/>
              <a:t>σ² I</a:t>
            </a:r>
            <a:r>
              <a:rPr lang="en-US" i="1" dirty="0"/>
              <a:t> accounts for noise."</a:t>
            </a:r>
            <a:endParaRPr lang="en-US" dirty="0"/>
          </a:p>
          <a:p>
            <a:pPr>
              <a:buNone/>
            </a:pPr>
            <a:r>
              <a:rPr lang="en-US" b="1" dirty="0"/>
              <a:t>Feature Extraction</a:t>
            </a:r>
          </a:p>
          <a:p>
            <a:pPr>
              <a:buNone/>
            </a:pPr>
            <a:r>
              <a:rPr lang="en-US" i="1" dirty="0"/>
              <a:t>"Next, we extract key features from the covariance matrix to enhance model performance."</a:t>
            </a:r>
            <a:endParaRPr lang="en-US" dirty="0"/>
          </a:p>
          <a:p>
            <a:pPr>
              <a:buFont typeface="Arial" panose="020B0604020202020204" pitchFamily="34" charset="0"/>
              <a:buChar char="•"/>
            </a:pPr>
            <a:r>
              <a:rPr lang="en-US" i="1" dirty="0"/>
              <a:t>Instead of using raw signals, we decompose the covariance matrix into three key components: </a:t>
            </a:r>
            <a:r>
              <a:rPr lang="en-US" b="1" i="1" dirty="0"/>
              <a:t>Real, Imaginary, and Phase.</a:t>
            </a:r>
            <a:endParaRPr lang="en-US" dirty="0"/>
          </a:p>
          <a:p>
            <a:pPr>
              <a:buFont typeface="Arial" panose="020B0604020202020204" pitchFamily="34" charset="0"/>
              <a:buChar char="•"/>
            </a:pPr>
            <a:r>
              <a:rPr lang="en-US" i="1" dirty="0"/>
              <a:t>Each sample is represented as a </a:t>
            </a:r>
            <a:r>
              <a:rPr lang="en-US" b="1" i="1" dirty="0"/>
              <a:t>16 × 16 × 3</a:t>
            </a:r>
            <a:r>
              <a:rPr lang="en-US" i="1" dirty="0"/>
              <a:t> tensor, where the three channels correspond to these components.</a:t>
            </a:r>
            <a:endParaRPr lang="en-US" dirty="0"/>
          </a:p>
          <a:p>
            <a:pPr>
              <a:buFont typeface="Arial" panose="020B0604020202020204" pitchFamily="34" charset="0"/>
              <a:buChar char="•"/>
            </a:pPr>
            <a:r>
              <a:rPr lang="en-US" i="1" dirty="0"/>
              <a:t>This structured representation allows the CNN to extract meaningful spatial features from the covariance matrix.</a:t>
            </a:r>
            <a:endParaRPr lang="en-US" dirty="0"/>
          </a:p>
          <a:p>
            <a:pPr>
              <a:buNone/>
            </a:pPr>
            <a:r>
              <a:rPr lang="en-US" b="1" dirty="0"/>
              <a:t>Labeling</a:t>
            </a:r>
          </a:p>
          <a:p>
            <a:pPr>
              <a:buNone/>
            </a:pPr>
            <a:r>
              <a:rPr lang="en-US" i="1" dirty="0"/>
              <a:t>"For supervised learning, we need labeled data."</a:t>
            </a:r>
            <a:endParaRPr lang="en-US" dirty="0"/>
          </a:p>
          <a:p>
            <a:pPr>
              <a:buFont typeface="Arial" panose="020B0604020202020204" pitchFamily="34" charset="0"/>
              <a:buChar char="•"/>
            </a:pPr>
            <a:r>
              <a:rPr lang="en-US" i="1" dirty="0"/>
              <a:t>We represent target angles as a </a:t>
            </a:r>
            <a:r>
              <a:rPr lang="en-US" b="1" i="1" dirty="0"/>
              <a:t>sparse vector</a:t>
            </a:r>
            <a:r>
              <a:rPr lang="en-US" i="1" dirty="0"/>
              <a:t> to indicate the presence or absence of signals at specific angles.</a:t>
            </a:r>
            <a:endParaRPr lang="en-US" dirty="0"/>
          </a:p>
          <a:p>
            <a:pPr>
              <a:buFont typeface="Arial" panose="020B0604020202020204" pitchFamily="34" charset="0"/>
              <a:buChar char="•"/>
            </a:pPr>
            <a:r>
              <a:rPr lang="en-US" i="1" dirty="0"/>
              <a:t>A value of </a:t>
            </a:r>
            <a:r>
              <a:rPr lang="en-US" b="1" i="1" dirty="0"/>
              <a:t>1</a:t>
            </a:r>
            <a:r>
              <a:rPr lang="en-US" i="1" dirty="0"/>
              <a:t> signifies </a:t>
            </a:r>
            <a:r>
              <a:rPr lang="en-US" b="1" i="1" dirty="0"/>
              <a:t>target presence</a:t>
            </a:r>
            <a:r>
              <a:rPr lang="en-US" i="1" dirty="0"/>
              <a:t>, while a value of </a:t>
            </a:r>
            <a:r>
              <a:rPr lang="en-US" b="1" i="1" dirty="0"/>
              <a:t>0</a:t>
            </a:r>
            <a:r>
              <a:rPr lang="en-US" i="1" dirty="0"/>
              <a:t> indicates </a:t>
            </a:r>
            <a:r>
              <a:rPr lang="en-US" b="1" i="1" dirty="0"/>
              <a:t>target absence</a:t>
            </a:r>
            <a:r>
              <a:rPr lang="en-US" i="1" dirty="0"/>
              <a:t> at a given angle.</a:t>
            </a:r>
            <a:endParaRPr lang="en-US" dirty="0"/>
          </a:p>
          <a:p>
            <a:pPr>
              <a:buFont typeface="Arial" panose="020B0604020202020204" pitchFamily="34" charset="0"/>
              <a:buChar char="•"/>
            </a:pPr>
            <a:r>
              <a:rPr lang="en-US" i="1" dirty="0"/>
              <a:t>This labeling approach allows the model to learn the exact positions of signal sources within the angular grid.</a:t>
            </a:r>
            <a:endParaRPr lang="en-US" dirty="0"/>
          </a:p>
          <a:p>
            <a:pPr>
              <a:buNone/>
            </a:pPr>
            <a:r>
              <a:rPr lang="en-US" b="1" dirty="0"/>
              <a:t>Overall Dataset Composition</a:t>
            </a:r>
          </a:p>
          <a:p>
            <a:pPr>
              <a:buNone/>
            </a:pPr>
            <a:r>
              <a:rPr lang="en-US" i="1" dirty="0"/>
              <a:t>"Now, let’s look at how the dataset is structured for different angular resolutions."</a:t>
            </a:r>
            <a:endParaRPr lang="en-US" dirty="0"/>
          </a:p>
          <a:p>
            <a:pPr>
              <a:buNone/>
            </a:pPr>
            <a:r>
              <a:rPr lang="en-US" b="1" dirty="0"/>
              <a:t>Narrow Grid</a:t>
            </a:r>
          </a:p>
          <a:p>
            <a:pPr>
              <a:buFont typeface="Arial" panose="020B0604020202020204" pitchFamily="34" charset="0"/>
              <a:buChar char="•"/>
            </a:pPr>
            <a:r>
              <a:rPr lang="en-US" i="1" dirty="0"/>
              <a:t>The </a:t>
            </a:r>
            <a:r>
              <a:rPr lang="en-US" b="1" i="1" dirty="0"/>
              <a:t>narrow grid</a:t>
            </a:r>
            <a:r>
              <a:rPr lang="en-US" i="1" dirty="0"/>
              <a:t> spans from </a:t>
            </a:r>
            <a:r>
              <a:rPr lang="en-US" b="1" i="1" dirty="0"/>
              <a:t>-60° to 60°</a:t>
            </a:r>
            <a:r>
              <a:rPr lang="en-US" i="1" dirty="0"/>
              <a:t>, with 121 possible target angles.</a:t>
            </a:r>
            <a:endParaRPr lang="en-US" dirty="0"/>
          </a:p>
          <a:p>
            <a:pPr>
              <a:buFont typeface="Arial" panose="020B0604020202020204" pitchFamily="34" charset="0"/>
              <a:buChar char="•"/>
            </a:pPr>
            <a:r>
              <a:rPr lang="en-US" i="1" dirty="0"/>
              <a:t>We generate </a:t>
            </a:r>
            <a:r>
              <a:rPr lang="en-US" b="1" i="1" dirty="0"/>
              <a:t>7,260 unique signal configurations</a:t>
            </a:r>
            <a:r>
              <a:rPr lang="en-US" i="1" dirty="0"/>
              <a:t>, and with five different SNR levels, this results in a total of </a:t>
            </a:r>
            <a:r>
              <a:rPr lang="en-US" b="1" i="1" dirty="0"/>
              <a:t>36,300 samples</a:t>
            </a:r>
            <a:r>
              <a:rPr lang="en-US" i="1" dirty="0"/>
              <a:t>.</a:t>
            </a:r>
            <a:endParaRPr lang="en-US" dirty="0"/>
          </a:p>
          <a:p>
            <a:pPr>
              <a:buFont typeface="Arial" panose="020B0604020202020204" pitchFamily="34" charset="0"/>
              <a:buChar char="•"/>
            </a:pPr>
            <a:r>
              <a:rPr lang="en-US" i="1" dirty="0"/>
              <a:t>Each sample has a </a:t>
            </a:r>
            <a:r>
              <a:rPr lang="en-US" b="1" i="1" dirty="0"/>
              <a:t>feature shape of 16 × 16 × 3</a:t>
            </a:r>
            <a:r>
              <a:rPr lang="en-US" i="1" dirty="0"/>
              <a:t>, while the label matrix is </a:t>
            </a:r>
            <a:r>
              <a:rPr lang="en-US" b="1" i="1" dirty="0"/>
              <a:t>36,300 × 121</a:t>
            </a:r>
            <a:r>
              <a:rPr lang="en-US" i="1" dirty="0"/>
              <a:t>, corresponding to the 121 possible angles.</a:t>
            </a:r>
            <a:endParaRPr lang="en-US" dirty="0"/>
          </a:p>
          <a:p>
            <a:pPr>
              <a:buNone/>
            </a:pPr>
            <a:r>
              <a:rPr lang="en-US" b="1" dirty="0"/>
              <a:t>Wide Grid</a:t>
            </a:r>
          </a:p>
          <a:p>
            <a:pPr>
              <a:buFont typeface="Arial" panose="020B0604020202020204" pitchFamily="34" charset="0"/>
              <a:buChar char="•"/>
            </a:pPr>
            <a:r>
              <a:rPr lang="en-US" i="1" dirty="0"/>
              <a:t>The </a:t>
            </a:r>
            <a:r>
              <a:rPr lang="en-US" b="1" i="1" dirty="0"/>
              <a:t>wide grid</a:t>
            </a:r>
            <a:r>
              <a:rPr lang="en-US" i="1" dirty="0"/>
              <a:t> spans from </a:t>
            </a:r>
            <a:r>
              <a:rPr lang="en-US" b="1" i="1" dirty="0"/>
              <a:t>-90° to 90°</a:t>
            </a:r>
            <a:r>
              <a:rPr lang="en-US" i="1" dirty="0"/>
              <a:t>, covering 181 angles.</a:t>
            </a:r>
            <a:endParaRPr lang="en-US" dirty="0"/>
          </a:p>
          <a:p>
            <a:pPr>
              <a:buFont typeface="Arial" panose="020B0604020202020204" pitchFamily="34" charset="0"/>
              <a:buChar char="•"/>
            </a:pPr>
            <a:r>
              <a:rPr lang="en-US" i="1" dirty="0"/>
              <a:t>Here, we generate </a:t>
            </a:r>
            <a:r>
              <a:rPr lang="en-US" b="1" i="1" dirty="0"/>
              <a:t>16,290 signal configurations</a:t>
            </a:r>
            <a:r>
              <a:rPr lang="en-US" i="1" dirty="0"/>
              <a:t>, and with five SNR levels, the dataset expands to </a:t>
            </a:r>
            <a:r>
              <a:rPr lang="en-US" b="1" i="1" dirty="0"/>
              <a:t>81,450 samples</a:t>
            </a:r>
            <a:r>
              <a:rPr lang="en-US" i="1" dirty="0"/>
              <a:t>.</a:t>
            </a:r>
            <a:endParaRPr lang="en-US" dirty="0"/>
          </a:p>
          <a:p>
            <a:pPr>
              <a:buFont typeface="Arial" panose="020B0604020202020204" pitchFamily="34" charset="0"/>
              <a:buChar char="•"/>
            </a:pPr>
            <a:r>
              <a:rPr lang="en-US" i="1" dirty="0"/>
              <a:t>Each sample retains the same </a:t>
            </a:r>
            <a:r>
              <a:rPr lang="en-US" b="1" i="1" dirty="0"/>
              <a:t>16 × 16 × 3</a:t>
            </a:r>
            <a:r>
              <a:rPr lang="en-US" i="1" dirty="0"/>
              <a:t> feature shape, but the label matrix expands to </a:t>
            </a:r>
            <a:r>
              <a:rPr lang="en-US" b="1" i="1" dirty="0"/>
              <a:t>81,450 × 181</a:t>
            </a:r>
            <a:r>
              <a:rPr lang="en-US" i="1" dirty="0"/>
              <a:t>.</a:t>
            </a:r>
            <a:endParaRPr lang="en-US" dirty="0"/>
          </a:p>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8</a:t>
            </a:fld>
            <a:endParaRPr lang="en-US" dirty="0"/>
          </a:p>
        </p:txBody>
      </p:sp>
    </p:spTree>
    <p:extLst>
      <p:ext uri="{BB962C8B-B14F-4D97-AF65-F5344CB8AC3E}">
        <p14:creationId xmlns:p14="http://schemas.microsoft.com/office/powerpoint/2010/main" val="20772190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dirty="0"/>
              <a:t>Now that we have our dataset, let’s look at the architecture of our deep learning model.</a:t>
            </a:r>
          </a:p>
          <a:p>
            <a:pPr>
              <a:buNone/>
            </a:pPr>
            <a:r>
              <a:rPr lang="en-US" dirty="0"/>
              <a:t>We designed a </a:t>
            </a:r>
            <a:r>
              <a:rPr lang="en-US" b="1" dirty="0"/>
              <a:t>Convolutional Neural Network (CNN)</a:t>
            </a:r>
            <a:r>
              <a:rPr lang="en-US" dirty="0"/>
              <a:t> to process covariance matrices and extract spatial features relevant for DOA estimation. The CNN architecture includes multiple layers that successively refine and learn features from the input data.</a:t>
            </a:r>
          </a:p>
          <a:p>
            <a:pPr>
              <a:buNone/>
            </a:pPr>
            <a:r>
              <a:rPr lang="en-US" b="1" dirty="0"/>
              <a:t>Structure of Our CNN Model:</a:t>
            </a:r>
          </a:p>
          <a:p>
            <a:pPr>
              <a:buFont typeface="+mj-lt"/>
              <a:buAutoNum type="arabicPeriod"/>
            </a:pPr>
            <a:r>
              <a:rPr lang="en-US" b="1" dirty="0"/>
              <a:t>Input Layer:</a:t>
            </a:r>
            <a:endParaRPr lang="en-US" dirty="0"/>
          </a:p>
          <a:p>
            <a:pPr marL="742950" lvl="1" indent="-285750">
              <a:buFont typeface="+mj-lt"/>
              <a:buAutoNum type="arabicPeriod"/>
            </a:pPr>
            <a:r>
              <a:rPr lang="en-US" dirty="0"/>
              <a:t>The model takes </a:t>
            </a:r>
            <a:r>
              <a:rPr lang="en-US" b="1" dirty="0"/>
              <a:t>16 × 16 × 3 covariance matrices</a:t>
            </a:r>
            <a:r>
              <a:rPr lang="en-US" dirty="0"/>
              <a:t> as input, where the three channels represent the </a:t>
            </a:r>
            <a:r>
              <a:rPr lang="en-US" b="1" dirty="0"/>
              <a:t>real, imaginary, and phase</a:t>
            </a:r>
            <a:r>
              <a:rPr lang="en-US" dirty="0"/>
              <a:t> components of the covariance matrix.</a:t>
            </a:r>
          </a:p>
          <a:p>
            <a:pPr>
              <a:buFont typeface="+mj-lt"/>
              <a:buAutoNum type="arabicPeriod"/>
            </a:pPr>
            <a:r>
              <a:rPr lang="en-US" b="1" dirty="0"/>
              <a:t>Four Convolutional Layers:</a:t>
            </a:r>
            <a:endParaRPr lang="en-US" dirty="0"/>
          </a:p>
          <a:p>
            <a:pPr marL="742950" lvl="1" indent="-285750">
              <a:buFont typeface="+mj-lt"/>
              <a:buAutoNum type="arabicPeriod"/>
            </a:pPr>
            <a:r>
              <a:rPr lang="en-US" dirty="0"/>
              <a:t>Each layer has </a:t>
            </a:r>
            <a:r>
              <a:rPr lang="en-US" b="1" dirty="0"/>
              <a:t>256 filters of size 3 × 3</a:t>
            </a:r>
            <a:r>
              <a:rPr lang="en-US" dirty="0"/>
              <a:t>.</a:t>
            </a:r>
          </a:p>
          <a:p>
            <a:pPr marL="742950" lvl="1" indent="-285750">
              <a:buFont typeface="+mj-lt"/>
              <a:buAutoNum type="arabicPeriod"/>
            </a:pPr>
            <a:r>
              <a:rPr lang="en-US" b="1" dirty="0" err="1"/>
              <a:t>ReLU</a:t>
            </a:r>
            <a:r>
              <a:rPr lang="en-US" b="1" dirty="0"/>
              <a:t> activation</a:t>
            </a:r>
            <a:r>
              <a:rPr lang="en-US" dirty="0"/>
              <a:t> is used to introduce non-linearity, allowing the model to capture complex spatial patterns.</a:t>
            </a:r>
          </a:p>
          <a:p>
            <a:pPr marL="742950" lvl="1" indent="-285750">
              <a:buFont typeface="+mj-lt"/>
              <a:buAutoNum type="arabicPeriod"/>
            </a:pPr>
            <a:r>
              <a:rPr lang="en-US" b="1" dirty="0"/>
              <a:t>Batch normalization</a:t>
            </a:r>
            <a:r>
              <a:rPr lang="en-US" dirty="0"/>
              <a:t> is applied after each layer to stabilize the training process and improve convergence.</a:t>
            </a:r>
          </a:p>
          <a:p>
            <a:pPr>
              <a:buFont typeface="+mj-lt"/>
              <a:buAutoNum type="arabicPeriod"/>
            </a:pPr>
            <a:r>
              <a:rPr lang="en-US" b="1" dirty="0"/>
              <a:t>Flattening Layer:</a:t>
            </a:r>
            <a:endParaRPr lang="en-US" dirty="0"/>
          </a:p>
          <a:p>
            <a:pPr marL="742950" lvl="1" indent="-285750">
              <a:buFont typeface="+mj-lt"/>
              <a:buAutoNum type="arabicPeriod"/>
            </a:pPr>
            <a:r>
              <a:rPr lang="en-US" dirty="0"/>
              <a:t>This layer converts the 2D feature maps from the convolutional layers into a </a:t>
            </a:r>
            <a:r>
              <a:rPr lang="en-US" b="1" dirty="0"/>
              <a:t>1D vector</a:t>
            </a:r>
            <a:r>
              <a:rPr lang="en-US" dirty="0"/>
              <a:t>, making it suitable for fully connected layers.</a:t>
            </a:r>
          </a:p>
          <a:p>
            <a:pPr>
              <a:buFont typeface="+mj-lt"/>
              <a:buAutoNum type="arabicPeriod"/>
            </a:pPr>
            <a:r>
              <a:rPr lang="en-US" b="1" dirty="0"/>
              <a:t>Three Fully Connected (Dense) Layers:</a:t>
            </a:r>
            <a:endParaRPr lang="en-US" dirty="0"/>
          </a:p>
          <a:p>
            <a:pPr marL="742950" lvl="1" indent="-285750">
              <a:buFont typeface="+mj-lt"/>
              <a:buAutoNum type="arabicPeriod"/>
            </a:pPr>
            <a:r>
              <a:rPr lang="en-US" dirty="0"/>
              <a:t>These layers progressively refine the extracted features.</a:t>
            </a:r>
          </a:p>
          <a:p>
            <a:pPr marL="742950" lvl="1" indent="-285750">
              <a:buFont typeface="+mj-lt"/>
              <a:buAutoNum type="arabicPeriod"/>
            </a:pPr>
            <a:r>
              <a:rPr lang="en-US" dirty="0"/>
              <a:t>The neuron sizes are </a:t>
            </a:r>
            <a:r>
              <a:rPr lang="en-US" b="1" dirty="0"/>
              <a:t>4,096 → 2,048 → 1,024</a:t>
            </a:r>
            <a:r>
              <a:rPr lang="en-US" dirty="0"/>
              <a:t>, allowing the network to learn hierarchical representations of the data.</a:t>
            </a:r>
          </a:p>
          <a:p>
            <a:pPr marL="742950" lvl="1" indent="-285750">
              <a:buFont typeface="+mj-lt"/>
              <a:buAutoNum type="arabicPeriod"/>
            </a:pPr>
            <a:r>
              <a:rPr lang="en-US" b="1" dirty="0"/>
              <a:t>Dropout (0.3)</a:t>
            </a:r>
            <a:r>
              <a:rPr lang="en-US" dirty="0"/>
              <a:t> is used to reduce overfitting.</a:t>
            </a:r>
          </a:p>
          <a:p>
            <a:pPr>
              <a:buFont typeface="+mj-lt"/>
              <a:buAutoNum type="arabicPeriod"/>
            </a:pPr>
            <a:r>
              <a:rPr lang="en-US" b="1" dirty="0"/>
              <a:t>Output Layer:</a:t>
            </a:r>
            <a:endParaRPr lang="en-US" dirty="0"/>
          </a:p>
          <a:p>
            <a:pPr marL="742950" lvl="1" indent="-285750">
              <a:buFont typeface="+mj-lt"/>
              <a:buAutoNum type="arabicPeriod"/>
            </a:pPr>
            <a:r>
              <a:rPr lang="en-US" dirty="0"/>
              <a:t>The final layer applies a </a:t>
            </a:r>
            <a:r>
              <a:rPr lang="en-US" b="1" dirty="0"/>
              <a:t>sigmoid activation function</a:t>
            </a:r>
            <a:r>
              <a:rPr lang="en-US" dirty="0"/>
              <a:t> to perform binary classification for each angular grid point, determining the presence or absence of a DOA.</a:t>
            </a:r>
          </a:p>
          <a:p>
            <a:r>
              <a:rPr lang="en-US" dirty="0"/>
              <a:t>With this structure, the model balances </a:t>
            </a:r>
            <a:r>
              <a:rPr lang="en-US" b="1" dirty="0"/>
              <a:t>complexity and computational efficiency</a:t>
            </a:r>
            <a:r>
              <a:rPr lang="en-US" dirty="0"/>
              <a:t>, ensuring </a:t>
            </a:r>
            <a:r>
              <a:rPr lang="en-US" b="1" dirty="0"/>
              <a:t>accurate DOA estimation</a:t>
            </a:r>
            <a:r>
              <a:rPr lang="en-US" dirty="0"/>
              <a:t> with minimal computational overhead</a:t>
            </a:r>
          </a:p>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9</a:t>
            </a:fld>
            <a:endParaRPr lang="en-US" dirty="0"/>
          </a:p>
        </p:txBody>
      </p:sp>
    </p:spTree>
    <p:extLst>
      <p:ext uri="{BB962C8B-B14F-4D97-AF65-F5344CB8AC3E}">
        <p14:creationId xmlns:p14="http://schemas.microsoft.com/office/powerpoint/2010/main" val="32868673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dirty="0"/>
              <a:t>With the model architecture defined, let’s now discuss how the model was trained and optimized.</a:t>
            </a:r>
          </a:p>
          <a:p>
            <a:pPr>
              <a:buNone/>
            </a:pPr>
            <a:r>
              <a:rPr lang="en-US" b="1" dirty="0"/>
              <a:t>Training Configuration:</a:t>
            </a:r>
          </a:p>
          <a:p>
            <a:pPr>
              <a:buFont typeface="Arial" panose="020B0604020202020204" pitchFamily="34" charset="0"/>
              <a:buChar char="•"/>
            </a:pPr>
            <a:r>
              <a:rPr lang="en-US" dirty="0"/>
              <a:t>We implemented our model in </a:t>
            </a:r>
            <a:r>
              <a:rPr lang="en-US" b="1" dirty="0"/>
              <a:t>TensorFlow</a:t>
            </a:r>
            <a:r>
              <a:rPr lang="en-US" dirty="0"/>
              <a:t> and trained it for </a:t>
            </a:r>
            <a:r>
              <a:rPr lang="en-US" b="1" dirty="0"/>
              <a:t>200 epochs</a:t>
            </a:r>
            <a:r>
              <a:rPr lang="en-US" dirty="0"/>
              <a:t>.</a:t>
            </a:r>
          </a:p>
          <a:p>
            <a:pPr>
              <a:buFont typeface="Arial" panose="020B0604020202020204" pitchFamily="34" charset="0"/>
              <a:buChar char="•"/>
            </a:pPr>
            <a:r>
              <a:rPr lang="en-US" dirty="0"/>
              <a:t>The </a:t>
            </a:r>
            <a:r>
              <a:rPr lang="en-US" b="1" dirty="0"/>
              <a:t>Adam optimizer</a:t>
            </a:r>
            <a:r>
              <a:rPr lang="en-US" dirty="0"/>
              <a:t> was used due to its adaptive learning rate, which helps achieve faster convergence.</a:t>
            </a:r>
          </a:p>
          <a:p>
            <a:pPr>
              <a:buFont typeface="Arial" panose="020B0604020202020204" pitchFamily="34" charset="0"/>
              <a:buChar char="•"/>
            </a:pPr>
            <a:r>
              <a:rPr lang="en-US" dirty="0"/>
              <a:t>We used </a:t>
            </a:r>
            <a:r>
              <a:rPr lang="en-US" b="1" dirty="0"/>
              <a:t>Binary Cross-Entropy (BCE) loss</a:t>
            </a:r>
            <a:r>
              <a:rPr lang="en-US" dirty="0"/>
              <a:t>, which is suitable for our binary classification task.</a:t>
            </a:r>
          </a:p>
          <a:p>
            <a:pPr>
              <a:buNone/>
            </a:pPr>
            <a:r>
              <a:rPr lang="en-US" b="1" dirty="0"/>
              <a:t>Regularization Techniques:</a:t>
            </a:r>
          </a:p>
          <a:p>
            <a:pPr>
              <a:buFont typeface="Arial" panose="020B0604020202020204" pitchFamily="34" charset="0"/>
              <a:buChar char="•"/>
            </a:pPr>
            <a:r>
              <a:rPr lang="en-US" dirty="0"/>
              <a:t>To prevent overfitting, we applied </a:t>
            </a:r>
            <a:r>
              <a:rPr lang="en-US" b="1" dirty="0"/>
              <a:t>Dropout (0.3)</a:t>
            </a:r>
            <a:r>
              <a:rPr lang="en-US" dirty="0"/>
              <a:t> in the dense layers.</a:t>
            </a:r>
          </a:p>
          <a:p>
            <a:pPr>
              <a:buFont typeface="Arial" panose="020B0604020202020204" pitchFamily="34" charset="0"/>
              <a:buChar char="•"/>
            </a:pPr>
            <a:r>
              <a:rPr lang="en-US" b="1" dirty="0"/>
              <a:t>Batch normalization</a:t>
            </a:r>
            <a:r>
              <a:rPr lang="en-US" dirty="0"/>
              <a:t> was used in convolutional layers to improve stability.</a:t>
            </a:r>
          </a:p>
          <a:p>
            <a:pPr>
              <a:buNone/>
            </a:pPr>
            <a:r>
              <a:rPr lang="en-US" b="1" dirty="0"/>
              <a:t>Trainable Parameters:</a:t>
            </a:r>
          </a:p>
          <a:p>
            <a:pPr>
              <a:buFont typeface="Arial" panose="020B0604020202020204" pitchFamily="34" charset="0"/>
              <a:buChar char="•"/>
            </a:pPr>
            <a:r>
              <a:rPr lang="en-US" dirty="0"/>
              <a:t>The </a:t>
            </a:r>
            <a:r>
              <a:rPr lang="en-US" b="1" dirty="0"/>
              <a:t>convolutional layers</a:t>
            </a:r>
            <a:r>
              <a:rPr lang="en-US" dirty="0"/>
              <a:t> have relatively </a:t>
            </a:r>
            <a:r>
              <a:rPr lang="en-US" b="1" dirty="0"/>
              <a:t>low trainable parameters</a:t>
            </a:r>
            <a:r>
              <a:rPr lang="en-US" dirty="0"/>
              <a:t>, as they mainly focus on local feature extraction.</a:t>
            </a:r>
          </a:p>
          <a:p>
            <a:pPr>
              <a:buFont typeface="Arial" panose="020B0604020202020204" pitchFamily="34" charset="0"/>
              <a:buChar char="•"/>
            </a:pPr>
            <a:r>
              <a:rPr lang="en-US" dirty="0"/>
              <a:t>The </a:t>
            </a:r>
            <a:r>
              <a:rPr lang="en-US" b="1" dirty="0"/>
              <a:t>fully connected layers</a:t>
            </a:r>
            <a:r>
              <a:rPr lang="en-US" dirty="0"/>
              <a:t>, on the other hand, have a large number of trainable parameters, responsible for learning global patterns.</a:t>
            </a:r>
          </a:p>
          <a:p>
            <a:pPr>
              <a:buFont typeface="Arial" panose="020B0604020202020204" pitchFamily="34" charset="0"/>
              <a:buChar char="•"/>
            </a:pPr>
            <a:r>
              <a:rPr lang="en-US" dirty="0"/>
              <a:t>The total number of </a:t>
            </a:r>
            <a:r>
              <a:rPr lang="en-US" b="1" dirty="0"/>
              <a:t>trainable parameters exceeds 280 million</a:t>
            </a:r>
            <a:r>
              <a:rPr lang="en-US" dirty="0"/>
              <a:t>, making this a highly expressive model capable of capturing intricate DOA patterns.</a:t>
            </a:r>
          </a:p>
          <a:p>
            <a:r>
              <a:rPr lang="en-US" dirty="0"/>
              <a:t>By optimizing these parameters, we ensured that our model generalizes well across different noise levels and signal conditions.</a:t>
            </a:r>
          </a:p>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10</a:t>
            </a:fld>
            <a:endParaRPr lang="en-US" dirty="0"/>
          </a:p>
        </p:txBody>
      </p:sp>
    </p:spTree>
    <p:extLst>
      <p:ext uri="{BB962C8B-B14F-4D97-AF65-F5344CB8AC3E}">
        <p14:creationId xmlns:p14="http://schemas.microsoft.com/office/powerpoint/2010/main" val="30108517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i="1" dirty="0"/>
              <a:t>Now, let’s move on to the results of our model's performance on the </a:t>
            </a:r>
            <a:r>
              <a:rPr lang="en-US" b="1" i="1" dirty="0"/>
              <a:t>Narrow Band Grid</a:t>
            </a:r>
            <a:r>
              <a:rPr lang="en-US" i="1" dirty="0"/>
              <a:t>. Our primary metric for evaluation is the </a:t>
            </a:r>
            <a:r>
              <a:rPr lang="en-US" b="1" i="1" dirty="0"/>
              <a:t>Root Mean Square Error (RMSE)</a:t>
            </a:r>
            <a:r>
              <a:rPr lang="en-US" i="1" dirty="0"/>
              <a:t>, which measures the deviation of the estimated DOA angles from the actual target angles. Lower RMSE values indicate better accuracy."</a:t>
            </a:r>
            <a:endParaRPr lang="en-US" dirty="0"/>
          </a:p>
          <a:p>
            <a:pPr>
              <a:buNone/>
            </a:pPr>
            <a:r>
              <a:rPr lang="en-US" b="1" dirty="0"/>
              <a:t>Model Performance on Narrow Grid</a:t>
            </a:r>
          </a:p>
          <a:p>
            <a:pPr>
              <a:buNone/>
            </a:pPr>
            <a:r>
              <a:rPr lang="en-US" i="1" dirty="0"/>
              <a:t>"The </a:t>
            </a:r>
            <a:r>
              <a:rPr lang="en-US" b="1" i="1" dirty="0"/>
              <a:t>Narrow Band Grid</a:t>
            </a:r>
            <a:r>
              <a:rPr lang="en-US" i="1" dirty="0"/>
              <a:t> consists of angles ranging from </a:t>
            </a:r>
            <a:r>
              <a:rPr lang="en-US" b="1" i="1" dirty="0"/>
              <a:t>-60° to 60°</a:t>
            </a:r>
            <a:r>
              <a:rPr lang="en-US" i="1" dirty="0"/>
              <a:t>, with a total of </a:t>
            </a:r>
            <a:r>
              <a:rPr lang="en-US" b="1" i="1" dirty="0"/>
              <a:t>121 angular points</a:t>
            </a:r>
            <a:r>
              <a:rPr lang="en-US" i="1" dirty="0"/>
              <a:t>. This grid has a relatively higher resolution compared to the wide grid, meaning the angular separation between points is smaller. The model's performance on this dataset is particularly strong due to its ability to learn fine-grained features."</a:t>
            </a:r>
            <a:endParaRPr lang="en-US" dirty="0"/>
          </a:p>
          <a:p>
            <a:pPr>
              <a:buFont typeface="+mj-lt"/>
              <a:buAutoNum type="arabicPeriod"/>
            </a:pPr>
            <a:r>
              <a:rPr lang="en-US" b="1" dirty="0"/>
              <a:t>RMSE Trend Across SNR Levels:</a:t>
            </a:r>
            <a:endParaRPr lang="en-US" dirty="0"/>
          </a:p>
          <a:p>
            <a:pPr marL="742950" lvl="1" indent="-285750">
              <a:buFont typeface="+mj-lt"/>
              <a:buAutoNum type="arabicPeriod"/>
            </a:pPr>
            <a:r>
              <a:rPr lang="en-US" i="1" dirty="0"/>
              <a:t>At </a:t>
            </a:r>
            <a:r>
              <a:rPr lang="en-US" b="1" i="1" dirty="0"/>
              <a:t>0 dB SNR</a:t>
            </a:r>
            <a:r>
              <a:rPr lang="en-US" i="1" dirty="0"/>
              <a:t>, our model achieves near-perfect estimation, with </a:t>
            </a:r>
            <a:r>
              <a:rPr lang="en-US" b="1" i="1" dirty="0"/>
              <a:t>minimal deviation</a:t>
            </a:r>
            <a:r>
              <a:rPr lang="en-US" i="1" dirty="0"/>
              <a:t> between predicted and actual DOAs.</a:t>
            </a:r>
            <a:endParaRPr lang="en-US" dirty="0"/>
          </a:p>
          <a:p>
            <a:pPr marL="742950" lvl="1" indent="-285750">
              <a:buFont typeface="+mj-lt"/>
              <a:buAutoNum type="arabicPeriod"/>
            </a:pPr>
            <a:r>
              <a:rPr lang="en-US" i="1" dirty="0"/>
              <a:t>As noise increases, particularly at </a:t>
            </a:r>
            <a:r>
              <a:rPr lang="en-US" b="1" i="1" dirty="0"/>
              <a:t>-5 dB and -10 dB</a:t>
            </a:r>
            <a:r>
              <a:rPr lang="en-US" i="1" dirty="0"/>
              <a:t>, we observe a </a:t>
            </a:r>
            <a:r>
              <a:rPr lang="en-US" b="1" i="1" dirty="0"/>
              <a:t>slight increase in RMSE</a:t>
            </a:r>
            <a:r>
              <a:rPr lang="en-US" i="1" dirty="0"/>
              <a:t>, but the model still maintains high accuracy.</a:t>
            </a:r>
            <a:endParaRPr lang="en-US" dirty="0"/>
          </a:p>
          <a:p>
            <a:pPr marL="742950" lvl="1" indent="-285750">
              <a:buFont typeface="+mj-lt"/>
              <a:buAutoNum type="arabicPeriod"/>
            </a:pPr>
            <a:r>
              <a:rPr lang="en-US" i="1" dirty="0"/>
              <a:t>Even under </a:t>
            </a:r>
            <a:r>
              <a:rPr lang="en-US" b="1" i="1" dirty="0"/>
              <a:t>severe noise conditions</a:t>
            </a:r>
            <a:r>
              <a:rPr lang="en-US" i="1" dirty="0"/>
              <a:t> at </a:t>
            </a:r>
            <a:r>
              <a:rPr lang="en-US" b="1" i="1" dirty="0"/>
              <a:t>-15 dB and -20 dB</a:t>
            </a:r>
            <a:r>
              <a:rPr lang="en-US" i="1" dirty="0"/>
              <a:t>, the RMSE remains below </a:t>
            </a:r>
            <a:r>
              <a:rPr lang="en-US" b="1" i="1" dirty="0"/>
              <a:t>3.5 degrees</a:t>
            </a:r>
            <a:r>
              <a:rPr lang="en-US" i="1" dirty="0"/>
              <a:t>, which is a remarkable achievement compared to traditional DOA estimation methods.</a:t>
            </a:r>
            <a:endParaRPr lang="en-US" dirty="0"/>
          </a:p>
          <a:p>
            <a:pPr>
              <a:buFont typeface="+mj-lt"/>
              <a:buAutoNum type="arabicPeriod"/>
            </a:pPr>
            <a:r>
              <a:rPr lang="en-US" b="1" dirty="0"/>
              <a:t>Reasons for High Accuracy in Narrow Grid:</a:t>
            </a:r>
            <a:endParaRPr lang="en-US" dirty="0"/>
          </a:p>
          <a:p>
            <a:pPr marL="742950" lvl="1" indent="-285750">
              <a:buFont typeface="+mj-lt"/>
              <a:buAutoNum type="arabicPeriod"/>
            </a:pPr>
            <a:r>
              <a:rPr lang="en-US" i="1" dirty="0"/>
              <a:t>The higher density of angles in the narrow grid provides the model with </a:t>
            </a:r>
            <a:r>
              <a:rPr lang="en-US" b="1" i="1" dirty="0"/>
              <a:t>more training samples for closely spaced angles</a:t>
            </a:r>
            <a:r>
              <a:rPr lang="en-US" i="1" dirty="0"/>
              <a:t>, improving its ability to distinguish between them.</a:t>
            </a:r>
            <a:endParaRPr lang="en-US" dirty="0"/>
          </a:p>
          <a:p>
            <a:pPr marL="742950" lvl="1" indent="-285750">
              <a:buFont typeface="+mj-lt"/>
              <a:buAutoNum type="arabicPeriod"/>
            </a:pPr>
            <a:r>
              <a:rPr lang="en-US" i="1" dirty="0"/>
              <a:t>The covariance matrix captures subtle spatial features more effectively in a narrow grid scenario, allowing the CNN to generalize well.</a:t>
            </a:r>
            <a:endParaRPr lang="en-US" dirty="0"/>
          </a:p>
          <a:p>
            <a:pPr marL="742950" lvl="1" indent="-285750">
              <a:buFont typeface="+mj-lt"/>
              <a:buAutoNum type="arabicPeriod"/>
            </a:pPr>
            <a:r>
              <a:rPr lang="en-US" i="1" dirty="0"/>
              <a:t>Even under </a:t>
            </a:r>
            <a:r>
              <a:rPr lang="en-US" b="1" i="1" dirty="0"/>
              <a:t>low SNR conditions</a:t>
            </a:r>
            <a:r>
              <a:rPr lang="en-US" i="1" dirty="0"/>
              <a:t>, the network successfully extracts features that are robust to noise, thanks to the deep convolutional layers and their ability to filter out irrelevant variations.</a:t>
            </a:r>
            <a:endParaRPr lang="en-US" dirty="0"/>
          </a:p>
          <a:p>
            <a:pPr>
              <a:buFont typeface="+mj-lt"/>
              <a:buAutoNum type="arabicPeriod"/>
            </a:pPr>
            <a:r>
              <a:rPr lang="en-US" b="1" dirty="0"/>
              <a:t>Comparison with Traditional Methods:</a:t>
            </a:r>
            <a:endParaRPr lang="en-US" dirty="0"/>
          </a:p>
          <a:p>
            <a:pPr marL="742950" lvl="1" indent="-285750">
              <a:buFont typeface="+mj-lt"/>
              <a:buAutoNum type="arabicPeriod"/>
            </a:pPr>
            <a:r>
              <a:rPr lang="en-US" i="1" dirty="0"/>
              <a:t>Traditional approaches like MUSIC and ESPRIT struggle significantly at </a:t>
            </a:r>
            <a:r>
              <a:rPr lang="en-US" b="1" i="1" dirty="0"/>
              <a:t>low SNR levels</a:t>
            </a:r>
            <a:r>
              <a:rPr lang="en-US" i="1" dirty="0"/>
              <a:t>, as their performance degrades in the presence of noise and correlated signals.</a:t>
            </a:r>
            <a:endParaRPr lang="en-US" dirty="0"/>
          </a:p>
          <a:p>
            <a:pPr marL="742950" lvl="1" indent="-285750">
              <a:buFont typeface="+mj-lt"/>
              <a:buAutoNum type="arabicPeriod"/>
            </a:pPr>
            <a:r>
              <a:rPr lang="en-US" i="1" dirty="0"/>
              <a:t>In contrast, our deep learning model retains its </a:t>
            </a:r>
            <a:r>
              <a:rPr lang="en-US" b="1" i="1" dirty="0"/>
              <a:t>high accuracy</a:t>
            </a:r>
            <a:r>
              <a:rPr lang="en-US" i="1" dirty="0"/>
              <a:t>, proving the effectiveness of a </a:t>
            </a:r>
            <a:r>
              <a:rPr lang="en-US" b="1" i="1" dirty="0"/>
              <a:t>CNN-based covariance matrix processing method</a:t>
            </a:r>
            <a:r>
              <a:rPr lang="en-US" i="1" dirty="0"/>
              <a:t> in DOA estimation.</a:t>
            </a:r>
            <a:endParaRPr lang="en-US" dirty="0"/>
          </a:p>
          <a:p>
            <a:pPr>
              <a:buNone/>
            </a:pPr>
            <a:r>
              <a:rPr lang="en-US" b="1" dirty="0"/>
              <a:t>Key Takeaway</a:t>
            </a:r>
          </a:p>
          <a:p>
            <a:pPr>
              <a:buNone/>
            </a:pPr>
            <a:r>
              <a:rPr lang="en-US" i="1" dirty="0"/>
              <a:t>"The results for the narrow grid confirm that our CNN-based approach is highly reliable for high-resolution DOA estimation. Even in challenging noise conditions, our model maintains an RMSE of less than </a:t>
            </a:r>
            <a:r>
              <a:rPr lang="en-US" b="1" i="1" dirty="0"/>
              <a:t>3.5 degrees</a:t>
            </a:r>
            <a:r>
              <a:rPr lang="en-US" i="1" dirty="0"/>
              <a:t>, outperforming traditional techniques. This level of accuracy makes our method highly suitable for applications requiring precise angle detection, such as radar tracking and beamforming in wireless communications."</a:t>
            </a:r>
            <a:endParaRPr lang="en-US" dirty="0"/>
          </a:p>
          <a:p>
            <a:r>
              <a:rPr lang="en-US" i="1" dirty="0"/>
              <a:t>"Next, let’s analyze the results for the </a:t>
            </a:r>
            <a:r>
              <a:rPr lang="en-US" b="1" i="1" dirty="0"/>
              <a:t>Wide Band Grid</a:t>
            </a:r>
            <a:r>
              <a:rPr lang="en-US" i="1" dirty="0"/>
              <a:t>, which presents additional challenges due to the broader angular range."</a:t>
            </a:r>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11</a:t>
            </a:fld>
            <a:endParaRPr lang="en-US" dirty="0"/>
          </a:p>
        </p:txBody>
      </p:sp>
    </p:spTree>
    <p:extLst>
      <p:ext uri="{BB962C8B-B14F-4D97-AF65-F5344CB8AC3E}">
        <p14:creationId xmlns:p14="http://schemas.microsoft.com/office/powerpoint/2010/main" val="7350062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i="1" dirty="0"/>
              <a:t>Now, let’s look at the results for the </a:t>
            </a:r>
            <a:r>
              <a:rPr lang="en-US" b="1" i="1" dirty="0"/>
              <a:t>Wide Band Grid</a:t>
            </a:r>
            <a:r>
              <a:rPr lang="en-US" i="1" dirty="0"/>
              <a:t>. Unlike the narrow grid, the wide grid spans a broader range, from </a:t>
            </a:r>
            <a:r>
              <a:rPr lang="en-US" b="1" i="1" dirty="0"/>
              <a:t>-90° to 90°</a:t>
            </a:r>
            <a:r>
              <a:rPr lang="en-US" i="1" dirty="0"/>
              <a:t>, with a total of </a:t>
            </a:r>
            <a:r>
              <a:rPr lang="en-US" b="1" i="1" dirty="0"/>
              <a:t>181 angular points</a:t>
            </a:r>
            <a:r>
              <a:rPr lang="en-US" i="1" dirty="0"/>
              <a:t>. Because the angular resolution is lower and the dataset has more widely spaced target angles, DOA estimation becomes more challenging."</a:t>
            </a:r>
            <a:endParaRPr lang="en-US" dirty="0"/>
          </a:p>
          <a:p>
            <a:pPr>
              <a:buNone/>
            </a:pPr>
            <a:r>
              <a:rPr lang="en-US" b="1" dirty="0"/>
              <a:t>Model Performance on Wide Grid</a:t>
            </a:r>
          </a:p>
          <a:p>
            <a:pPr>
              <a:buFont typeface="+mj-lt"/>
              <a:buAutoNum type="arabicPeriod"/>
            </a:pPr>
            <a:r>
              <a:rPr lang="en-US" b="1" dirty="0"/>
              <a:t>RMSE Trend Across SNR Levels:</a:t>
            </a:r>
            <a:endParaRPr lang="en-US" dirty="0"/>
          </a:p>
          <a:p>
            <a:pPr marL="742950" lvl="1" indent="-285750">
              <a:buFont typeface="+mj-lt"/>
              <a:buAutoNum type="arabicPeriod"/>
            </a:pPr>
            <a:r>
              <a:rPr lang="en-US" i="1" dirty="0"/>
              <a:t>At </a:t>
            </a:r>
            <a:r>
              <a:rPr lang="en-US" b="1" i="1" dirty="0"/>
              <a:t>0 dB SNR</a:t>
            </a:r>
            <a:r>
              <a:rPr lang="en-US" i="1" dirty="0"/>
              <a:t>, the model achieves good accuracy, with an RMSE that remains relatively low, similar to the narrow grid scenario.</a:t>
            </a:r>
            <a:endParaRPr lang="en-US" dirty="0"/>
          </a:p>
          <a:p>
            <a:pPr marL="742950" lvl="1" indent="-285750">
              <a:buFont typeface="+mj-lt"/>
              <a:buAutoNum type="arabicPeriod"/>
            </a:pPr>
            <a:r>
              <a:rPr lang="en-US" i="1" dirty="0"/>
              <a:t>However, as the noise level increases to </a:t>
            </a:r>
            <a:r>
              <a:rPr lang="en-US" b="1" i="1" dirty="0"/>
              <a:t>-5 dB and -10 dB</a:t>
            </a:r>
            <a:r>
              <a:rPr lang="en-US" i="1" dirty="0"/>
              <a:t>, the RMSE starts increasing more noticeably compared to the narrow grid. This is due to the wider angular separation between grid points, making precise estimation more difficult.</a:t>
            </a:r>
            <a:endParaRPr lang="en-US" dirty="0"/>
          </a:p>
          <a:p>
            <a:pPr marL="742950" lvl="1" indent="-285750">
              <a:buFont typeface="+mj-lt"/>
              <a:buAutoNum type="arabicPeriod"/>
            </a:pPr>
            <a:r>
              <a:rPr lang="en-US" i="1" dirty="0"/>
              <a:t>At </a:t>
            </a:r>
            <a:r>
              <a:rPr lang="en-US" b="1" i="1" dirty="0"/>
              <a:t>-15 dB and -20 dB</a:t>
            </a:r>
            <a:r>
              <a:rPr lang="en-US" i="1" dirty="0"/>
              <a:t>, the RMSE increases further, reaching a maximum of </a:t>
            </a:r>
            <a:r>
              <a:rPr lang="en-US" b="1" i="1" dirty="0"/>
              <a:t>approximately 24 degrees</a:t>
            </a:r>
            <a:r>
              <a:rPr lang="en-US" i="1" dirty="0"/>
              <a:t>. This is expected, as the model struggles to distinguish target angles that are widely spaced apart in the presence of high noise.</a:t>
            </a:r>
            <a:endParaRPr lang="en-US" dirty="0"/>
          </a:p>
          <a:p>
            <a:pPr>
              <a:buFont typeface="+mj-lt"/>
              <a:buAutoNum type="arabicPeriod"/>
            </a:pPr>
            <a:r>
              <a:rPr lang="en-US" b="1" dirty="0"/>
              <a:t>Challenges in Wide Grid DOA Estimation:</a:t>
            </a:r>
            <a:endParaRPr lang="en-US" dirty="0"/>
          </a:p>
          <a:p>
            <a:pPr marL="742950" lvl="1" indent="-285750">
              <a:buFont typeface="+mj-lt"/>
              <a:buAutoNum type="arabicPeriod"/>
            </a:pPr>
            <a:r>
              <a:rPr lang="en-US" i="1" dirty="0"/>
              <a:t>Since the </a:t>
            </a:r>
            <a:r>
              <a:rPr lang="en-US" b="1" i="1" dirty="0"/>
              <a:t>angular resolution is lower</a:t>
            </a:r>
            <a:r>
              <a:rPr lang="en-US" i="1" dirty="0"/>
              <a:t>, there are fewer training samples for closely spaced angles, which affects the model’s ability to generalize as well as it does in the narrow grid.</a:t>
            </a:r>
            <a:endParaRPr lang="en-US" dirty="0"/>
          </a:p>
          <a:p>
            <a:pPr marL="742950" lvl="1" indent="-285750">
              <a:buFont typeface="+mj-lt"/>
              <a:buAutoNum type="arabicPeriod"/>
            </a:pPr>
            <a:r>
              <a:rPr lang="en-US" i="1" dirty="0"/>
              <a:t>The covariance matrix representation, while effective, becomes less informative in scenarios where angular separations are </a:t>
            </a:r>
            <a:r>
              <a:rPr lang="en-US" b="1" i="1" dirty="0"/>
              <a:t>too large</a:t>
            </a:r>
            <a:r>
              <a:rPr lang="en-US" i="1" dirty="0"/>
              <a:t>, making the problem inherently more difficult.</a:t>
            </a:r>
            <a:endParaRPr lang="en-US" dirty="0"/>
          </a:p>
          <a:p>
            <a:pPr marL="742950" lvl="1" indent="-285750">
              <a:buFont typeface="+mj-lt"/>
              <a:buAutoNum type="arabicPeriod"/>
            </a:pPr>
            <a:r>
              <a:rPr lang="en-US" i="1" dirty="0"/>
              <a:t>The model still manages to generalize well, but </a:t>
            </a:r>
            <a:r>
              <a:rPr lang="en-US" b="1" i="1" dirty="0"/>
              <a:t>extreme noise and broad angular ranges</a:t>
            </a:r>
            <a:r>
              <a:rPr lang="en-US" i="1" dirty="0"/>
              <a:t> lead to some prediction errors and increased RMSE values.</a:t>
            </a:r>
            <a:endParaRPr lang="en-US" dirty="0"/>
          </a:p>
          <a:p>
            <a:pPr>
              <a:buFont typeface="+mj-lt"/>
              <a:buAutoNum type="arabicPeriod"/>
            </a:pPr>
            <a:r>
              <a:rPr lang="en-US" b="1" dirty="0"/>
              <a:t>Comparison with Traditional Methods:</a:t>
            </a:r>
            <a:endParaRPr lang="en-US" dirty="0"/>
          </a:p>
          <a:p>
            <a:pPr marL="742950" lvl="1" indent="-285750">
              <a:buFont typeface="+mj-lt"/>
              <a:buAutoNum type="arabicPeriod"/>
            </a:pPr>
            <a:r>
              <a:rPr lang="en-US" i="1" dirty="0"/>
              <a:t>While our CNN-based approach sees a drop in performance compared to the narrow grid, it </a:t>
            </a:r>
            <a:r>
              <a:rPr lang="en-US" b="1" i="1" dirty="0"/>
              <a:t>still outperforms traditional methods like MUSIC and ESPRIT</a:t>
            </a:r>
            <a:r>
              <a:rPr lang="en-US" i="1" dirty="0"/>
              <a:t>, which suffer even more at low SNR levels.</a:t>
            </a:r>
            <a:endParaRPr lang="en-US" dirty="0"/>
          </a:p>
          <a:p>
            <a:pPr marL="742950" lvl="1" indent="-285750">
              <a:buFont typeface="+mj-lt"/>
              <a:buAutoNum type="arabicPeriod"/>
            </a:pPr>
            <a:r>
              <a:rPr lang="en-US" i="1" dirty="0"/>
              <a:t>Traditional methods exhibit significantly higher RMSE values for wide grids due to their dependency on strong signal conditions and their sensitivity to model mismatches.</a:t>
            </a:r>
            <a:endParaRPr lang="en-US" dirty="0"/>
          </a:p>
          <a:p>
            <a:pPr marL="742950" lvl="1" indent="-285750">
              <a:buFont typeface="+mj-lt"/>
              <a:buAutoNum type="arabicPeriod"/>
            </a:pPr>
            <a:r>
              <a:rPr lang="en-US" i="1" dirty="0"/>
              <a:t>Our deep learning-based method, despite the increased difficulty, retains a </a:t>
            </a:r>
            <a:r>
              <a:rPr lang="en-US" b="1" i="1" dirty="0"/>
              <a:t>reasonable RMSE even in low SNR conditions</a:t>
            </a:r>
            <a:r>
              <a:rPr lang="en-US" i="1" dirty="0"/>
              <a:t>, proving its robustness compared to classical techniques.</a:t>
            </a:r>
            <a:endParaRPr lang="en-US" dirty="0"/>
          </a:p>
          <a:p>
            <a:pPr>
              <a:buNone/>
            </a:pPr>
            <a:r>
              <a:rPr lang="en-US" b="1" dirty="0"/>
              <a:t>Key Takeaway</a:t>
            </a:r>
          </a:p>
          <a:p>
            <a:pPr>
              <a:buNone/>
            </a:pPr>
            <a:r>
              <a:rPr lang="en-US" i="1" dirty="0"/>
              <a:t>"The results for the wide grid demonstrate that while our model maintains strong performance, the estimation becomes more challenging as the angular range increases. The RMSE values increase to </a:t>
            </a:r>
            <a:r>
              <a:rPr lang="en-US" b="1" i="1" dirty="0"/>
              <a:t>around 24 degrees</a:t>
            </a:r>
            <a:r>
              <a:rPr lang="en-US" i="1" dirty="0"/>
              <a:t> at the lowest SNR levels, but our model still performs significantly better than traditional DOA estimation methods. These findings highlight the need for </a:t>
            </a:r>
            <a:r>
              <a:rPr lang="en-US" b="1" i="1" dirty="0"/>
              <a:t>further optimizations</a:t>
            </a:r>
            <a:r>
              <a:rPr lang="en-US" i="1" dirty="0"/>
              <a:t>, such as hybrid models that combine deep learning with classical approaches or architectures specifically designed for broader angular estimation tasks."</a:t>
            </a:r>
            <a:endParaRPr lang="en-US" dirty="0"/>
          </a:p>
          <a:p>
            <a:r>
              <a:rPr lang="en-US" i="1"/>
              <a:t>"In the next section, we will discuss an </a:t>
            </a:r>
            <a:r>
              <a:rPr lang="en-US" b="1" i="1"/>
              <a:t>Ablation Study</a:t>
            </a:r>
            <a:r>
              <a:rPr lang="en-US" i="1"/>
              <a:t>, where we analyze different design choices and their impact on model performance.</a:t>
            </a:r>
            <a:endParaRPr lang="en-US"/>
          </a:p>
        </p:txBody>
      </p:sp>
      <p:sp>
        <p:nvSpPr>
          <p:cNvPr id="4" name="Slide Number Placeholder 3"/>
          <p:cNvSpPr>
            <a:spLocks noGrp="1"/>
          </p:cNvSpPr>
          <p:nvPr>
            <p:ph type="sldNum" sz="quarter" idx="5"/>
          </p:nvPr>
        </p:nvSpPr>
        <p:spPr/>
        <p:txBody>
          <a:bodyPr/>
          <a:lstStyle/>
          <a:p>
            <a:fld id="{A89C7E07-3C67-C64C-8DA0-0404F6303970}" type="slidenum">
              <a:rPr lang="en-US" smtClean="0"/>
              <a:t>12</a:t>
            </a:fld>
            <a:endParaRPr lang="en-US" dirty="0"/>
          </a:p>
        </p:txBody>
      </p:sp>
    </p:spTree>
    <p:extLst>
      <p:ext uri="{BB962C8B-B14F-4D97-AF65-F5344CB8AC3E}">
        <p14:creationId xmlns:p14="http://schemas.microsoft.com/office/powerpoint/2010/main" val="18646291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dirty="0"/>
              <a:t>To better understand our model’s behavior, we conducted an </a:t>
            </a:r>
            <a:r>
              <a:rPr lang="en-US" b="1" dirty="0"/>
              <a:t>ablation study</a:t>
            </a:r>
            <a:r>
              <a:rPr lang="en-US" dirty="0"/>
              <a:t>, evaluating the effects of different design choices.</a:t>
            </a:r>
          </a:p>
          <a:p>
            <a:pPr>
              <a:buNone/>
            </a:pPr>
            <a:r>
              <a:rPr lang="en-US" b="1" dirty="0"/>
              <a:t>1. Input Representation:</a:t>
            </a:r>
          </a:p>
          <a:p>
            <a:pPr>
              <a:buFont typeface="Arial" panose="020B0604020202020204" pitchFamily="34" charset="0"/>
              <a:buChar char="•"/>
            </a:pPr>
            <a:r>
              <a:rPr lang="en-US" b="1" dirty="0"/>
              <a:t>Full covariance matrix (real, imaginary, and phase)</a:t>
            </a:r>
            <a:r>
              <a:rPr lang="en-US" dirty="0"/>
              <a:t> provides the best accuracy.</a:t>
            </a:r>
          </a:p>
          <a:p>
            <a:pPr>
              <a:buFont typeface="Arial" panose="020B0604020202020204" pitchFamily="34" charset="0"/>
              <a:buChar char="•"/>
            </a:pPr>
            <a:r>
              <a:rPr lang="en-US" dirty="0"/>
              <a:t>Removing the </a:t>
            </a:r>
            <a:r>
              <a:rPr lang="en-US" b="1" dirty="0"/>
              <a:t>phase component</a:t>
            </a:r>
            <a:r>
              <a:rPr lang="en-US" dirty="0"/>
              <a:t> significantly </a:t>
            </a:r>
            <a:r>
              <a:rPr lang="en-US" b="1" dirty="0"/>
              <a:t>increases RMSE</a:t>
            </a:r>
            <a:r>
              <a:rPr lang="en-US" dirty="0"/>
              <a:t>, proving its importance in DOA estimation.</a:t>
            </a:r>
          </a:p>
          <a:p>
            <a:pPr>
              <a:buNone/>
            </a:pPr>
            <a:r>
              <a:rPr lang="en-US" b="1" dirty="0"/>
              <a:t>2. Network Depth:</a:t>
            </a:r>
          </a:p>
          <a:p>
            <a:pPr>
              <a:buFont typeface="Arial" panose="020B0604020202020204" pitchFamily="34" charset="0"/>
              <a:buChar char="•"/>
            </a:pPr>
            <a:r>
              <a:rPr lang="en-US" b="1" dirty="0"/>
              <a:t>CNN-Small:</a:t>
            </a:r>
            <a:r>
              <a:rPr lang="en-US" dirty="0"/>
              <a:t> </a:t>
            </a:r>
          </a:p>
          <a:p>
            <a:pPr marL="742950" lvl="1" indent="-285750">
              <a:buFont typeface="Arial" panose="020B0604020202020204" pitchFamily="34" charset="0"/>
              <a:buChar char="•"/>
            </a:pPr>
            <a:r>
              <a:rPr lang="en-US" dirty="0"/>
              <a:t>Reducing the number of convolutional layers improves </a:t>
            </a:r>
            <a:r>
              <a:rPr lang="en-US" b="1" dirty="0"/>
              <a:t>inference speed by 47%</a:t>
            </a:r>
            <a:r>
              <a:rPr lang="en-US" dirty="0"/>
              <a:t>, but causes a slight accuracy drop.</a:t>
            </a:r>
          </a:p>
          <a:p>
            <a:pPr>
              <a:buFont typeface="Arial" panose="020B0604020202020204" pitchFamily="34" charset="0"/>
              <a:buChar char="•"/>
            </a:pPr>
            <a:r>
              <a:rPr lang="en-US" b="1" dirty="0"/>
              <a:t>Res-CNN:</a:t>
            </a:r>
            <a:r>
              <a:rPr lang="en-US" dirty="0"/>
              <a:t> </a:t>
            </a:r>
          </a:p>
          <a:p>
            <a:pPr marL="742950" lvl="1" indent="-285750">
              <a:buFont typeface="Arial" panose="020B0604020202020204" pitchFamily="34" charset="0"/>
              <a:buChar char="•"/>
            </a:pPr>
            <a:r>
              <a:rPr lang="en-US" dirty="0"/>
              <a:t>A deeper network slightly </a:t>
            </a:r>
            <a:r>
              <a:rPr lang="en-US" b="1" dirty="0"/>
              <a:t>improves accuracy</a:t>
            </a:r>
            <a:r>
              <a:rPr lang="en-US" dirty="0"/>
              <a:t>, but </a:t>
            </a:r>
            <a:r>
              <a:rPr lang="en-US" b="1" dirty="0"/>
              <a:t>increases computational cost</a:t>
            </a:r>
            <a:r>
              <a:rPr lang="en-US" dirty="0"/>
              <a:t>.</a:t>
            </a:r>
          </a:p>
          <a:p>
            <a:pPr>
              <a:buNone/>
            </a:pPr>
            <a:r>
              <a:rPr lang="en-US" b="1" dirty="0"/>
              <a:t>3. Angular Resolution:</a:t>
            </a:r>
          </a:p>
          <a:p>
            <a:pPr>
              <a:buFont typeface="Arial" panose="020B0604020202020204" pitchFamily="34" charset="0"/>
              <a:buChar char="•"/>
            </a:pPr>
            <a:r>
              <a:rPr lang="en-US" b="1" dirty="0"/>
              <a:t>1° Resolution:</a:t>
            </a:r>
            <a:r>
              <a:rPr lang="en-US" dirty="0"/>
              <a:t> More accurate but computationally expensive.</a:t>
            </a:r>
          </a:p>
          <a:p>
            <a:pPr>
              <a:buFont typeface="Arial" panose="020B0604020202020204" pitchFamily="34" charset="0"/>
              <a:buChar char="•"/>
            </a:pPr>
            <a:r>
              <a:rPr lang="en-US" b="1" dirty="0"/>
              <a:t>2° Resolution:</a:t>
            </a:r>
            <a:r>
              <a:rPr lang="en-US" dirty="0"/>
              <a:t> Faster but less precise, leading to small accuracy degradation.</a:t>
            </a:r>
          </a:p>
          <a:p>
            <a:r>
              <a:rPr lang="en-US" dirty="0"/>
              <a:t>These insights help us refine our model for better performance in real-time applications.</a:t>
            </a:r>
          </a:p>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13</a:t>
            </a:fld>
            <a:endParaRPr lang="en-US" dirty="0"/>
          </a:p>
        </p:txBody>
      </p:sp>
    </p:spTree>
    <p:extLst>
      <p:ext uri="{BB962C8B-B14F-4D97-AF65-F5344CB8AC3E}">
        <p14:creationId xmlns:p14="http://schemas.microsoft.com/office/powerpoint/2010/main" val="13733568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dirty="0"/>
              <a:t>Finally, we assessed the computational complexity of our CNN model.</a:t>
            </a:r>
          </a:p>
          <a:p>
            <a:pPr>
              <a:buNone/>
            </a:pPr>
            <a:r>
              <a:rPr lang="en-US" b="1" dirty="0"/>
              <a:t>Key Findings:</a:t>
            </a:r>
          </a:p>
          <a:p>
            <a:pPr>
              <a:buFont typeface="Arial" panose="020B0604020202020204" pitchFamily="34" charset="0"/>
              <a:buChar char="•"/>
            </a:pPr>
            <a:r>
              <a:rPr lang="en-US" dirty="0"/>
              <a:t>Our model requires </a:t>
            </a:r>
            <a:r>
              <a:rPr lang="en-US" b="1" dirty="0"/>
              <a:t>0.93 GFLOPs</a:t>
            </a:r>
            <a:r>
              <a:rPr lang="en-US" dirty="0"/>
              <a:t> for inference, making it computationally efficient.</a:t>
            </a:r>
          </a:p>
          <a:p>
            <a:pPr>
              <a:buFont typeface="Arial" panose="020B0604020202020204" pitchFamily="34" charset="0"/>
              <a:buChar char="•"/>
            </a:pPr>
            <a:r>
              <a:rPr lang="en-US" b="1" dirty="0"/>
              <a:t>Inference time:</a:t>
            </a:r>
            <a:r>
              <a:rPr lang="en-US" dirty="0"/>
              <a:t> </a:t>
            </a:r>
          </a:p>
          <a:p>
            <a:pPr marL="742950" lvl="1" indent="-285750">
              <a:buFont typeface="Arial" panose="020B0604020202020204" pitchFamily="34" charset="0"/>
              <a:buChar char="•"/>
            </a:pPr>
            <a:r>
              <a:rPr lang="en-US" b="1" dirty="0"/>
              <a:t>CNN (ours):</a:t>
            </a:r>
            <a:r>
              <a:rPr lang="en-US" dirty="0"/>
              <a:t> 3.2 </a:t>
            </a:r>
            <a:r>
              <a:rPr lang="en-US" dirty="0" err="1"/>
              <a:t>ms</a:t>
            </a:r>
            <a:endParaRPr lang="en-US" dirty="0"/>
          </a:p>
          <a:p>
            <a:pPr marL="742950" lvl="1" indent="-285750">
              <a:buFont typeface="Arial" panose="020B0604020202020204" pitchFamily="34" charset="0"/>
              <a:buChar char="•"/>
            </a:pPr>
            <a:r>
              <a:rPr lang="en-US" b="1" dirty="0"/>
              <a:t>CNN-Small:</a:t>
            </a:r>
            <a:r>
              <a:rPr lang="en-US" dirty="0"/>
              <a:t> 2.1 </a:t>
            </a:r>
            <a:r>
              <a:rPr lang="en-US" dirty="0" err="1"/>
              <a:t>ms</a:t>
            </a:r>
            <a:r>
              <a:rPr lang="en-US" dirty="0"/>
              <a:t> (optimized for speed)</a:t>
            </a:r>
          </a:p>
          <a:p>
            <a:pPr marL="742950" lvl="1" indent="-285750">
              <a:buFont typeface="Arial" panose="020B0604020202020204" pitchFamily="34" charset="0"/>
              <a:buChar char="•"/>
            </a:pPr>
            <a:r>
              <a:rPr lang="en-US" b="1" dirty="0"/>
              <a:t>Res-CNN:</a:t>
            </a:r>
            <a:r>
              <a:rPr lang="en-US" dirty="0"/>
              <a:t> 3.8 </a:t>
            </a:r>
            <a:r>
              <a:rPr lang="en-US" dirty="0" err="1"/>
              <a:t>ms</a:t>
            </a:r>
            <a:r>
              <a:rPr lang="en-US" dirty="0"/>
              <a:t> (optimized for accuracy)</a:t>
            </a:r>
          </a:p>
          <a:p>
            <a:pPr>
              <a:buNone/>
            </a:pPr>
            <a:r>
              <a:rPr lang="en-US" b="1" dirty="0"/>
              <a:t>Comparison with Traditional Methods:</a:t>
            </a:r>
          </a:p>
          <a:p>
            <a:pPr>
              <a:buFont typeface="Arial" panose="020B0604020202020204" pitchFamily="34" charset="0"/>
              <a:buChar char="•"/>
            </a:pPr>
            <a:r>
              <a:rPr lang="en-US" b="1" dirty="0"/>
              <a:t>MUSIC:</a:t>
            </a:r>
            <a:r>
              <a:rPr lang="en-US" dirty="0"/>
              <a:t> 5.3 </a:t>
            </a:r>
            <a:r>
              <a:rPr lang="en-US" dirty="0" err="1"/>
              <a:t>ms</a:t>
            </a:r>
            <a:endParaRPr lang="en-US" dirty="0"/>
          </a:p>
          <a:p>
            <a:pPr>
              <a:buFont typeface="Arial" panose="020B0604020202020204" pitchFamily="34" charset="0"/>
              <a:buChar char="•"/>
            </a:pPr>
            <a:r>
              <a:rPr lang="en-US" b="1" dirty="0"/>
              <a:t>ESPRIT:</a:t>
            </a:r>
            <a:r>
              <a:rPr lang="en-US" dirty="0"/>
              <a:t> 4.7 </a:t>
            </a:r>
            <a:r>
              <a:rPr lang="en-US" dirty="0" err="1"/>
              <a:t>ms</a:t>
            </a:r>
            <a:endParaRPr lang="en-US" dirty="0"/>
          </a:p>
          <a:p>
            <a:pPr>
              <a:buFont typeface="Arial" panose="020B0604020202020204" pitchFamily="34" charset="0"/>
              <a:buChar char="•"/>
            </a:pPr>
            <a:r>
              <a:rPr lang="en-US" dirty="0"/>
              <a:t>Our CNN achieves </a:t>
            </a:r>
            <a:r>
              <a:rPr lang="en-US" b="1" dirty="0"/>
              <a:t>higher accuracy with lower inference time</a:t>
            </a:r>
            <a:r>
              <a:rPr lang="en-US" dirty="0"/>
              <a:t>, making it suitable for real-time applications.</a:t>
            </a:r>
          </a:p>
          <a:p>
            <a:r>
              <a:rPr lang="en-US" dirty="0"/>
              <a:t>This analysis highlights the </a:t>
            </a:r>
            <a:r>
              <a:rPr lang="en-US" b="1" dirty="0"/>
              <a:t>trade-off between model depth, accuracy, and computational efficiency</a:t>
            </a:r>
            <a:r>
              <a:rPr lang="en-US" dirty="0"/>
              <a:t>, providing insights into optimizing deep learning models for DOA estimation.</a:t>
            </a:r>
          </a:p>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14</a:t>
            </a:fld>
            <a:endParaRPr lang="en-US" dirty="0"/>
          </a:p>
        </p:txBody>
      </p:sp>
    </p:spTree>
    <p:extLst>
      <p:ext uri="{BB962C8B-B14F-4D97-AF65-F5344CB8AC3E}">
        <p14:creationId xmlns:p14="http://schemas.microsoft.com/office/powerpoint/2010/main" val="139076382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dirty="0"/>
              <a:t>"In conclusion, our deep learning-based DOA estimation model overcomes limitations of traditional analytical methods. By utilizing </a:t>
            </a:r>
            <a:r>
              <a:rPr lang="en-US" b="1" dirty="0"/>
              <a:t>real, imaginary, and phase components</a:t>
            </a:r>
            <a:r>
              <a:rPr lang="en-US" dirty="0"/>
              <a:t> of covariance matrices, we achieved </a:t>
            </a:r>
            <a:r>
              <a:rPr lang="en-US" b="1" dirty="0"/>
              <a:t>high accuracy in both narrow and wide grid configurations</a:t>
            </a:r>
            <a:r>
              <a:rPr lang="en-US" dirty="0"/>
              <a:t>. However, challenges remain in improving accuracy for wider grids.</a:t>
            </a:r>
            <a:br>
              <a:rPr lang="en-US" dirty="0"/>
            </a:br>
            <a:r>
              <a:rPr lang="en-US" dirty="0"/>
              <a:t>Future directions include:</a:t>
            </a:r>
          </a:p>
          <a:p>
            <a:pPr>
              <a:buFont typeface="+mj-lt"/>
              <a:buAutoNum type="arabicPeriod"/>
            </a:pPr>
            <a:r>
              <a:rPr lang="en-US" b="1" dirty="0"/>
              <a:t>Hybrid deep learning models</a:t>
            </a:r>
            <a:r>
              <a:rPr lang="en-US" dirty="0"/>
              <a:t> combining MUSIC or ESPRIT with CNNs.</a:t>
            </a:r>
          </a:p>
          <a:p>
            <a:pPr>
              <a:buFont typeface="+mj-lt"/>
              <a:buAutoNum type="arabicPeriod"/>
            </a:pPr>
            <a:r>
              <a:rPr lang="en-US" b="1" dirty="0"/>
              <a:t>Expanding real-world datasets</a:t>
            </a:r>
            <a:r>
              <a:rPr lang="en-US" dirty="0"/>
              <a:t> for better generalization.</a:t>
            </a:r>
          </a:p>
          <a:p>
            <a:pPr>
              <a:buFont typeface="+mj-lt"/>
              <a:buAutoNum type="arabicPeriod"/>
            </a:pPr>
            <a:r>
              <a:rPr lang="en-US" b="1" dirty="0"/>
              <a:t>Lightweight architectures</a:t>
            </a:r>
            <a:r>
              <a:rPr lang="en-US" dirty="0"/>
              <a:t> for real-time applications.</a:t>
            </a:r>
          </a:p>
          <a:p>
            <a:pPr>
              <a:buFont typeface="+mj-lt"/>
              <a:buAutoNum type="arabicPeriod"/>
            </a:pPr>
            <a:r>
              <a:rPr lang="en-US" b="1" dirty="0"/>
              <a:t>Integrating RNNs or attention mechanisms</a:t>
            </a:r>
            <a:r>
              <a:rPr lang="en-US" dirty="0"/>
              <a:t> for enhanced performance</a:t>
            </a:r>
          </a:p>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15</a:t>
            </a:fld>
            <a:endParaRPr lang="en-US" dirty="0"/>
          </a:p>
        </p:txBody>
      </p:sp>
    </p:spTree>
    <p:extLst>
      <p:ext uri="{BB962C8B-B14F-4D97-AF65-F5344CB8AC3E}">
        <p14:creationId xmlns:p14="http://schemas.microsoft.com/office/powerpoint/2010/main" val="17892534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key references. </a:t>
            </a:r>
          </a:p>
        </p:txBody>
      </p:sp>
      <p:sp>
        <p:nvSpPr>
          <p:cNvPr id="4" name="Slide Number Placeholder 3"/>
          <p:cNvSpPr>
            <a:spLocks noGrp="1"/>
          </p:cNvSpPr>
          <p:nvPr>
            <p:ph type="sldNum" sz="quarter" idx="5"/>
          </p:nvPr>
        </p:nvSpPr>
        <p:spPr/>
        <p:txBody>
          <a:bodyPr/>
          <a:lstStyle/>
          <a:p>
            <a:fld id="{A89C7E07-3C67-C64C-8DA0-0404F6303970}" type="slidenum">
              <a:rPr lang="en-US" smtClean="0"/>
              <a:t>16</a:t>
            </a:fld>
            <a:endParaRPr lang="en-US" dirty="0"/>
          </a:p>
        </p:txBody>
      </p:sp>
    </p:spTree>
    <p:extLst>
      <p:ext uri="{BB962C8B-B14F-4D97-AF65-F5344CB8AC3E}">
        <p14:creationId xmlns:p14="http://schemas.microsoft.com/office/powerpoint/2010/main" val="40468674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p:nvPr>
        </p:nvSpPr>
        <p:spPr>
          <a:xfrm>
            <a:off x="6367054" y="2116182"/>
            <a:ext cx="5491571" cy="1514019"/>
          </a:xfrm>
          <a:prstGeom prst="rect">
            <a:avLst/>
          </a:prstGeom>
        </p:spPr>
        <p:txBody>
          <a:bodyPr lIns="0" tIns="0" rIns="0" bIns="0" anchor="b">
            <a:noAutofit/>
          </a:bodyPr>
          <a:lstStyle>
            <a:lvl1pPr algn="l">
              <a:defRPr sz="6000" b="1" i="0" spc="100" baseline="0">
                <a:solidFill>
                  <a:schemeClr val="bg1"/>
                </a:solidFill>
                <a:latin typeface="+mj-lt"/>
              </a:defRPr>
            </a:lvl1pPr>
          </a:lstStyle>
          <a:p>
            <a:r>
              <a:rPr lang="en-US" dirty="0"/>
              <a:t>Click to edit </a:t>
            </a:r>
          </a:p>
        </p:txBody>
      </p:sp>
      <p:grpSp>
        <p:nvGrpSpPr>
          <p:cNvPr id="9" name="Group 8">
            <a:extLst>
              <a:ext uri="{FF2B5EF4-FFF2-40B4-BE49-F238E27FC236}">
                <a16:creationId xmlns:a16="http://schemas.microsoft.com/office/drawing/2014/main" id="{C26C18C3-ED25-DD4B-BA72-24932D54DE37}"/>
              </a:ext>
            </a:extLst>
          </p:cNvPr>
          <p:cNvGrpSpPr>
            <a:grpSpLocks/>
          </p:cNvGrpSpPr>
          <p:nvPr userDrawn="1"/>
        </p:nvGrpSpPr>
        <p:grpSpPr bwMode="auto">
          <a:xfrm>
            <a:off x="1" y="758752"/>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p:nvPr>
        </p:nvSpPr>
        <p:spPr>
          <a:xfrm>
            <a:off x="6367055" y="4549553"/>
            <a:ext cx="5491570" cy="953337"/>
          </a:xfrm>
        </p:spPr>
        <p:txBody>
          <a:bodyPr lIns="0" tIns="0" rIns="0" bIns="0">
            <a:noAutofit/>
          </a:bodyPr>
          <a:lstStyle>
            <a:lvl1pPr marL="0" indent="0">
              <a:buNone/>
              <a:defRPr sz="1800" b="0" i="0">
                <a:solidFill>
                  <a:schemeClr val="tx2"/>
                </a:solidFill>
                <a:latin typeface="+mn-lt"/>
              </a:defRPr>
            </a:lvl1pPr>
            <a:lvl2pPr>
              <a:defRPr sz="4000"/>
            </a:lvl2pPr>
            <a:lvl3pPr>
              <a:defRPr sz="4000"/>
            </a:lvl3pPr>
            <a:lvl4pPr>
              <a:defRPr sz="4000"/>
            </a:lvl4pPr>
            <a:lvl5pPr>
              <a:defRPr sz="4000"/>
            </a:lvl5pPr>
          </a:lstStyle>
          <a:p>
            <a:pPr lvl="0"/>
            <a:r>
              <a:rPr lang="en-US" dirty="0"/>
              <a:t>Click to edit </a:t>
            </a:r>
          </a:p>
        </p:txBody>
      </p:sp>
      <p:cxnSp>
        <p:nvCxnSpPr>
          <p:cNvPr id="13" name="Straight Connector 12">
            <a:extLst>
              <a:ext uri="{FF2B5EF4-FFF2-40B4-BE49-F238E27FC236}">
                <a16:creationId xmlns:a16="http://schemas.microsoft.com/office/drawing/2014/main" id="{A69706A2-3726-FE4E-B923-E75D48597816}"/>
              </a:ext>
            </a:extLst>
          </p:cNvPr>
          <p:cNvCxnSpPr>
            <a:cxnSpLocks/>
          </p:cNvCxnSpPr>
          <p:nvPr userDrawn="1"/>
        </p:nvCxnSpPr>
        <p:spPr>
          <a:xfrm>
            <a:off x="6367055" y="4252111"/>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0271085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806C6F65-35CD-D64B-992A-0C1C1E00384D}"/>
              </a:ext>
            </a:extLst>
          </p:cNvPr>
          <p:cNvGrpSpPr/>
          <p:nvPr userDrawn="1"/>
        </p:nvGrpSpPr>
        <p:grpSpPr>
          <a:xfrm>
            <a:off x="6362700" y="0"/>
            <a:ext cx="5829298" cy="3235602"/>
            <a:chOff x="5612972" y="1"/>
            <a:chExt cx="6615961" cy="3672246"/>
          </a:xfrm>
        </p:grpSpPr>
        <p:sp>
          <p:nvSpPr>
            <p:cNvPr id="7" name="AutoShape 24">
              <a:extLst>
                <a:ext uri="{FF2B5EF4-FFF2-40B4-BE49-F238E27FC236}">
                  <a16:creationId xmlns:a16="http://schemas.microsoft.com/office/drawing/2014/main" id="{CFD467E2-FF13-7E4F-BEF9-EA1A17665B2D}"/>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8" name="Freeform 7">
              <a:extLst>
                <a:ext uri="{FF2B5EF4-FFF2-40B4-BE49-F238E27FC236}">
                  <a16:creationId xmlns:a16="http://schemas.microsoft.com/office/drawing/2014/main" id="{CA85A327-3157-B442-993A-6900F71249AC}"/>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9" name="Freeform 8">
              <a:extLst>
                <a:ext uri="{FF2B5EF4-FFF2-40B4-BE49-F238E27FC236}">
                  <a16:creationId xmlns:a16="http://schemas.microsoft.com/office/drawing/2014/main" id="{9A459CB4-74AF-0544-AB1E-7CC6D10F84EB}"/>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0" name="Freeform 9">
              <a:extLst>
                <a:ext uri="{FF2B5EF4-FFF2-40B4-BE49-F238E27FC236}">
                  <a16:creationId xmlns:a16="http://schemas.microsoft.com/office/drawing/2014/main" id="{95A20BFD-9142-D64A-A78A-61B75FCA0D76}"/>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B80736DF-C890-DB47-AEAA-D3D92505E632}"/>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2" name="Title 1">
            <a:extLst>
              <a:ext uri="{FF2B5EF4-FFF2-40B4-BE49-F238E27FC236}">
                <a16:creationId xmlns:a16="http://schemas.microsoft.com/office/drawing/2014/main" id="{39F93F26-ED5C-E74E-BFBD-E3054DC1B9C1}"/>
              </a:ext>
            </a:extLst>
          </p:cNvPr>
          <p:cNvSpPr>
            <a:spLocks noGrp="1"/>
          </p:cNvSpPr>
          <p:nvPr>
            <p:ph type="title"/>
          </p:nvPr>
        </p:nvSpPr>
        <p:spPr>
          <a:xfrm>
            <a:off x="964023" y="879063"/>
            <a:ext cx="4941477" cy="610863"/>
          </a:xfrm>
          <a:prstGeom prst="rect">
            <a:avLst/>
          </a:prstGeom>
        </p:spPr>
        <p:txBody>
          <a:bodyPr lIns="0" tIns="0" rIns="0" bIns="0" anchor="b" anchorCtr="0">
            <a:normAutofit/>
          </a:bodyPr>
          <a:lstStyle>
            <a:lvl1pPr>
              <a:defRPr sz="4400" b="1" i="0" spc="50" baseline="0">
                <a:latin typeface="+mj-lt"/>
              </a:defRPr>
            </a:lvl1pPr>
          </a:lstStyle>
          <a:p>
            <a:r>
              <a:rPr lang="en-US" dirty="0"/>
              <a:t>Click to edit </a:t>
            </a:r>
          </a:p>
        </p:txBody>
      </p:sp>
      <p:cxnSp>
        <p:nvCxnSpPr>
          <p:cNvPr id="13" name="Straight Connector 12">
            <a:extLst>
              <a:ext uri="{FF2B5EF4-FFF2-40B4-BE49-F238E27FC236}">
                <a16:creationId xmlns:a16="http://schemas.microsoft.com/office/drawing/2014/main" id="{CF0FD074-81E2-0D4E-8446-C5B415B238A0}"/>
              </a:ext>
            </a:extLst>
          </p:cNvPr>
          <p:cNvCxnSpPr>
            <a:cxnSpLocks/>
          </p:cNvCxnSpPr>
          <p:nvPr userDrawn="1"/>
        </p:nvCxnSpPr>
        <p:spPr>
          <a:xfrm>
            <a:off x="952500" y="1934655"/>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4" name="Text Placeholder 29">
            <a:extLst>
              <a:ext uri="{FF2B5EF4-FFF2-40B4-BE49-F238E27FC236}">
                <a16:creationId xmlns:a16="http://schemas.microsoft.com/office/drawing/2014/main" id="{58AAB058-5FFC-9E4E-AD2E-FB1B4EE51025}"/>
              </a:ext>
            </a:extLst>
          </p:cNvPr>
          <p:cNvSpPr>
            <a:spLocks noGrp="1"/>
          </p:cNvSpPr>
          <p:nvPr>
            <p:ph type="body" sz="quarter" idx="13"/>
          </p:nvPr>
        </p:nvSpPr>
        <p:spPr>
          <a:xfrm>
            <a:off x="952500" y="2818296"/>
            <a:ext cx="2133600" cy="369332"/>
          </a:xfrm>
        </p:spPr>
        <p:txBody>
          <a:bodyPr lIns="0" tIns="0" rIns="0" bIns="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a:r>
              <a:rPr lang="en-US" dirty="0"/>
              <a:t>Click to edit </a:t>
            </a:r>
          </a:p>
        </p:txBody>
      </p:sp>
      <p:sp>
        <p:nvSpPr>
          <p:cNvPr id="15" name="Text Placeholder 29">
            <a:extLst>
              <a:ext uri="{FF2B5EF4-FFF2-40B4-BE49-F238E27FC236}">
                <a16:creationId xmlns:a16="http://schemas.microsoft.com/office/drawing/2014/main" id="{18ABDA74-C3EC-274D-BE87-AC5B825A2A4C}"/>
              </a:ext>
            </a:extLst>
          </p:cNvPr>
          <p:cNvSpPr>
            <a:spLocks noGrp="1"/>
          </p:cNvSpPr>
          <p:nvPr>
            <p:ph type="body" sz="quarter" idx="14"/>
          </p:nvPr>
        </p:nvSpPr>
        <p:spPr>
          <a:xfrm>
            <a:off x="952500" y="2209800"/>
            <a:ext cx="2133600" cy="205837"/>
          </a:xfrm>
        </p:spPr>
        <p:txBody>
          <a:bodyPr lIns="0" tIns="0" rIns="0" bIns="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a:r>
              <a:rPr lang="en-US" dirty="0"/>
              <a:t>Click to edit </a:t>
            </a:r>
          </a:p>
        </p:txBody>
      </p:sp>
      <p:cxnSp>
        <p:nvCxnSpPr>
          <p:cNvPr id="16" name="Straight Connector 15">
            <a:extLst>
              <a:ext uri="{FF2B5EF4-FFF2-40B4-BE49-F238E27FC236}">
                <a16:creationId xmlns:a16="http://schemas.microsoft.com/office/drawing/2014/main" id="{A3DDE02E-BC75-2645-8725-CA2CFD327A3C}"/>
              </a:ext>
            </a:extLst>
          </p:cNvPr>
          <p:cNvCxnSpPr>
            <a:cxnSpLocks/>
          </p:cNvCxnSpPr>
          <p:nvPr userDrawn="1"/>
        </p:nvCxnSpPr>
        <p:spPr>
          <a:xfrm>
            <a:off x="3663043"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7" name="Text Placeholder 29">
            <a:extLst>
              <a:ext uri="{FF2B5EF4-FFF2-40B4-BE49-F238E27FC236}">
                <a16:creationId xmlns:a16="http://schemas.microsoft.com/office/drawing/2014/main" id="{3ABA9FD1-9B74-F14F-81EF-7B3407196B03}"/>
              </a:ext>
            </a:extLst>
          </p:cNvPr>
          <p:cNvSpPr>
            <a:spLocks noGrp="1"/>
          </p:cNvSpPr>
          <p:nvPr>
            <p:ph type="body" sz="quarter" idx="15"/>
          </p:nvPr>
        </p:nvSpPr>
        <p:spPr>
          <a:xfrm>
            <a:off x="3663042" y="2818296"/>
            <a:ext cx="2128157" cy="369332"/>
          </a:xfrm>
        </p:spPr>
        <p:txBody>
          <a:bodyPr lIns="0" tIns="0" rIns="0" bIns="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a:r>
              <a:rPr lang="en-US" dirty="0"/>
              <a:t>Click to edit </a:t>
            </a:r>
          </a:p>
        </p:txBody>
      </p:sp>
      <p:sp>
        <p:nvSpPr>
          <p:cNvPr id="18" name="Text Placeholder 29">
            <a:extLst>
              <a:ext uri="{FF2B5EF4-FFF2-40B4-BE49-F238E27FC236}">
                <a16:creationId xmlns:a16="http://schemas.microsoft.com/office/drawing/2014/main" id="{0E9E9D03-0186-5B4C-A73F-95ADCD08A44A}"/>
              </a:ext>
            </a:extLst>
          </p:cNvPr>
          <p:cNvSpPr>
            <a:spLocks noGrp="1"/>
          </p:cNvSpPr>
          <p:nvPr>
            <p:ph type="body" sz="quarter" idx="16"/>
          </p:nvPr>
        </p:nvSpPr>
        <p:spPr>
          <a:xfrm>
            <a:off x="3663042" y="2209800"/>
            <a:ext cx="2128157" cy="205837"/>
          </a:xfrm>
        </p:spPr>
        <p:txBody>
          <a:bodyPr lIns="0" tIns="0" rIns="0" bIns="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a:r>
              <a:rPr lang="en-US" dirty="0"/>
              <a:t>Click to edit</a:t>
            </a:r>
          </a:p>
        </p:txBody>
      </p:sp>
      <p:cxnSp>
        <p:nvCxnSpPr>
          <p:cNvPr id="20" name="Straight Connector 19">
            <a:extLst>
              <a:ext uri="{FF2B5EF4-FFF2-40B4-BE49-F238E27FC236}">
                <a16:creationId xmlns:a16="http://schemas.microsoft.com/office/drawing/2014/main" id="{E01EE6FD-FABB-AD48-92DA-19805B502918}"/>
              </a:ext>
            </a:extLst>
          </p:cNvPr>
          <p:cNvCxnSpPr>
            <a:cxnSpLocks/>
          </p:cNvCxnSpPr>
          <p:nvPr userDrawn="1"/>
        </p:nvCxnSpPr>
        <p:spPr>
          <a:xfrm>
            <a:off x="952500" y="4248119"/>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1" name="Text Placeholder 29">
            <a:extLst>
              <a:ext uri="{FF2B5EF4-FFF2-40B4-BE49-F238E27FC236}">
                <a16:creationId xmlns:a16="http://schemas.microsoft.com/office/drawing/2014/main" id="{F953BCFF-5CB8-784F-ACC1-A14670E62196}"/>
              </a:ext>
            </a:extLst>
          </p:cNvPr>
          <p:cNvSpPr>
            <a:spLocks noGrp="1"/>
          </p:cNvSpPr>
          <p:nvPr>
            <p:ph type="body" sz="quarter" idx="19"/>
          </p:nvPr>
        </p:nvSpPr>
        <p:spPr>
          <a:xfrm>
            <a:off x="952500" y="5131299"/>
            <a:ext cx="2133600" cy="369332"/>
          </a:xfrm>
        </p:spPr>
        <p:txBody>
          <a:bodyPr lIns="0" tIns="0" rIns="0" bIns="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a:r>
              <a:rPr lang="en-US" dirty="0"/>
              <a:t>Click to edit </a:t>
            </a:r>
          </a:p>
        </p:txBody>
      </p:sp>
      <p:sp>
        <p:nvSpPr>
          <p:cNvPr id="22" name="Text Placeholder 29">
            <a:extLst>
              <a:ext uri="{FF2B5EF4-FFF2-40B4-BE49-F238E27FC236}">
                <a16:creationId xmlns:a16="http://schemas.microsoft.com/office/drawing/2014/main" id="{97DCC038-CDD3-1D48-B8BA-2617616935C5}"/>
              </a:ext>
            </a:extLst>
          </p:cNvPr>
          <p:cNvSpPr>
            <a:spLocks noGrp="1"/>
          </p:cNvSpPr>
          <p:nvPr>
            <p:ph type="body" sz="quarter" idx="20"/>
          </p:nvPr>
        </p:nvSpPr>
        <p:spPr>
          <a:xfrm>
            <a:off x="952500" y="4522803"/>
            <a:ext cx="2133600" cy="205837"/>
          </a:xfrm>
        </p:spPr>
        <p:txBody>
          <a:bodyPr lIns="0" tIns="0" rIns="0" bIns="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a:r>
              <a:rPr lang="en-US" dirty="0"/>
              <a:t>Click to edit </a:t>
            </a:r>
          </a:p>
        </p:txBody>
      </p:sp>
      <p:cxnSp>
        <p:nvCxnSpPr>
          <p:cNvPr id="23" name="Straight Connector 22">
            <a:extLst>
              <a:ext uri="{FF2B5EF4-FFF2-40B4-BE49-F238E27FC236}">
                <a16:creationId xmlns:a16="http://schemas.microsoft.com/office/drawing/2014/main" id="{93BB36CC-7349-334D-A028-58D01025E726}"/>
              </a:ext>
            </a:extLst>
          </p:cNvPr>
          <p:cNvCxnSpPr>
            <a:cxnSpLocks/>
          </p:cNvCxnSpPr>
          <p:nvPr userDrawn="1"/>
        </p:nvCxnSpPr>
        <p:spPr>
          <a:xfrm>
            <a:off x="3663043" y="4252111"/>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4" name="Text Placeholder 29">
            <a:extLst>
              <a:ext uri="{FF2B5EF4-FFF2-40B4-BE49-F238E27FC236}">
                <a16:creationId xmlns:a16="http://schemas.microsoft.com/office/drawing/2014/main" id="{C20DFC6E-CE65-E94B-921D-38F386E173F2}"/>
              </a:ext>
            </a:extLst>
          </p:cNvPr>
          <p:cNvSpPr>
            <a:spLocks noGrp="1"/>
          </p:cNvSpPr>
          <p:nvPr>
            <p:ph type="body" sz="quarter" idx="21"/>
          </p:nvPr>
        </p:nvSpPr>
        <p:spPr>
          <a:xfrm>
            <a:off x="3663042" y="5131299"/>
            <a:ext cx="2128157" cy="369332"/>
          </a:xfrm>
        </p:spPr>
        <p:txBody>
          <a:bodyPr lIns="0" tIns="0" rIns="0" bIns="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a:r>
              <a:rPr lang="en-US" dirty="0"/>
              <a:t>Click to edit </a:t>
            </a:r>
          </a:p>
        </p:txBody>
      </p:sp>
      <p:sp>
        <p:nvSpPr>
          <p:cNvPr id="25" name="Text Placeholder 29">
            <a:extLst>
              <a:ext uri="{FF2B5EF4-FFF2-40B4-BE49-F238E27FC236}">
                <a16:creationId xmlns:a16="http://schemas.microsoft.com/office/drawing/2014/main" id="{773FBF72-A3D8-2F4E-BAD2-2755F0BE4A47}"/>
              </a:ext>
            </a:extLst>
          </p:cNvPr>
          <p:cNvSpPr>
            <a:spLocks noGrp="1"/>
          </p:cNvSpPr>
          <p:nvPr>
            <p:ph type="body" sz="quarter" idx="22"/>
          </p:nvPr>
        </p:nvSpPr>
        <p:spPr>
          <a:xfrm>
            <a:off x="3663042" y="4522803"/>
            <a:ext cx="2128157" cy="205837"/>
          </a:xfrm>
        </p:spPr>
        <p:txBody>
          <a:bodyPr lIns="0" tIns="0" rIns="0" bIns="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a:r>
              <a:rPr lang="en-US" dirty="0"/>
              <a:t>Click to edit </a:t>
            </a:r>
          </a:p>
        </p:txBody>
      </p:sp>
      <p:cxnSp>
        <p:nvCxnSpPr>
          <p:cNvPr id="26" name="Straight Connector 25">
            <a:extLst>
              <a:ext uri="{FF2B5EF4-FFF2-40B4-BE49-F238E27FC236}">
                <a16:creationId xmlns:a16="http://schemas.microsoft.com/office/drawing/2014/main" id="{C402C0D4-D9C4-F547-B996-38177302A3DC}"/>
              </a:ext>
            </a:extLst>
          </p:cNvPr>
          <p:cNvCxnSpPr>
            <a:cxnSpLocks/>
          </p:cNvCxnSpPr>
          <p:nvPr userDrawn="1"/>
        </p:nvCxnSpPr>
        <p:spPr>
          <a:xfrm>
            <a:off x="6367055" y="4252111"/>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7" name="Text Placeholder 29">
            <a:extLst>
              <a:ext uri="{FF2B5EF4-FFF2-40B4-BE49-F238E27FC236}">
                <a16:creationId xmlns:a16="http://schemas.microsoft.com/office/drawing/2014/main" id="{9B18A1DC-4A61-514B-9F70-1DCC893EBB17}"/>
              </a:ext>
            </a:extLst>
          </p:cNvPr>
          <p:cNvSpPr>
            <a:spLocks noGrp="1"/>
          </p:cNvSpPr>
          <p:nvPr>
            <p:ph type="body" sz="quarter" idx="23"/>
          </p:nvPr>
        </p:nvSpPr>
        <p:spPr>
          <a:xfrm>
            <a:off x="6367054" y="5131299"/>
            <a:ext cx="2129245" cy="369332"/>
          </a:xfrm>
        </p:spPr>
        <p:txBody>
          <a:bodyPr lIns="0" tIns="0" rIns="0" bIns="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a:r>
              <a:rPr lang="en-US" dirty="0"/>
              <a:t>Click to edit </a:t>
            </a:r>
          </a:p>
        </p:txBody>
      </p:sp>
      <p:sp>
        <p:nvSpPr>
          <p:cNvPr id="28" name="Text Placeholder 29">
            <a:extLst>
              <a:ext uri="{FF2B5EF4-FFF2-40B4-BE49-F238E27FC236}">
                <a16:creationId xmlns:a16="http://schemas.microsoft.com/office/drawing/2014/main" id="{DD138509-2AA1-D540-90D6-288474956619}"/>
              </a:ext>
            </a:extLst>
          </p:cNvPr>
          <p:cNvSpPr>
            <a:spLocks noGrp="1"/>
          </p:cNvSpPr>
          <p:nvPr>
            <p:ph type="body" sz="quarter" idx="24"/>
          </p:nvPr>
        </p:nvSpPr>
        <p:spPr>
          <a:xfrm>
            <a:off x="6367054" y="4522803"/>
            <a:ext cx="2129245" cy="205837"/>
          </a:xfrm>
        </p:spPr>
        <p:txBody>
          <a:bodyPr lIns="0" tIns="0" rIns="0" bIns="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a:r>
              <a:rPr lang="en-US" dirty="0"/>
              <a:t>Click to edit </a:t>
            </a:r>
          </a:p>
        </p:txBody>
      </p:sp>
      <p:sp>
        <p:nvSpPr>
          <p:cNvPr id="5" name="Footer Placeholder 4">
            <a:extLst>
              <a:ext uri="{FF2B5EF4-FFF2-40B4-BE49-F238E27FC236}">
                <a16:creationId xmlns:a16="http://schemas.microsoft.com/office/drawing/2014/main" id="{FDE10C66-2FF2-41F8-98FA-BE4983369645}"/>
              </a:ext>
            </a:extLst>
          </p:cNvPr>
          <p:cNvSpPr>
            <a:spLocks noGrp="1"/>
          </p:cNvSpPr>
          <p:nvPr>
            <p:ph type="ftr" sz="quarter" idx="26"/>
          </p:nvPr>
        </p:nvSpPr>
        <p:spPr/>
        <p:txBody>
          <a:bodyPr/>
          <a:lstStyle/>
          <a:p>
            <a:r>
              <a:rPr lang="en-US"/>
              <a:t>DevIC Paper ID-414</a:t>
            </a:r>
            <a:endParaRPr lang="en-US" b="0" dirty="0"/>
          </a:p>
        </p:txBody>
      </p:sp>
      <p:sp>
        <p:nvSpPr>
          <p:cNvPr id="19" name="Slide Number Placeholder 18">
            <a:extLst>
              <a:ext uri="{FF2B5EF4-FFF2-40B4-BE49-F238E27FC236}">
                <a16:creationId xmlns:a16="http://schemas.microsoft.com/office/drawing/2014/main" id="{1851A3FD-B717-4588-9809-4FFAC5FF47A1}"/>
              </a:ext>
            </a:extLst>
          </p:cNvPr>
          <p:cNvSpPr>
            <a:spLocks noGrp="1"/>
          </p:cNvSpPr>
          <p:nvPr>
            <p:ph type="sldNum" sz="quarter" idx="27"/>
          </p:nvPr>
        </p:nvSpPr>
        <p:spPr/>
        <p:txBody>
          <a:bodyPr/>
          <a:lstStyle/>
          <a:p>
            <a:fld id="{294A09A9-5501-47C1-A89A-A340965A2BE2}" type="slidenum">
              <a:rPr lang="en-US" smtClean="0"/>
              <a:pPr/>
              <a:t>‹#›</a:t>
            </a:fld>
            <a:endParaRPr lang="en-US" dirty="0">
              <a:latin typeface="+mn-lt"/>
            </a:endParaRPr>
          </a:p>
        </p:txBody>
      </p:sp>
    </p:spTree>
    <p:extLst>
      <p:ext uri="{BB962C8B-B14F-4D97-AF65-F5344CB8AC3E}">
        <p14:creationId xmlns:p14="http://schemas.microsoft.com/office/powerpoint/2010/main" val="40930664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C82066DD-D313-D148-89C7-338EB873A730}"/>
              </a:ext>
            </a:extLst>
          </p:cNvPr>
          <p:cNvGrpSpPr>
            <a:grpSpLocks/>
          </p:cNvGrpSpPr>
          <p:nvPr userDrawn="1"/>
        </p:nvGrpSpPr>
        <p:grpSpPr bwMode="auto">
          <a:xfrm rot="16200000" flipV="1">
            <a:off x="0" y="3900132"/>
            <a:ext cx="2959226" cy="2959226"/>
            <a:chOff x="0" y="12289"/>
            <a:chExt cx="3550" cy="3551"/>
          </a:xfrm>
        </p:grpSpPr>
        <p:sp>
          <p:nvSpPr>
            <p:cNvPr id="15" name="Freeform 14">
              <a:extLst>
                <a:ext uri="{FF2B5EF4-FFF2-40B4-BE49-F238E27FC236}">
                  <a16:creationId xmlns:a16="http://schemas.microsoft.com/office/drawing/2014/main" id="{A5BBD7C7-99D1-E841-A081-6912D1F2B855}"/>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6" name="Freeform 15">
              <a:extLst>
                <a:ext uri="{FF2B5EF4-FFF2-40B4-BE49-F238E27FC236}">
                  <a16:creationId xmlns:a16="http://schemas.microsoft.com/office/drawing/2014/main" id="{227A14EE-CB79-754A-8B19-EB9874B3158E}"/>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9" name="Freeform 18">
              <a:extLst>
                <a:ext uri="{FF2B5EF4-FFF2-40B4-BE49-F238E27FC236}">
                  <a16:creationId xmlns:a16="http://schemas.microsoft.com/office/drawing/2014/main" id="{35B38B80-C3D3-4C47-B468-C41A8FF36F2A}"/>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4" name="Picture Placeholder 2">
            <a:extLst>
              <a:ext uri="{FF2B5EF4-FFF2-40B4-BE49-F238E27FC236}">
                <a16:creationId xmlns:a16="http://schemas.microsoft.com/office/drawing/2014/main" id="{F0C4E8C2-3240-594A-9D5E-1BCD1AF44C5E}"/>
              </a:ext>
            </a:extLst>
          </p:cNvPr>
          <p:cNvSpPr>
            <a:spLocks noGrp="1"/>
          </p:cNvSpPr>
          <p:nvPr>
            <p:ph type="pic" sz="quarter" idx="13"/>
          </p:nvPr>
        </p:nvSpPr>
        <p:spPr>
          <a:xfrm>
            <a:off x="6096000" y="-22543"/>
            <a:ext cx="6096000" cy="6903086"/>
          </a:xfrm>
        </p:spPr>
        <p:txBody>
          <a:bodyPr/>
          <a:lstStyle/>
          <a:p>
            <a:endParaRPr lang="en-US" dirty="0"/>
          </a:p>
        </p:txBody>
      </p:sp>
      <p:sp>
        <p:nvSpPr>
          <p:cNvPr id="9" name="Title 1">
            <a:extLst>
              <a:ext uri="{FF2B5EF4-FFF2-40B4-BE49-F238E27FC236}">
                <a16:creationId xmlns:a16="http://schemas.microsoft.com/office/drawing/2014/main" id="{A5C37098-CEB2-1E45-989B-3DD92F3B1A30}"/>
              </a:ext>
            </a:extLst>
          </p:cNvPr>
          <p:cNvSpPr>
            <a:spLocks noGrp="1"/>
          </p:cNvSpPr>
          <p:nvPr>
            <p:ph type="title"/>
          </p:nvPr>
        </p:nvSpPr>
        <p:spPr>
          <a:xfrm>
            <a:off x="964023" y="879063"/>
            <a:ext cx="4941477" cy="610863"/>
          </a:xfrm>
          <a:prstGeom prst="rect">
            <a:avLst/>
          </a:prstGeom>
        </p:spPr>
        <p:txBody>
          <a:bodyPr lIns="0" tIns="0" rIns="0" bIns="0" anchor="b" anchorCtr="0">
            <a:normAutofit/>
          </a:bodyPr>
          <a:lstStyle>
            <a:lvl1pPr>
              <a:defRPr sz="4400" b="1" i="0">
                <a:latin typeface="+mj-lt"/>
              </a:defRPr>
            </a:lvl1pPr>
          </a:lstStyle>
          <a:p>
            <a:r>
              <a:rPr lang="en-US" dirty="0"/>
              <a:t>Click to edit </a:t>
            </a:r>
          </a:p>
        </p:txBody>
      </p:sp>
      <p:cxnSp>
        <p:nvCxnSpPr>
          <p:cNvPr id="17" name="Straight Connector 16">
            <a:extLst>
              <a:ext uri="{FF2B5EF4-FFF2-40B4-BE49-F238E27FC236}">
                <a16:creationId xmlns:a16="http://schemas.microsoft.com/office/drawing/2014/main" id="{1D23F761-57FC-3649-AE84-0C3EF95EF561}"/>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8" name="Text Placeholder 29">
            <a:extLst>
              <a:ext uri="{FF2B5EF4-FFF2-40B4-BE49-F238E27FC236}">
                <a16:creationId xmlns:a16="http://schemas.microsoft.com/office/drawing/2014/main" id="{E66F2BC9-2F8A-1543-9AFD-9BAB0E75B31C}"/>
              </a:ext>
            </a:extLst>
          </p:cNvPr>
          <p:cNvSpPr>
            <a:spLocks noGrp="1"/>
          </p:cNvSpPr>
          <p:nvPr>
            <p:ph type="body" sz="quarter" idx="11"/>
          </p:nvPr>
        </p:nvSpPr>
        <p:spPr>
          <a:xfrm>
            <a:off x="952499" y="2289363"/>
            <a:ext cx="4572001" cy="2795232"/>
          </a:xfrm>
        </p:spPr>
        <p:txBody>
          <a:bodyPr lIns="0" tIns="0" rIns="0" bIns="0">
            <a:noAutofit/>
          </a:bodyPr>
          <a:lstStyle>
            <a:lvl1pPr marL="0" indent="0">
              <a:lnSpc>
                <a:spcPct val="100000"/>
              </a:lnSpc>
              <a:buNone/>
              <a:defRPr sz="1600" b="0" i="0">
                <a:solidFill>
                  <a:schemeClr val="bg1"/>
                </a:solidFill>
                <a:latin typeface="+mn-lt"/>
              </a:defRPr>
            </a:lvl1pPr>
            <a:lvl2pPr>
              <a:defRPr sz="4000"/>
            </a:lvl2pPr>
            <a:lvl3pPr>
              <a:defRPr sz="4000"/>
            </a:lvl3pPr>
            <a:lvl4pPr>
              <a:defRPr sz="4000"/>
            </a:lvl4pPr>
            <a:lvl5pPr>
              <a:defRPr sz="4000"/>
            </a:lvl5pPr>
          </a:lstStyle>
          <a:p>
            <a:pPr lvl="0"/>
            <a:r>
              <a:rPr lang="en-US" dirty="0"/>
              <a:t>Click to edit </a:t>
            </a:r>
          </a:p>
        </p:txBody>
      </p:sp>
      <p:sp>
        <p:nvSpPr>
          <p:cNvPr id="4" name="Footer Placeholder 3">
            <a:extLst>
              <a:ext uri="{FF2B5EF4-FFF2-40B4-BE49-F238E27FC236}">
                <a16:creationId xmlns:a16="http://schemas.microsoft.com/office/drawing/2014/main" id="{DB285929-1018-4370-A170-074C414B2281}"/>
              </a:ext>
            </a:extLst>
          </p:cNvPr>
          <p:cNvSpPr>
            <a:spLocks noGrp="1"/>
          </p:cNvSpPr>
          <p:nvPr>
            <p:ph type="ftr" sz="quarter" idx="15"/>
          </p:nvPr>
        </p:nvSpPr>
        <p:spPr/>
        <p:txBody>
          <a:bodyPr/>
          <a:lstStyle/>
          <a:p>
            <a:r>
              <a:rPr lang="en-US"/>
              <a:t>DevIC Paper ID-414</a:t>
            </a:r>
            <a:endParaRPr lang="en-US" b="0" dirty="0"/>
          </a:p>
        </p:txBody>
      </p:sp>
      <p:sp>
        <p:nvSpPr>
          <p:cNvPr id="5" name="Slide Number Placeholder 4">
            <a:extLst>
              <a:ext uri="{FF2B5EF4-FFF2-40B4-BE49-F238E27FC236}">
                <a16:creationId xmlns:a16="http://schemas.microsoft.com/office/drawing/2014/main" id="{6184536E-AD08-4371-85E9-A816C30B6AE7}"/>
              </a:ext>
            </a:extLst>
          </p:cNvPr>
          <p:cNvSpPr>
            <a:spLocks noGrp="1"/>
          </p:cNvSpPr>
          <p:nvPr>
            <p:ph type="sldNum" sz="quarter" idx="16"/>
          </p:nvPr>
        </p:nvSpPr>
        <p:spPr/>
        <p:txBody>
          <a:bodyPr/>
          <a:lstStyle/>
          <a:p>
            <a:fld id="{294A09A9-5501-47C1-A89A-A340965A2BE2}" type="slidenum">
              <a:rPr lang="en-US" smtClean="0"/>
              <a:pPr/>
              <a:t>‹#›</a:t>
            </a:fld>
            <a:endParaRPr lang="en-US" dirty="0">
              <a:latin typeface="+mn-lt"/>
            </a:endParaRPr>
          </a:p>
        </p:txBody>
      </p:sp>
    </p:spTree>
    <p:extLst>
      <p:ext uri="{BB962C8B-B14F-4D97-AF65-F5344CB8AC3E}">
        <p14:creationId xmlns:p14="http://schemas.microsoft.com/office/powerpoint/2010/main" val="3073769527"/>
      </p:ext>
    </p:extLst>
  </p:cSld>
  <p:clrMapOvr>
    <a:masterClrMapping/>
  </p:clrMapOvr>
  <p:extLst>
    <p:ext uri="{DCECCB84-F9BA-43D5-87BE-67443E8EF086}">
      <p15:sldGuideLst xmlns:p15="http://schemas.microsoft.com/office/powerpoint/2012/main">
        <p15:guide id="1" pos="600">
          <p15:clr>
            <a:srgbClr val="FBAE40"/>
          </p15:clr>
        </p15:guide>
        <p15:guide id="6" pos="3480" userDrawn="1">
          <p15:clr>
            <a:srgbClr val="FBAE40"/>
          </p15:clr>
        </p15:guide>
        <p15:guide id="7" orient="horz" pos="1440" userDrawn="1">
          <p15:clr>
            <a:srgbClr val="FBAE40"/>
          </p15:clr>
        </p15:guide>
        <p15:guide id="9" orient="horz" pos="1224" userDrawn="1">
          <p15:clr>
            <a:srgbClr val="FBAE40"/>
          </p15:clr>
        </p15:guide>
        <p15:guide id="10" orient="horz" pos="552"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reak">
    <p:bg>
      <p:bgPr>
        <a:solidFill>
          <a:schemeClr val="tx1"/>
        </a:solidFill>
        <a:effectLst/>
      </p:bgPr>
    </p:bg>
    <p:spTree>
      <p:nvGrpSpPr>
        <p:cNvPr id="1" name=""/>
        <p:cNvGrpSpPr/>
        <p:nvPr/>
      </p:nvGrpSpPr>
      <p:grpSpPr>
        <a:xfrm>
          <a:off x="0" y="0"/>
          <a:ext cx="0" cy="0"/>
          <a:chOff x="0" y="0"/>
          <a:chExt cx="0" cy="0"/>
        </a:xfrm>
      </p:grpSpPr>
      <p:sp>
        <p:nvSpPr>
          <p:cNvPr id="21" name="Picture Placeholder 2">
            <a:extLst>
              <a:ext uri="{FF2B5EF4-FFF2-40B4-BE49-F238E27FC236}">
                <a16:creationId xmlns:a16="http://schemas.microsoft.com/office/drawing/2014/main" id="{50E2385F-F6FA-D345-AF77-A9EE8E49310D}"/>
              </a:ext>
            </a:extLst>
          </p:cNvPr>
          <p:cNvSpPr>
            <a:spLocks noGrp="1"/>
          </p:cNvSpPr>
          <p:nvPr>
            <p:ph type="pic" sz="quarter" idx="13"/>
          </p:nvPr>
        </p:nvSpPr>
        <p:spPr>
          <a:xfrm>
            <a:off x="0" y="0"/>
            <a:ext cx="12191998" cy="6858000"/>
          </a:xfrm>
          <a:solidFill>
            <a:schemeClr val="accent2"/>
          </a:solidFill>
        </p:spPr>
        <p:txBody>
          <a:bodyPr/>
          <a:lstStyle/>
          <a:p>
            <a:endParaRPr lang="en-US" dirty="0"/>
          </a:p>
        </p:txBody>
      </p:sp>
      <p:sp>
        <p:nvSpPr>
          <p:cNvPr id="18" name="Title 1">
            <a:extLst>
              <a:ext uri="{FF2B5EF4-FFF2-40B4-BE49-F238E27FC236}">
                <a16:creationId xmlns:a16="http://schemas.microsoft.com/office/drawing/2014/main" id="{8D492973-78E3-D34E-835E-CF2D4517016D}"/>
              </a:ext>
            </a:extLst>
          </p:cNvPr>
          <p:cNvSpPr>
            <a:spLocks noGrp="1"/>
          </p:cNvSpPr>
          <p:nvPr>
            <p:ph type="title"/>
          </p:nvPr>
        </p:nvSpPr>
        <p:spPr>
          <a:xfrm>
            <a:off x="7193943" y="3045437"/>
            <a:ext cx="4941477" cy="610863"/>
          </a:xfrm>
          <a:prstGeom prst="rect">
            <a:avLst/>
          </a:prstGeom>
        </p:spPr>
        <p:txBody>
          <a:bodyPr lIns="0" tIns="0" rIns="0" bIns="0" anchor="b" anchorCtr="0">
            <a:normAutofit/>
          </a:bodyPr>
          <a:lstStyle>
            <a:lvl1pPr>
              <a:defRPr sz="4100" b="1" i="0" baseline="0">
                <a:solidFill>
                  <a:schemeClr val="tx1"/>
                </a:solidFill>
                <a:latin typeface="+mj-lt"/>
              </a:defRPr>
            </a:lvl1pPr>
          </a:lstStyle>
          <a:p>
            <a:r>
              <a:rPr lang="en-US" dirty="0"/>
              <a:t>Click to edit </a:t>
            </a:r>
          </a:p>
        </p:txBody>
      </p:sp>
      <p:cxnSp>
        <p:nvCxnSpPr>
          <p:cNvPr id="20" name="Straight Connector 19">
            <a:extLst>
              <a:ext uri="{FF2B5EF4-FFF2-40B4-BE49-F238E27FC236}">
                <a16:creationId xmlns:a16="http://schemas.microsoft.com/office/drawing/2014/main" id="{4BE3A3D6-A0AD-C84D-8B2A-743F5F95432E}"/>
              </a:ext>
            </a:extLst>
          </p:cNvPr>
          <p:cNvCxnSpPr>
            <a:cxnSpLocks/>
          </p:cNvCxnSpPr>
          <p:nvPr userDrawn="1"/>
        </p:nvCxnSpPr>
        <p:spPr>
          <a:xfrm>
            <a:off x="7154721" y="4003877"/>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grpSp>
        <p:nvGrpSpPr>
          <p:cNvPr id="22" name="Group 21">
            <a:extLst>
              <a:ext uri="{FF2B5EF4-FFF2-40B4-BE49-F238E27FC236}">
                <a16:creationId xmlns:a16="http://schemas.microsoft.com/office/drawing/2014/main" id="{F4CB38BE-0FF2-694C-AA3C-D73DBF7C332C}"/>
              </a:ext>
            </a:extLst>
          </p:cNvPr>
          <p:cNvGrpSpPr>
            <a:grpSpLocks/>
          </p:cNvGrpSpPr>
          <p:nvPr userDrawn="1"/>
        </p:nvGrpSpPr>
        <p:grpSpPr bwMode="auto">
          <a:xfrm rot="10800000">
            <a:off x="9509760" y="-3"/>
            <a:ext cx="2682238" cy="2682238"/>
            <a:chOff x="0" y="12289"/>
            <a:chExt cx="3550" cy="3551"/>
          </a:xfrm>
          <a:solidFill>
            <a:schemeClr val="tx1"/>
          </a:solidFill>
        </p:grpSpPr>
        <p:sp>
          <p:nvSpPr>
            <p:cNvPr id="23" name="Freeform 22">
              <a:extLst>
                <a:ext uri="{FF2B5EF4-FFF2-40B4-BE49-F238E27FC236}">
                  <a16:creationId xmlns:a16="http://schemas.microsoft.com/office/drawing/2014/main" id="{F0257420-2EA0-6348-8B9E-1414F5297265}"/>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4" name="Freeform 23">
              <a:extLst>
                <a:ext uri="{FF2B5EF4-FFF2-40B4-BE49-F238E27FC236}">
                  <a16:creationId xmlns:a16="http://schemas.microsoft.com/office/drawing/2014/main" id="{7FE65C23-C0EF-BB41-884A-01C2A7356159}"/>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5" name="Freeform 24">
              <a:extLst>
                <a:ext uri="{FF2B5EF4-FFF2-40B4-BE49-F238E27FC236}">
                  <a16:creationId xmlns:a16="http://schemas.microsoft.com/office/drawing/2014/main" id="{F73F5EB6-53C7-D44C-9003-FB5A81F9890D}"/>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Tree>
    <p:extLst>
      <p:ext uri="{BB962C8B-B14F-4D97-AF65-F5344CB8AC3E}">
        <p14:creationId xmlns:p14="http://schemas.microsoft.com/office/powerpoint/2010/main" val="2357889184"/>
      </p:ext>
    </p:extLst>
  </p:cSld>
  <p:clrMapOvr>
    <a:masterClrMapping/>
  </p:clrMapOvr>
  <p:extLst>
    <p:ext uri="{DCECCB84-F9BA-43D5-87BE-67443E8EF086}">
      <p15:sldGuideLst xmlns:p15="http://schemas.microsoft.com/office/powerpoint/2012/main">
        <p15:guide id="2" pos="7104">
          <p15:clr>
            <a:srgbClr val="FBAE40"/>
          </p15:clr>
        </p15:guide>
        <p15:guide id="3" pos="4344" userDrawn="1">
          <p15:clr>
            <a:srgbClr val="FBAE40"/>
          </p15:clr>
        </p15:guide>
        <p15:guide id="4" pos="4560" userDrawn="1">
          <p15:clr>
            <a:srgbClr val="FBAE40"/>
          </p15:clr>
        </p15:guide>
        <p15:guide id="8" orient="horz" pos="1848"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hart">
    <p:bg>
      <p:bgPr>
        <a:solidFill>
          <a:schemeClr val="tx1"/>
        </a:solidFill>
        <a:effectLst/>
      </p:bgPr>
    </p:bg>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75992517-0394-6B43-B15D-2A86A34512F3}"/>
              </a:ext>
            </a:extLst>
          </p:cNvPr>
          <p:cNvSpPr>
            <a:spLocks noGrp="1"/>
          </p:cNvSpPr>
          <p:nvPr>
            <p:ph type="chart" sz="quarter" idx="10"/>
          </p:nvPr>
        </p:nvSpPr>
        <p:spPr>
          <a:xfrm>
            <a:off x="952500" y="1939108"/>
            <a:ext cx="10352810" cy="4110702"/>
          </a:xfrm>
        </p:spPr>
        <p:txBody>
          <a:bodyPr/>
          <a:lstStyle>
            <a:lvl1pPr>
              <a:defRPr>
                <a:solidFill>
                  <a:schemeClr val="tx1"/>
                </a:solidFill>
              </a:defRPr>
            </a:lvl1pPr>
          </a:lstStyle>
          <a:p>
            <a:endParaRPr lang="en-US" dirty="0"/>
          </a:p>
        </p:txBody>
      </p:sp>
      <p:sp>
        <p:nvSpPr>
          <p:cNvPr id="16" name="Title 1">
            <a:extLst>
              <a:ext uri="{FF2B5EF4-FFF2-40B4-BE49-F238E27FC236}">
                <a16:creationId xmlns:a16="http://schemas.microsoft.com/office/drawing/2014/main" id="{109B023A-F28F-184D-BA48-3F1C0502AE0A}"/>
              </a:ext>
            </a:extLst>
          </p:cNvPr>
          <p:cNvSpPr>
            <a:spLocks noGrp="1"/>
          </p:cNvSpPr>
          <p:nvPr>
            <p:ph type="title"/>
          </p:nvPr>
        </p:nvSpPr>
        <p:spPr>
          <a:xfrm>
            <a:off x="964023" y="879063"/>
            <a:ext cx="4941477" cy="610863"/>
          </a:xfrm>
          <a:prstGeom prst="rect">
            <a:avLst/>
          </a:prstGeom>
        </p:spPr>
        <p:txBody>
          <a:bodyPr lIns="0" tIns="0" rIns="0" bIns="0" anchor="b" anchorCtr="0">
            <a:normAutofit/>
          </a:bodyPr>
          <a:lstStyle>
            <a:lvl1pPr>
              <a:defRPr sz="4400" b="1" i="0">
                <a:solidFill>
                  <a:schemeClr val="bg1"/>
                </a:solidFill>
                <a:latin typeface="+mj-lt"/>
              </a:defRPr>
            </a:lvl1pPr>
          </a:lstStyle>
          <a:p>
            <a:r>
              <a:rPr lang="en-US" dirty="0"/>
              <a:t>Click to edit </a:t>
            </a:r>
          </a:p>
        </p:txBody>
      </p:sp>
      <p:sp>
        <p:nvSpPr>
          <p:cNvPr id="4" name="Footer Placeholder 3">
            <a:extLst>
              <a:ext uri="{FF2B5EF4-FFF2-40B4-BE49-F238E27FC236}">
                <a16:creationId xmlns:a16="http://schemas.microsoft.com/office/drawing/2014/main" id="{D1578EA5-216B-41F7-80D1-9ED07FFDB66F}"/>
              </a:ext>
            </a:extLst>
          </p:cNvPr>
          <p:cNvSpPr>
            <a:spLocks noGrp="1"/>
          </p:cNvSpPr>
          <p:nvPr>
            <p:ph type="ftr" sz="quarter" idx="12"/>
          </p:nvPr>
        </p:nvSpPr>
        <p:spPr/>
        <p:txBody>
          <a:bodyPr/>
          <a:lstStyle/>
          <a:p>
            <a:r>
              <a:rPr lang="en-US"/>
              <a:t>DevIC Paper ID-414</a:t>
            </a:r>
            <a:endParaRPr lang="en-US" b="0" dirty="0"/>
          </a:p>
        </p:txBody>
      </p:sp>
      <p:sp>
        <p:nvSpPr>
          <p:cNvPr id="5" name="Slide Number Placeholder 4">
            <a:extLst>
              <a:ext uri="{FF2B5EF4-FFF2-40B4-BE49-F238E27FC236}">
                <a16:creationId xmlns:a16="http://schemas.microsoft.com/office/drawing/2014/main" id="{C772CC63-C628-4456-9B92-DA4E670BAC0D}"/>
              </a:ext>
            </a:extLst>
          </p:cNvPr>
          <p:cNvSpPr>
            <a:spLocks noGrp="1"/>
          </p:cNvSpPr>
          <p:nvPr>
            <p:ph type="sldNum" sz="quarter" idx="13"/>
          </p:nvPr>
        </p:nvSpPr>
        <p:spPr/>
        <p:txBody>
          <a:bodyPr/>
          <a:lstStyle/>
          <a:p>
            <a:fld id="{294A09A9-5501-47C1-A89A-A340965A2BE2}" type="slidenum">
              <a:rPr lang="en-US" smtClean="0"/>
              <a:pPr/>
              <a:t>‹#›</a:t>
            </a:fld>
            <a:endParaRPr lang="en-US" dirty="0">
              <a:latin typeface="+mn-lt"/>
            </a:endParaRPr>
          </a:p>
        </p:txBody>
      </p:sp>
    </p:spTree>
    <p:extLst>
      <p:ext uri="{BB962C8B-B14F-4D97-AF65-F5344CB8AC3E}">
        <p14:creationId xmlns:p14="http://schemas.microsoft.com/office/powerpoint/2010/main" val="2065862895"/>
      </p:ext>
    </p:extLst>
  </p:cSld>
  <p:clrMapOvr>
    <a:masterClrMapping/>
  </p:clrMapOvr>
  <p:extLst>
    <p:ext uri="{DCECCB84-F9BA-43D5-87BE-67443E8EF086}">
      <p15:sldGuideLst xmlns:p15="http://schemas.microsoft.com/office/powerpoint/2012/main">
        <p15:guide id="1" pos="600">
          <p15:clr>
            <a:srgbClr val="FBAE40"/>
          </p15:clr>
        </p15:guide>
        <p15:guide id="2" pos="7080" userDrawn="1">
          <p15:clr>
            <a:srgbClr val="FBAE40"/>
          </p15:clr>
        </p15:guide>
        <p15:guide id="3" pos="2880" userDrawn="1">
          <p15:clr>
            <a:srgbClr val="FBAE40"/>
          </p15:clr>
        </p15:guide>
        <p15:guide id="4" pos="5160" userDrawn="1">
          <p15:clr>
            <a:srgbClr val="FBAE40"/>
          </p15:clr>
        </p15:guide>
        <p15:guide id="5" pos="2520" userDrawn="1">
          <p15:clr>
            <a:srgbClr val="FBAE40"/>
          </p15:clr>
        </p15:guide>
        <p15:guide id="6" pos="4800" userDrawn="1">
          <p15:clr>
            <a:srgbClr val="FBAE40"/>
          </p15:clr>
        </p15:guide>
        <p15:guide id="7" orient="horz" pos="1224" userDrawn="1">
          <p15:clr>
            <a:srgbClr val="FBAE40"/>
          </p15:clr>
        </p15:guide>
        <p15:guide id="8" orient="horz" pos="1392" userDrawn="1">
          <p15:clr>
            <a:srgbClr val="FBAE40"/>
          </p15:clr>
        </p15:guide>
        <p15:guide id="10" orient="horz" pos="552"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able">
    <p:bg>
      <p:bgPr>
        <a:solidFill>
          <a:schemeClr val="tx1"/>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109B023A-F28F-184D-BA48-3F1C0502AE0A}"/>
              </a:ext>
            </a:extLst>
          </p:cNvPr>
          <p:cNvSpPr>
            <a:spLocks noGrp="1"/>
          </p:cNvSpPr>
          <p:nvPr>
            <p:ph type="title"/>
          </p:nvPr>
        </p:nvSpPr>
        <p:spPr>
          <a:xfrm>
            <a:off x="964023" y="879063"/>
            <a:ext cx="4941477" cy="610863"/>
          </a:xfrm>
          <a:prstGeom prst="rect">
            <a:avLst/>
          </a:prstGeom>
        </p:spPr>
        <p:txBody>
          <a:bodyPr lIns="0" tIns="0" rIns="0" bIns="0" anchor="b" anchorCtr="0">
            <a:normAutofit/>
          </a:bodyPr>
          <a:lstStyle>
            <a:lvl1pPr>
              <a:defRPr sz="4400" b="1" i="0">
                <a:solidFill>
                  <a:schemeClr val="bg1"/>
                </a:solidFill>
                <a:latin typeface="+mj-lt"/>
              </a:defRPr>
            </a:lvl1pPr>
          </a:lstStyle>
          <a:p>
            <a:r>
              <a:rPr lang="en-US" dirty="0"/>
              <a:t>Click to edit </a:t>
            </a:r>
          </a:p>
        </p:txBody>
      </p:sp>
      <p:sp>
        <p:nvSpPr>
          <p:cNvPr id="9" name="Table Placeholder 2">
            <a:extLst>
              <a:ext uri="{FF2B5EF4-FFF2-40B4-BE49-F238E27FC236}">
                <a16:creationId xmlns:a16="http://schemas.microsoft.com/office/drawing/2014/main" id="{1506B022-475A-6647-98FF-D5C319A0C7C4}"/>
              </a:ext>
            </a:extLst>
          </p:cNvPr>
          <p:cNvSpPr>
            <a:spLocks noGrp="1"/>
          </p:cNvSpPr>
          <p:nvPr>
            <p:ph type="tbl" sz="quarter" idx="10"/>
          </p:nvPr>
        </p:nvSpPr>
        <p:spPr>
          <a:xfrm>
            <a:off x="952500" y="2209800"/>
            <a:ext cx="10287000" cy="2593109"/>
          </a:xfrm>
        </p:spPr>
        <p:txBody>
          <a:bodyPr/>
          <a:lstStyle/>
          <a:p>
            <a:endParaRPr lang="en-US" dirty="0"/>
          </a:p>
        </p:txBody>
      </p:sp>
      <p:sp>
        <p:nvSpPr>
          <p:cNvPr id="4" name="Footer Placeholder 3">
            <a:extLst>
              <a:ext uri="{FF2B5EF4-FFF2-40B4-BE49-F238E27FC236}">
                <a16:creationId xmlns:a16="http://schemas.microsoft.com/office/drawing/2014/main" id="{DB42D896-6ACC-40D7-8D8B-F9AF3E7DE1A1}"/>
              </a:ext>
            </a:extLst>
          </p:cNvPr>
          <p:cNvSpPr>
            <a:spLocks noGrp="1"/>
          </p:cNvSpPr>
          <p:nvPr>
            <p:ph type="ftr" sz="quarter" idx="12"/>
          </p:nvPr>
        </p:nvSpPr>
        <p:spPr/>
        <p:txBody>
          <a:bodyPr/>
          <a:lstStyle/>
          <a:p>
            <a:r>
              <a:rPr lang="en-US"/>
              <a:t>DevIC Paper ID-414</a:t>
            </a:r>
            <a:endParaRPr lang="en-US" b="0" dirty="0"/>
          </a:p>
        </p:txBody>
      </p:sp>
      <p:sp>
        <p:nvSpPr>
          <p:cNvPr id="5" name="Slide Number Placeholder 4">
            <a:extLst>
              <a:ext uri="{FF2B5EF4-FFF2-40B4-BE49-F238E27FC236}">
                <a16:creationId xmlns:a16="http://schemas.microsoft.com/office/drawing/2014/main" id="{E69F7A1E-B7E2-4E9C-A66C-BCE08900C5F1}"/>
              </a:ext>
            </a:extLst>
          </p:cNvPr>
          <p:cNvSpPr>
            <a:spLocks noGrp="1"/>
          </p:cNvSpPr>
          <p:nvPr>
            <p:ph type="sldNum" sz="quarter" idx="13"/>
          </p:nvPr>
        </p:nvSpPr>
        <p:spPr/>
        <p:txBody>
          <a:bodyPr/>
          <a:lstStyle/>
          <a:p>
            <a:fld id="{294A09A9-5501-47C1-A89A-A340965A2BE2}" type="slidenum">
              <a:rPr lang="en-US" smtClean="0"/>
              <a:pPr/>
              <a:t>‹#›</a:t>
            </a:fld>
            <a:endParaRPr lang="en-US" dirty="0">
              <a:latin typeface="+mn-lt"/>
            </a:endParaRPr>
          </a:p>
        </p:txBody>
      </p:sp>
    </p:spTree>
    <p:extLst>
      <p:ext uri="{BB962C8B-B14F-4D97-AF65-F5344CB8AC3E}">
        <p14:creationId xmlns:p14="http://schemas.microsoft.com/office/powerpoint/2010/main" val="3401310734"/>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tx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A5C37098-CEB2-1E45-989B-3DD92F3B1A30}"/>
              </a:ext>
            </a:extLst>
          </p:cNvPr>
          <p:cNvSpPr>
            <a:spLocks noGrp="1"/>
          </p:cNvSpPr>
          <p:nvPr>
            <p:ph type="title"/>
          </p:nvPr>
        </p:nvSpPr>
        <p:spPr>
          <a:xfrm>
            <a:off x="964022" y="2476500"/>
            <a:ext cx="7132320" cy="3289971"/>
          </a:xfrm>
          <a:prstGeom prst="rect">
            <a:avLst/>
          </a:prstGeom>
          <a:ln>
            <a:noFill/>
          </a:ln>
        </p:spPr>
        <p:txBody>
          <a:bodyPr lIns="0" tIns="0" rIns="0" bIns="0" anchor="t" anchorCtr="0">
            <a:normAutofit/>
          </a:bodyPr>
          <a:lstStyle>
            <a:lvl1pPr>
              <a:lnSpc>
                <a:spcPct val="100000"/>
              </a:lnSpc>
              <a:defRPr sz="2800" b="0" i="0">
                <a:solidFill>
                  <a:schemeClr val="bg1"/>
                </a:solidFill>
                <a:latin typeface="+mn-lt"/>
              </a:defRPr>
            </a:lvl1pPr>
          </a:lstStyle>
          <a:p>
            <a:r>
              <a:rPr lang="en-US" dirty="0"/>
              <a:t>Click to edit</a:t>
            </a:r>
          </a:p>
        </p:txBody>
      </p:sp>
      <p:sp>
        <p:nvSpPr>
          <p:cNvPr id="10" name="TextBox 9">
            <a:extLst>
              <a:ext uri="{FF2B5EF4-FFF2-40B4-BE49-F238E27FC236}">
                <a16:creationId xmlns:a16="http://schemas.microsoft.com/office/drawing/2014/main" id="{E902327D-DBD4-7A4E-ABF2-A946A559A8AD}"/>
              </a:ext>
            </a:extLst>
          </p:cNvPr>
          <p:cNvSpPr txBox="1"/>
          <p:nvPr userDrawn="1"/>
        </p:nvSpPr>
        <p:spPr>
          <a:xfrm>
            <a:off x="699948" y="548291"/>
            <a:ext cx="1589372" cy="3170099"/>
          </a:xfrm>
          <a:prstGeom prst="rect">
            <a:avLst/>
          </a:prstGeom>
          <a:noFill/>
        </p:spPr>
        <p:txBody>
          <a:bodyPr wrap="square" rtlCol="0">
            <a:spAutoFit/>
          </a:bodyPr>
          <a:lstStyle/>
          <a:p>
            <a:r>
              <a:rPr lang="en-US" sz="20000" b="1" dirty="0">
                <a:solidFill>
                  <a:schemeClr val="bg1"/>
                </a:solidFill>
              </a:rPr>
              <a:t>“</a:t>
            </a:r>
          </a:p>
        </p:txBody>
      </p:sp>
      <p:grpSp>
        <p:nvGrpSpPr>
          <p:cNvPr id="18" name="Group 17">
            <a:extLst>
              <a:ext uri="{FF2B5EF4-FFF2-40B4-BE49-F238E27FC236}">
                <a16:creationId xmlns:a16="http://schemas.microsoft.com/office/drawing/2014/main" id="{6ACB4ADD-D9F4-984E-B29D-A2CF6D19E810}"/>
              </a:ext>
            </a:extLst>
          </p:cNvPr>
          <p:cNvGrpSpPr/>
          <p:nvPr userDrawn="1"/>
        </p:nvGrpSpPr>
        <p:grpSpPr>
          <a:xfrm>
            <a:off x="6362700" y="0"/>
            <a:ext cx="5829298" cy="3235602"/>
            <a:chOff x="5612972" y="1"/>
            <a:chExt cx="6615961" cy="3672246"/>
          </a:xfrm>
        </p:grpSpPr>
        <p:sp>
          <p:nvSpPr>
            <p:cNvPr id="19" name="AutoShape 24">
              <a:extLst>
                <a:ext uri="{FF2B5EF4-FFF2-40B4-BE49-F238E27FC236}">
                  <a16:creationId xmlns:a16="http://schemas.microsoft.com/office/drawing/2014/main" id="{5017C477-A988-7041-8A67-3D8294D6AD7C}"/>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0" name="Freeform 19">
              <a:extLst>
                <a:ext uri="{FF2B5EF4-FFF2-40B4-BE49-F238E27FC236}">
                  <a16:creationId xmlns:a16="http://schemas.microsoft.com/office/drawing/2014/main" id="{206D7F37-5DD1-A24E-9CCA-84B2A168554D}"/>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1" name="Freeform 20">
              <a:extLst>
                <a:ext uri="{FF2B5EF4-FFF2-40B4-BE49-F238E27FC236}">
                  <a16:creationId xmlns:a16="http://schemas.microsoft.com/office/drawing/2014/main" id="{A6E321C8-096C-1B41-B14F-4CA7AE04BB16}"/>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2" name="Freeform 21">
              <a:extLst>
                <a:ext uri="{FF2B5EF4-FFF2-40B4-BE49-F238E27FC236}">
                  <a16:creationId xmlns:a16="http://schemas.microsoft.com/office/drawing/2014/main" id="{32B3FDD4-EB13-F44F-99D0-BFAB06F00B3A}"/>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anchor="t" anchorCtr="0" upright="1">
              <a:noAutofit/>
            </a:bodyPr>
            <a:lstStyle/>
            <a:p>
              <a:endParaRPr lang="en-US" dirty="0"/>
            </a:p>
          </p:txBody>
        </p:sp>
        <p:sp>
          <p:nvSpPr>
            <p:cNvPr id="23" name="Freeform 22">
              <a:extLst>
                <a:ext uri="{FF2B5EF4-FFF2-40B4-BE49-F238E27FC236}">
                  <a16:creationId xmlns:a16="http://schemas.microsoft.com/office/drawing/2014/main" id="{A20BCBD2-A735-0C43-8C55-B384372AC62C}"/>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grpSp>
        <p:nvGrpSpPr>
          <p:cNvPr id="24" name="Group 23">
            <a:extLst>
              <a:ext uri="{FF2B5EF4-FFF2-40B4-BE49-F238E27FC236}">
                <a16:creationId xmlns:a16="http://schemas.microsoft.com/office/drawing/2014/main" id="{669A90A7-BF26-684E-8C8B-638053DA1234}"/>
              </a:ext>
            </a:extLst>
          </p:cNvPr>
          <p:cNvGrpSpPr>
            <a:grpSpLocks/>
          </p:cNvGrpSpPr>
          <p:nvPr userDrawn="1"/>
        </p:nvGrpSpPr>
        <p:grpSpPr bwMode="auto">
          <a:xfrm rot="16200000" flipV="1">
            <a:off x="0" y="3900132"/>
            <a:ext cx="2959226" cy="2959226"/>
            <a:chOff x="0" y="12289"/>
            <a:chExt cx="3550" cy="3551"/>
          </a:xfrm>
        </p:grpSpPr>
        <p:sp>
          <p:nvSpPr>
            <p:cNvPr id="25" name="Freeform 24">
              <a:extLst>
                <a:ext uri="{FF2B5EF4-FFF2-40B4-BE49-F238E27FC236}">
                  <a16:creationId xmlns:a16="http://schemas.microsoft.com/office/drawing/2014/main" id="{861D8E86-886A-8744-BC4C-FE82B02438F1}"/>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6" name="Freeform 25">
              <a:extLst>
                <a:ext uri="{FF2B5EF4-FFF2-40B4-BE49-F238E27FC236}">
                  <a16:creationId xmlns:a16="http://schemas.microsoft.com/office/drawing/2014/main" id="{2D967470-E96E-8843-AAD2-E0C8B807793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7" name="Freeform 26">
              <a:extLst>
                <a:ext uri="{FF2B5EF4-FFF2-40B4-BE49-F238E27FC236}">
                  <a16:creationId xmlns:a16="http://schemas.microsoft.com/office/drawing/2014/main" id="{C8A27D09-765D-3949-BCCA-238C3514D4CF}"/>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Tree>
    <p:extLst>
      <p:ext uri="{BB962C8B-B14F-4D97-AF65-F5344CB8AC3E}">
        <p14:creationId xmlns:p14="http://schemas.microsoft.com/office/powerpoint/2010/main" val="144782921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userDrawn="1">
          <p15:clr>
            <a:srgbClr val="FBAE40"/>
          </p15:clr>
        </p15:guide>
        <p15:guide id="3" pos="2880" userDrawn="1">
          <p15:clr>
            <a:srgbClr val="FBAE40"/>
          </p15:clr>
        </p15:guide>
        <p15:guide id="4" pos="5160" userDrawn="1">
          <p15:clr>
            <a:srgbClr val="FBAE40"/>
          </p15:clr>
        </p15:guide>
        <p15:guide id="5" pos="2520" userDrawn="1">
          <p15:clr>
            <a:srgbClr val="FBAE40"/>
          </p15:clr>
        </p15:guide>
        <p15:guide id="6" pos="4800" userDrawn="1">
          <p15:clr>
            <a:srgbClr val="FBAE40"/>
          </p15:clr>
        </p15:guide>
        <p15:guide id="7" orient="horz" pos="1560">
          <p15:clr>
            <a:srgbClr val="FBAE40"/>
          </p15:clr>
        </p15:guide>
        <p15:guide id="8" orient="horz" pos="1752" userDrawn="1">
          <p15:clr>
            <a:srgbClr val="FBAE40"/>
          </p15:clr>
        </p15:guide>
        <p15:guide id="9" orient="horz" pos="1248"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am">
    <p:bg>
      <p:bgPr>
        <a:solidFill>
          <a:schemeClr val="tx1"/>
        </a:solidFill>
        <a:effectLst/>
      </p:bgPr>
    </p:bg>
    <p:spTree>
      <p:nvGrpSpPr>
        <p:cNvPr id="1" name=""/>
        <p:cNvGrpSpPr/>
        <p:nvPr/>
      </p:nvGrpSpPr>
      <p:grpSpPr>
        <a:xfrm>
          <a:off x="0" y="0"/>
          <a:ext cx="0" cy="0"/>
          <a:chOff x="0" y="0"/>
          <a:chExt cx="0" cy="0"/>
        </a:xfrm>
      </p:grpSpPr>
      <p:grpSp>
        <p:nvGrpSpPr>
          <p:cNvPr id="25" name="Group 24">
            <a:extLst>
              <a:ext uri="{FF2B5EF4-FFF2-40B4-BE49-F238E27FC236}">
                <a16:creationId xmlns:a16="http://schemas.microsoft.com/office/drawing/2014/main" id="{A7D9F21A-75CF-6045-8FA1-C4F4E21B699C}"/>
              </a:ext>
            </a:extLst>
          </p:cNvPr>
          <p:cNvGrpSpPr>
            <a:grpSpLocks/>
          </p:cNvGrpSpPr>
          <p:nvPr userDrawn="1"/>
        </p:nvGrpSpPr>
        <p:grpSpPr bwMode="auto">
          <a:xfrm rot="16200000" flipV="1">
            <a:off x="0" y="3900132"/>
            <a:ext cx="2959226" cy="2959226"/>
            <a:chOff x="0" y="12289"/>
            <a:chExt cx="3550" cy="3551"/>
          </a:xfrm>
        </p:grpSpPr>
        <p:sp>
          <p:nvSpPr>
            <p:cNvPr id="26" name="Freeform 25">
              <a:extLst>
                <a:ext uri="{FF2B5EF4-FFF2-40B4-BE49-F238E27FC236}">
                  <a16:creationId xmlns:a16="http://schemas.microsoft.com/office/drawing/2014/main" id="{AEA7E377-BB07-FA43-B532-10A92EE030B0}"/>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7" name="Freeform 26">
              <a:extLst>
                <a:ext uri="{FF2B5EF4-FFF2-40B4-BE49-F238E27FC236}">
                  <a16:creationId xmlns:a16="http://schemas.microsoft.com/office/drawing/2014/main" id="{F18DE645-B3D5-2F4E-AAD6-002FEF13A310}"/>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36" name="Freeform 35">
              <a:extLst>
                <a:ext uri="{FF2B5EF4-FFF2-40B4-BE49-F238E27FC236}">
                  <a16:creationId xmlns:a16="http://schemas.microsoft.com/office/drawing/2014/main" id="{B90F6499-BA50-2340-A026-32C79B6BFAF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38" name="Picture Placeholder 25">
            <a:extLst>
              <a:ext uri="{FF2B5EF4-FFF2-40B4-BE49-F238E27FC236}">
                <a16:creationId xmlns:a16="http://schemas.microsoft.com/office/drawing/2014/main" id="{2274C164-503B-E746-A155-849A9BC2406E}"/>
              </a:ext>
            </a:extLst>
          </p:cNvPr>
          <p:cNvSpPr>
            <a:spLocks noGrp="1"/>
          </p:cNvSpPr>
          <p:nvPr>
            <p:ph type="pic" sz="quarter" idx="18"/>
          </p:nvPr>
        </p:nvSpPr>
        <p:spPr>
          <a:xfrm>
            <a:off x="954268" y="2572883"/>
            <a:ext cx="2118245" cy="2037217"/>
          </a:xfrm>
          <a:prstGeom prst="rect">
            <a:avLst/>
          </a:prstGeom>
        </p:spPr>
        <p:txBody>
          <a:bodyPr/>
          <a:lstStyle/>
          <a:p>
            <a:r>
              <a:rPr lang="en-US" dirty="0"/>
              <a:t>Click icon to add picture</a:t>
            </a:r>
          </a:p>
        </p:txBody>
      </p:sp>
      <p:sp>
        <p:nvSpPr>
          <p:cNvPr id="61" name="Title 1">
            <a:extLst>
              <a:ext uri="{FF2B5EF4-FFF2-40B4-BE49-F238E27FC236}">
                <a16:creationId xmlns:a16="http://schemas.microsoft.com/office/drawing/2014/main" id="{E2F20AFE-B282-5146-B0D6-F2FC1B6D303E}"/>
              </a:ext>
            </a:extLst>
          </p:cNvPr>
          <p:cNvSpPr>
            <a:spLocks noGrp="1"/>
          </p:cNvSpPr>
          <p:nvPr>
            <p:ph type="title"/>
          </p:nvPr>
        </p:nvSpPr>
        <p:spPr>
          <a:xfrm>
            <a:off x="964022" y="879063"/>
            <a:ext cx="7532277" cy="610863"/>
          </a:xfrm>
          <a:prstGeom prst="rect">
            <a:avLst/>
          </a:prstGeom>
        </p:spPr>
        <p:txBody>
          <a:bodyPr lIns="0" tIns="0" rIns="0" bIns="0" anchor="b" anchorCtr="0">
            <a:normAutofit/>
          </a:bodyPr>
          <a:lstStyle>
            <a:lvl1pPr>
              <a:defRPr sz="4400" b="1" i="0">
                <a:solidFill>
                  <a:schemeClr val="bg1"/>
                </a:solidFill>
                <a:latin typeface="+mj-lt"/>
              </a:defRPr>
            </a:lvl1pPr>
          </a:lstStyle>
          <a:p>
            <a:r>
              <a:rPr lang="en-US" dirty="0"/>
              <a:t>Click to edit </a:t>
            </a:r>
          </a:p>
        </p:txBody>
      </p:sp>
      <p:cxnSp>
        <p:nvCxnSpPr>
          <p:cNvPr id="62" name="Straight Connector 61">
            <a:extLst>
              <a:ext uri="{FF2B5EF4-FFF2-40B4-BE49-F238E27FC236}">
                <a16:creationId xmlns:a16="http://schemas.microsoft.com/office/drawing/2014/main" id="{F777D2F0-DE3F-8343-B97A-E7FA440532FD}"/>
              </a:ext>
            </a:extLst>
          </p:cNvPr>
          <p:cNvCxnSpPr>
            <a:cxnSpLocks/>
          </p:cNvCxnSpPr>
          <p:nvPr userDrawn="1"/>
        </p:nvCxnSpPr>
        <p:spPr>
          <a:xfrm>
            <a:off x="952500" y="1939108"/>
            <a:ext cx="2133600" cy="0"/>
          </a:xfrm>
          <a:prstGeom prst="line">
            <a:avLst/>
          </a:prstGeom>
          <a:ln w="101600">
            <a:solidFill>
              <a:schemeClr val="tx1"/>
            </a:solidFill>
          </a:ln>
        </p:spPr>
        <p:style>
          <a:lnRef idx="1">
            <a:schemeClr val="dk1"/>
          </a:lnRef>
          <a:fillRef idx="0">
            <a:schemeClr val="dk1"/>
          </a:fillRef>
          <a:effectRef idx="0">
            <a:schemeClr val="dk1"/>
          </a:effectRef>
          <a:fontRef idx="minor">
            <a:schemeClr val="tx1"/>
          </a:fontRef>
        </p:style>
      </p:cxnSp>
      <p:sp>
        <p:nvSpPr>
          <p:cNvPr id="63" name="Picture Placeholder 25">
            <a:extLst>
              <a:ext uri="{FF2B5EF4-FFF2-40B4-BE49-F238E27FC236}">
                <a16:creationId xmlns:a16="http://schemas.microsoft.com/office/drawing/2014/main" id="{AF1B5ED8-33F6-FB44-AA92-F0D227BB310C}"/>
              </a:ext>
            </a:extLst>
          </p:cNvPr>
          <p:cNvSpPr>
            <a:spLocks noGrp="1"/>
          </p:cNvSpPr>
          <p:nvPr>
            <p:ph type="pic" sz="quarter" idx="24"/>
          </p:nvPr>
        </p:nvSpPr>
        <p:spPr>
          <a:xfrm>
            <a:off x="3658280" y="2572883"/>
            <a:ext cx="2118245" cy="2037217"/>
          </a:xfrm>
          <a:prstGeom prst="rect">
            <a:avLst/>
          </a:prstGeom>
        </p:spPr>
        <p:txBody>
          <a:bodyPr/>
          <a:lstStyle/>
          <a:p>
            <a:r>
              <a:rPr lang="en-US" dirty="0"/>
              <a:t>Click icon to add picture</a:t>
            </a:r>
          </a:p>
        </p:txBody>
      </p:sp>
      <p:sp>
        <p:nvSpPr>
          <p:cNvPr id="72" name="Text Placeholder 29">
            <a:extLst>
              <a:ext uri="{FF2B5EF4-FFF2-40B4-BE49-F238E27FC236}">
                <a16:creationId xmlns:a16="http://schemas.microsoft.com/office/drawing/2014/main" id="{0D824BDD-2D23-C943-8FE9-60B7B23B5ECD}"/>
              </a:ext>
            </a:extLst>
          </p:cNvPr>
          <p:cNvSpPr>
            <a:spLocks noGrp="1"/>
          </p:cNvSpPr>
          <p:nvPr>
            <p:ph type="body" sz="quarter" idx="12"/>
          </p:nvPr>
        </p:nvSpPr>
        <p:spPr>
          <a:xfrm>
            <a:off x="952500" y="5393169"/>
            <a:ext cx="2133600" cy="369332"/>
          </a:xfrm>
        </p:spPr>
        <p:txBody>
          <a:bodyPr lIns="0" tIns="0" rIns="0" bIns="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a:r>
              <a:rPr lang="en-US" dirty="0"/>
              <a:t>Click to edit </a:t>
            </a:r>
          </a:p>
        </p:txBody>
      </p:sp>
      <p:sp>
        <p:nvSpPr>
          <p:cNvPr id="73" name="Text Placeholder 29">
            <a:extLst>
              <a:ext uri="{FF2B5EF4-FFF2-40B4-BE49-F238E27FC236}">
                <a16:creationId xmlns:a16="http://schemas.microsoft.com/office/drawing/2014/main" id="{2F3D441E-DFB1-084B-8192-C6CBECCA40B9}"/>
              </a:ext>
            </a:extLst>
          </p:cNvPr>
          <p:cNvSpPr>
            <a:spLocks noGrp="1"/>
          </p:cNvSpPr>
          <p:nvPr>
            <p:ph type="body" sz="quarter" idx="11"/>
          </p:nvPr>
        </p:nvSpPr>
        <p:spPr>
          <a:xfrm>
            <a:off x="952500" y="4986745"/>
            <a:ext cx="2133600" cy="205837"/>
          </a:xfrm>
        </p:spPr>
        <p:txBody>
          <a:bodyPr lIns="0" tIns="0" rIns="0" bIns="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a:r>
              <a:rPr lang="en-US" dirty="0"/>
              <a:t>Click to edit </a:t>
            </a:r>
          </a:p>
        </p:txBody>
      </p:sp>
      <p:sp>
        <p:nvSpPr>
          <p:cNvPr id="74" name="Text Placeholder 29">
            <a:extLst>
              <a:ext uri="{FF2B5EF4-FFF2-40B4-BE49-F238E27FC236}">
                <a16:creationId xmlns:a16="http://schemas.microsoft.com/office/drawing/2014/main" id="{25797825-E7AE-2C41-A965-E6F0D70D9747}"/>
              </a:ext>
            </a:extLst>
          </p:cNvPr>
          <p:cNvSpPr>
            <a:spLocks noGrp="1"/>
          </p:cNvSpPr>
          <p:nvPr>
            <p:ph type="body" sz="quarter" idx="13"/>
          </p:nvPr>
        </p:nvSpPr>
        <p:spPr>
          <a:xfrm>
            <a:off x="3663042" y="5393169"/>
            <a:ext cx="2128157" cy="369332"/>
          </a:xfrm>
        </p:spPr>
        <p:txBody>
          <a:bodyPr lIns="0" tIns="0" rIns="0" bIns="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a:r>
              <a:rPr lang="en-US" dirty="0"/>
              <a:t>Click to edit </a:t>
            </a:r>
          </a:p>
        </p:txBody>
      </p:sp>
      <p:sp>
        <p:nvSpPr>
          <p:cNvPr id="75" name="Text Placeholder 29">
            <a:extLst>
              <a:ext uri="{FF2B5EF4-FFF2-40B4-BE49-F238E27FC236}">
                <a16:creationId xmlns:a16="http://schemas.microsoft.com/office/drawing/2014/main" id="{63C1927C-E23B-204E-9F3A-2A67D2BF702C}"/>
              </a:ext>
            </a:extLst>
          </p:cNvPr>
          <p:cNvSpPr>
            <a:spLocks noGrp="1"/>
          </p:cNvSpPr>
          <p:nvPr>
            <p:ph type="body" sz="quarter" idx="15"/>
          </p:nvPr>
        </p:nvSpPr>
        <p:spPr>
          <a:xfrm>
            <a:off x="3663042" y="4986745"/>
            <a:ext cx="2128157" cy="205837"/>
          </a:xfrm>
        </p:spPr>
        <p:txBody>
          <a:bodyPr lIns="0" tIns="0" rIns="0" bIns="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a:r>
              <a:rPr lang="en-US" dirty="0"/>
              <a:t>Click to edit </a:t>
            </a:r>
          </a:p>
        </p:txBody>
      </p:sp>
      <p:sp>
        <p:nvSpPr>
          <p:cNvPr id="76" name="Text Placeholder 29">
            <a:extLst>
              <a:ext uri="{FF2B5EF4-FFF2-40B4-BE49-F238E27FC236}">
                <a16:creationId xmlns:a16="http://schemas.microsoft.com/office/drawing/2014/main" id="{EC81F0F5-C204-7248-A336-A655814A8A34}"/>
              </a:ext>
            </a:extLst>
          </p:cNvPr>
          <p:cNvSpPr>
            <a:spLocks noGrp="1"/>
          </p:cNvSpPr>
          <p:nvPr>
            <p:ph type="body" sz="quarter" idx="16"/>
          </p:nvPr>
        </p:nvSpPr>
        <p:spPr>
          <a:xfrm>
            <a:off x="6367054" y="5393169"/>
            <a:ext cx="2129245" cy="369332"/>
          </a:xfrm>
        </p:spPr>
        <p:txBody>
          <a:bodyPr lIns="0" tIns="0" rIns="0" bIns="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a:r>
              <a:rPr lang="en-US" dirty="0"/>
              <a:t>Click to edit </a:t>
            </a:r>
          </a:p>
        </p:txBody>
      </p:sp>
      <p:sp>
        <p:nvSpPr>
          <p:cNvPr id="77" name="Text Placeholder 29">
            <a:extLst>
              <a:ext uri="{FF2B5EF4-FFF2-40B4-BE49-F238E27FC236}">
                <a16:creationId xmlns:a16="http://schemas.microsoft.com/office/drawing/2014/main" id="{C9FEF82E-4E9C-8343-9D36-C4A00D7137CC}"/>
              </a:ext>
            </a:extLst>
          </p:cNvPr>
          <p:cNvSpPr>
            <a:spLocks noGrp="1"/>
          </p:cNvSpPr>
          <p:nvPr>
            <p:ph type="body" sz="quarter" idx="31"/>
          </p:nvPr>
        </p:nvSpPr>
        <p:spPr>
          <a:xfrm>
            <a:off x="6367054" y="4986745"/>
            <a:ext cx="2129245" cy="205837"/>
          </a:xfrm>
        </p:spPr>
        <p:txBody>
          <a:bodyPr lIns="0" tIns="0" rIns="0" bIns="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a:r>
              <a:rPr lang="en-US" dirty="0"/>
              <a:t>Click to edit </a:t>
            </a:r>
          </a:p>
        </p:txBody>
      </p:sp>
      <p:sp>
        <p:nvSpPr>
          <p:cNvPr id="78" name="Text Placeholder 29">
            <a:extLst>
              <a:ext uri="{FF2B5EF4-FFF2-40B4-BE49-F238E27FC236}">
                <a16:creationId xmlns:a16="http://schemas.microsoft.com/office/drawing/2014/main" id="{F8AF6664-A005-7A42-9AEF-C5AA5603E49D}"/>
              </a:ext>
            </a:extLst>
          </p:cNvPr>
          <p:cNvSpPr>
            <a:spLocks noGrp="1"/>
          </p:cNvSpPr>
          <p:nvPr>
            <p:ph type="body" sz="quarter" idx="19"/>
          </p:nvPr>
        </p:nvSpPr>
        <p:spPr>
          <a:xfrm>
            <a:off x="9110254" y="5393169"/>
            <a:ext cx="2129245" cy="369332"/>
          </a:xfrm>
        </p:spPr>
        <p:txBody>
          <a:bodyPr lIns="0" tIns="0" rIns="0" bIns="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a:r>
              <a:rPr lang="en-US" dirty="0"/>
              <a:t>Click to edit </a:t>
            </a:r>
          </a:p>
        </p:txBody>
      </p:sp>
      <p:sp>
        <p:nvSpPr>
          <p:cNvPr id="79" name="Text Placeholder 29">
            <a:extLst>
              <a:ext uri="{FF2B5EF4-FFF2-40B4-BE49-F238E27FC236}">
                <a16:creationId xmlns:a16="http://schemas.microsoft.com/office/drawing/2014/main" id="{5F6C1E52-E2B6-5F45-A863-5BB35ABAFCD6}"/>
              </a:ext>
            </a:extLst>
          </p:cNvPr>
          <p:cNvSpPr>
            <a:spLocks noGrp="1"/>
          </p:cNvSpPr>
          <p:nvPr>
            <p:ph type="body" sz="quarter" idx="21"/>
          </p:nvPr>
        </p:nvSpPr>
        <p:spPr>
          <a:xfrm>
            <a:off x="9110254" y="4986745"/>
            <a:ext cx="2129245" cy="205837"/>
          </a:xfrm>
        </p:spPr>
        <p:txBody>
          <a:bodyPr lIns="0" tIns="0" rIns="0" bIns="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a:r>
              <a:rPr lang="en-US" dirty="0"/>
              <a:t>Click to edit </a:t>
            </a:r>
          </a:p>
        </p:txBody>
      </p:sp>
      <p:grpSp>
        <p:nvGrpSpPr>
          <p:cNvPr id="23" name="Group 22">
            <a:extLst>
              <a:ext uri="{FF2B5EF4-FFF2-40B4-BE49-F238E27FC236}">
                <a16:creationId xmlns:a16="http://schemas.microsoft.com/office/drawing/2014/main" id="{EFD0B2D5-B3C2-D847-A220-86CB6A37E418}"/>
              </a:ext>
            </a:extLst>
          </p:cNvPr>
          <p:cNvGrpSpPr/>
          <p:nvPr userDrawn="1"/>
        </p:nvGrpSpPr>
        <p:grpSpPr>
          <a:xfrm>
            <a:off x="6362700" y="0"/>
            <a:ext cx="5829298" cy="3235602"/>
            <a:chOff x="5612972" y="1"/>
            <a:chExt cx="6615961" cy="3672246"/>
          </a:xfrm>
        </p:grpSpPr>
        <p:sp>
          <p:nvSpPr>
            <p:cNvPr id="28" name="AutoShape 24">
              <a:extLst>
                <a:ext uri="{FF2B5EF4-FFF2-40B4-BE49-F238E27FC236}">
                  <a16:creationId xmlns:a16="http://schemas.microsoft.com/office/drawing/2014/main" id="{A7FD25A4-760F-814C-915F-DD6E89CA3A40}"/>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9" name="Freeform 28">
              <a:extLst>
                <a:ext uri="{FF2B5EF4-FFF2-40B4-BE49-F238E27FC236}">
                  <a16:creationId xmlns:a16="http://schemas.microsoft.com/office/drawing/2014/main" id="{A0CC8369-E81F-D447-87D8-1AF0C58EAC07}"/>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30" name="Freeform 29">
              <a:extLst>
                <a:ext uri="{FF2B5EF4-FFF2-40B4-BE49-F238E27FC236}">
                  <a16:creationId xmlns:a16="http://schemas.microsoft.com/office/drawing/2014/main" id="{C41CA81E-EF54-D048-8775-CD4AB37A7DF6}"/>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31" name="Freeform 30">
              <a:extLst>
                <a:ext uri="{FF2B5EF4-FFF2-40B4-BE49-F238E27FC236}">
                  <a16:creationId xmlns:a16="http://schemas.microsoft.com/office/drawing/2014/main" id="{D95A4B85-923E-B641-B239-2A1999AB294B}"/>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anchor="t" anchorCtr="0" upright="1">
              <a:noAutofit/>
            </a:bodyPr>
            <a:lstStyle/>
            <a:p>
              <a:endParaRPr lang="en-US" dirty="0"/>
            </a:p>
          </p:txBody>
        </p:sp>
        <p:sp>
          <p:nvSpPr>
            <p:cNvPr id="32" name="Freeform 31">
              <a:extLst>
                <a:ext uri="{FF2B5EF4-FFF2-40B4-BE49-F238E27FC236}">
                  <a16:creationId xmlns:a16="http://schemas.microsoft.com/office/drawing/2014/main" id="{501386DC-76EB-F34E-AD0E-22957D3B38D5}"/>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66" name="Picture Placeholder 25">
            <a:extLst>
              <a:ext uri="{FF2B5EF4-FFF2-40B4-BE49-F238E27FC236}">
                <a16:creationId xmlns:a16="http://schemas.microsoft.com/office/drawing/2014/main" id="{2D21D633-C51E-E94E-BAE3-96F52F76E496}"/>
              </a:ext>
            </a:extLst>
          </p:cNvPr>
          <p:cNvSpPr>
            <a:spLocks noGrp="1"/>
          </p:cNvSpPr>
          <p:nvPr>
            <p:ph type="pic" sz="quarter" idx="27"/>
          </p:nvPr>
        </p:nvSpPr>
        <p:spPr>
          <a:xfrm>
            <a:off x="6362292" y="2572883"/>
            <a:ext cx="2118245" cy="2037217"/>
          </a:xfrm>
          <a:prstGeom prst="rect">
            <a:avLst/>
          </a:prstGeom>
        </p:spPr>
        <p:txBody>
          <a:bodyPr/>
          <a:lstStyle/>
          <a:p>
            <a:r>
              <a:rPr lang="en-US" dirty="0"/>
              <a:t>Click icon to add picture</a:t>
            </a:r>
          </a:p>
        </p:txBody>
      </p:sp>
      <p:sp>
        <p:nvSpPr>
          <p:cNvPr id="69" name="Picture Placeholder 25">
            <a:extLst>
              <a:ext uri="{FF2B5EF4-FFF2-40B4-BE49-F238E27FC236}">
                <a16:creationId xmlns:a16="http://schemas.microsoft.com/office/drawing/2014/main" id="{639EFA5A-9C69-DF4D-81B7-FA1F8CCCF934}"/>
              </a:ext>
            </a:extLst>
          </p:cNvPr>
          <p:cNvSpPr>
            <a:spLocks noGrp="1"/>
          </p:cNvSpPr>
          <p:nvPr>
            <p:ph type="pic" sz="quarter" idx="30"/>
          </p:nvPr>
        </p:nvSpPr>
        <p:spPr>
          <a:xfrm>
            <a:off x="9112023" y="2572883"/>
            <a:ext cx="2118245" cy="2037217"/>
          </a:xfrm>
          <a:prstGeom prst="rect">
            <a:avLst/>
          </a:prstGeom>
        </p:spPr>
        <p:txBody>
          <a:bodyPr/>
          <a:lstStyle/>
          <a:p>
            <a:r>
              <a:rPr lang="en-US" dirty="0"/>
              <a:t>Click icon to add picture</a:t>
            </a:r>
          </a:p>
        </p:txBody>
      </p:sp>
      <p:sp>
        <p:nvSpPr>
          <p:cNvPr id="4" name="Footer Placeholder 3">
            <a:extLst>
              <a:ext uri="{FF2B5EF4-FFF2-40B4-BE49-F238E27FC236}">
                <a16:creationId xmlns:a16="http://schemas.microsoft.com/office/drawing/2014/main" id="{7DE0184F-2619-4333-B49F-C7ACE8B2C3A6}"/>
              </a:ext>
            </a:extLst>
          </p:cNvPr>
          <p:cNvSpPr>
            <a:spLocks noGrp="1"/>
          </p:cNvSpPr>
          <p:nvPr>
            <p:ph type="ftr" sz="quarter" idx="33"/>
          </p:nvPr>
        </p:nvSpPr>
        <p:spPr/>
        <p:txBody>
          <a:bodyPr/>
          <a:lstStyle/>
          <a:p>
            <a:r>
              <a:rPr lang="en-US"/>
              <a:t>DevIC Paper ID-414</a:t>
            </a:r>
            <a:endParaRPr lang="en-US" b="0" dirty="0"/>
          </a:p>
        </p:txBody>
      </p:sp>
      <p:sp>
        <p:nvSpPr>
          <p:cNvPr id="5" name="Slide Number Placeholder 4">
            <a:extLst>
              <a:ext uri="{FF2B5EF4-FFF2-40B4-BE49-F238E27FC236}">
                <a16:creationId xmlns:a16="http://schemas.microsoft.com/office/drawing/2014/main" id="{705A1C65-B00C-4CA4-83B6-3DFA3DF96296}"/>
              </a:ext>
            </a:extLst>
          </p:cNvPr>
          <p:cNvSpPr>
            <a:spLocks noGrp="1"/>
          </p:cNvSpPr>
          <p:nvPr>
            <p:ph type="sldNum" sz="quarter" idx="34"/>
          </p:nvPr>
        </p:nvSpPr>
        <p:spPr/>
        <p:txBody>
          <a:bodyPr/>
          <a:lstStyle/>
          <a:p>
            <a:fld id="{294A09A9-5501-47C1-A89A-A340965A2BE2}" type="slidenum">
              <a:rPr lang="en-US" smtClean="0"/>
              <a:pPr/>
              <a:t>‹#›</a:t>
            </a:fld>
            <a:endParaRPr lang="en-US" dirty="0">
              <a:latin typeface="+mn-lt"/>
            </a:endParaRPr>
          </a:p>
        </p:txBody>
      </p:sp>
    </p:spTree>
    <p:extLst>
      <p:ext uri="{BB962C8B-B14F-4D97-AF65-F5344CB8AC3E}">
        <p14:creationId xmlns:p14="http://schemas.microsoft.com/office/powerpoint/2010/main" val="99636246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userDrawn="1">
          <p15:clr>
            <a:srgbClr val="FBAE40"/>
          </p15:clr>
        </p15:guide>
        <p15:guide id="3" pos="2304" userDrawn="1">
          <p15:clr>
            <a:srgbClr val="FBAE40"/>
          </p15:clr>
        </p15:guide>
        <p15:guide id="4" pos="4008" userDrawn="1">
          <p15:clr>
            <a:srgbClr val="FBAE40"/>
          </p15:clr>
        </p15:guide>
        <p15:guide id="5" pos="1944" userDrawn="1">
          <p15:clr>
            <a:srgbClr val="FBAE40"/>
          </p15:clr>
        </p15:guide>
        <p15:guide id="6" pos="3648" userDrawn="1">
          <p15:clr>
            <a:srgbClr val="FBAE40"/>
          </p15:clr>
        </p15:guide>
        <p15:guide id="7" orient="horz" pos="1392" userDrawn="1">
          <p15:clr>
            <a:srgbClr val="FBAE40"/>
          </p15:clr>
        </p15:guide>
        <p15:guide id="8" orient="horz" pos="552" userDrawn="1">
          <p15:clr>
            <a:srgbClr val="FBAE40"/>
          </p15:clr>
        </p15:guide>
        <p15:guide id="9" orient="horz" pos="1224" userDrawn="1">
          <p15:clr>
            <a:srgbClr val="FBAE40"/>
          </p15:clr>
        </p15:guide>
        <p15:guide id="10" pos="5352" userDrawn="1">
          <p15:clr>
            <a:srgbClr val="FBAE40"/>
          </p15:clr>
        </p15:guide>
        <p15:guide id="11" pos="5736" userDrawn="1">
          <p15:clr>
            <a:srgbClr val="FBAE40"/>
          </p15:clr>
        </p15:guide>
        <p15:guide id="12" orient="horz" pos="2904" userDrawn="1">
          <p15:clr>
            <a:srgbClr val="FBAE40"/>
          </p15:clr>
        </p15:guide>
        <p15:guide id="13" orient="horz" pos="1608"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meline ">
    <p:bg>
      <p:bgPr>
        <a:solidFill>
          <a:schemeClr val="tx1"/>
        </a:solidFill>
        <a:effectLst/>
      </p:bgPr>
    </p:bg>
    <p:spTree>
      <p:nvGrpSpPr>
        <p:cNvPr id="1" name=""/>
        <p:cNvGrpSpPr/>
        <p:nvPr/>
      </p:nvGrpSpPr>
      <p:grpSpPr>
        <a:xfrm>
          <a:off x="0" y="0"/>
          <a:ext cx="0" cy="0"/>
          <a:chOff x="0" y="0"/>
          <a:chExt cx="0" cy="0"/>
        </a:xfrm>
      </p:grpSpPr>
      <p:cxnSp>
        <p:nvCxnSpPr>
          <p:cNvPr id="21" name="Straight Connector 20">
            <a:extLst>
              <a:ext uri="{FF2B5EF4-FFF2-40B4-BE49-F238E27FC236}">
                <a16:creationId xmlns:a16="http://schemas.microsoft.com/office/drawing/2014/main" id="{040046AF-E5BF-854D-9986-7C3019770FE7}"/>
              </a:ext>
            </a:extLst>
          </p:cNvPr>
          <p:cNvCxnSpPr>
            <a:cxnSpLocks/>
          </p:cNvCxnSpPr>
          <p:nvPr userDrawn="1"/>
        </p:nvCxnSpPr>
        <p:spPr>
          <a:xfrm flipH="1">
            <a:off x="1045959" y="2213783"/>
            <a:ext cx="2136"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76CA14A6-0144-BC49-A8D4-C979D13258C0}"/>
              </a:ext>
            </a:extLst>
          </p:cNvPr>
          <p:cNvCxnSpPr>
            <a:cxnSpLocks/>
          </p:cNvCxnSpPr>
          <p:nvPr userDrawn="1"/>
        </p:nvCxnSpPr>
        <p:spPr>
          <a:xfrm flipH="1">
            <a:off x="6180493" y="2213783"/>
            <a:ext cx="11102"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A582FC2-A135-5743-B9C0-6AC7225B42E1}"/>
              </a:ext>
            </a:extLst>
          </p:cNvPr>
          <p:cNvCxnSpPr>
            <a:cxnSpLocks/>
          </p:cNvCxnSpPr>
          <p:nvPr userDrawn="1"/>
        </p:nvCxnSpPr>
        <p:spPr>
          <a:xfrm flipH="1">
            <a:off x="8745623" y="3904712"/>
            <a:ext cx="2136"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77C43222-5868-0247-838F-58F4F6C8EE75}"/>
              </a:ext>
            </a:extLst>
          </p:cNvPr>
          <p:cNvCxnSpPr>
            <a:cxnSpLocks/>
          </p:cNvCxnSpPr>
          <p:nvPr userDrawn="1"/>
        </p:nvCxnSpPr>
        <p:spPr>
          <a:xfrm flipH="1">
            <a:off x="3611089" y="3895941"/>
            <a:ext cx="2136"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sp>
        <p:nvSpPr>
          <p:cNvPr id="30" name="Title 1">
            <a:extLst>
              <a:ext uri="{FF2B5EF4-FFF2-40B4-BE49-F238E27FC236}">
                <a16:creationId xmlns:a16="http://schemas.microsoft.com/office/drawing/2014/main" id="{46EEE005-F78A-9D4F-B159-964376C387DD}"/>
              </a:ext>
            </a:extLst>
          </p:cNvPr>
          <p:cNvSpPr>
            <a:spLocks noGrp="1"/>
          </p:cNvSpPr>
          <p:nvPr>
            <p:ph type="title"/>
          </p:nvPr>
        </p:nvSpPr>
        <p:spPr>
          <a:xfrm>
            <a:off x="964023" y="879063"/>
            <a:ext cx="4941477" cy="610863"/>
          </a:xfrm>
          <a:prstGeom prst="rect">
            <a:avLst/>
          </a:prstGeom>
        </p:spPr>
        <p:txBody>
          <a:bodyPr lIns="0" tIns="0" rIns="0" bIns="0" anchor="b" anchorCtr="0">
            <a:normAutofit/>
          </a:bodyPr>
          <a:lstStyle>
            <a:lvl1pPr>
              <a:defRPr sz="4400" b="1" i="0">
                <a:solidFill>
                  <a:schemeClr val="bg1"/>
                </a:solidFill>
                <a:latin typeface="+mj-lt"/>
              </a:defRPr>
            </a:lvl1pPr>
          </a:lstStyle>
          <a:p>
            <a:r>
              <a:rPr lang="en-US" dirty="0"/>
              <a:t>Click to edit </a:t>
            </a:r>
          </a:p>
        </p:txBody>
      </p:sp>
      <p:sp>
        <p:nvSpPr>
          <p:cNvPr id="96" name="Text Placeholder 29">
            <a:extLst>
              <a:ext uri="{FF2B5EF4-FFF2-40B4-BE49-F238E27FC236}">
                <a16:creationId xmlns:a16="http://schemas.microsoft.com/office/drawing/2014/main" id="{FC61536F-8EA7-5A48-AF76-8B0E251BD8CB}"/>
              </a:ext>
            </a:extLst>
          </p:cNvPr>
          <p:cNvSpPr>
            <a:spLocks noGrp="1"/>
          </p:cNvSpPr>
          <p:nvPr>
            <p:ph type="body" sz="quarter" idx="12"/>
          </p:nvPr>
        </p:nvSpPr>
        <p:spPr>
          <a:xfrm>
            <a:off x="1296955" y="2934856"/>
            <a:ext cx="2133600" cy="369332"/>
          </a:xfrm>
          <a:ln>
            <a:noFill/>
          </a:ln>
        </p:spPr>
        <p:txBody>
          <a:bodyPr lIns="0" tIns="0" rIns="0" bIns="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a:r>
              <a:rPr lang="en-US" dirty="0"/>
              <a:t>Click to edit </a:t>
            </a:r>
          </a:p>
        </p:txBody>
      </p:sp>
      <p:sp>
        <p:nvSpPr>
          <p:cNvPr id="97" name="Text Placeholder 29">
            <a:extLst>
              <a:ext uri="{FF2B5EF4-FFF2-40B4-BE49-F238E27FC236}">
                <a16:creationId xmlns:a16="http://schemas.microsoft.com/office/drawing/2014/main" id="{64FFD994-BD97-ED49-8607-286ECBB1CDA3}"/>
              </a:ext>
            </a:extLst>
          </p:cNvPr>
          <p:cNvSpPr>
            <a:spLocks noGrp="1"/>
          </p:cNvSpPr>
          <p:nvPr>
            <p:ph type="body" sz="quarter" idx="11"/>
          </p:nvPr>
        </p:nvSpPr>
        <p:spPr>
          <a:xfrm>
            <a:off x="1296955" y="2568686"/>
            <a:ext cx="2133600" cy="205837"/>
          </a:xfrm>
          <a:ln>
            <a:noFill/>
          </a:ln>
        </p:spPr>
        <p:txBody>
          <a:bodyPr lIns="0" tIns="0" rIns="0" bIns="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a:r>
              <a:rPr lang="en-US" dirty="0"/>
              <a:t>Click to edit </a:t>
            </a:r>
          </a:p>
        </p:txBody>
      </p:sp>
      <p:sp>
        <p:nvSpPr>
          <p:cNvPr id="102" name="Text Placeholder 29">
            <a:extLst>
              <a:ext uri="{FF2B5EF4-FFF2-40B4-BE49-F238E27FC236}">
                <a16:creationId xmlns:a16="http://schemas.microsoft.com/office/drawing/2014/main" id="{D1ADE805-BFBC-ED47-B9CB-6CB2FF02E868}"/>
              </a:ext>
            </a:extLst>
          </p:cNvPr>
          <p:cNvSpPr>
            <a:spLocks noGrp="1"/>
          </p:cNvSpPr>
          <p:nvPr>
            <p:ph type="body" sz="quarter" idx="30"/>
          </p:nvPr>
        </p:nvSpPr>
        <p:spPr>
          <a:xfrm>
            <a:off x="3897799" y="5087328"/>
            <a:ext cx="2133600" cy="369332"/>
          </a:xfrm>
          <a:ln>
            <a:noFill/>
          </a:ln>
        </p:spPr>
        <p:txBody>
          <a:bodyPr lIns="0" tIns="0" rIns="0" bIns="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a:r>
              <a:rPr lang="en-US" dirty="0"/>
              <a:t>Click to edit </a:t>
            </a:r>
          </a:p>
        </p:txBody>
      </p:sp>
      <p:sp>
        <p:nvSpPr>
          <p:cNvPr id="103" name="Text Placeholder 29">
            <a:extLst>
              <a:ext uri="{FF2B5EF4-FFF2-40B4-BE49-F238E27FC236}">
                <a16:creationId xmlns:a16="http://schemas.microsoft.com/office/drawing/2014/main" id="{334A3589-641F-F547-891B-149579153B75}"/>
              </a:ext>
            </a:extLst>
          </p:cNvPr>
          <p:cNvSpPr>
            <a:spLocks noGrp="1"/>
          </p:cNvSpPr>
          <p:nvPr>
            <p:ph type="body" sz="quarter" idx="31"/>
          </p:nvPr>
        </p:nvSpPr>
        <p:spPr>
          <a:xfrm>
            <a:off x="3897799" y="4701908"/>
            <a:ext cx="2133600" cy="205837"/>
          </a:xfrm>
          <a:ln>
            <a:noFill/>
          </a:ln>
        </p:spPr>
        <p:txBody>
          <a:bodyPr vert="horz" lIns="0" tIns="0" rIns="0" bIns="0" rtlCol="0">
            <a:noAutofit/>
          </a:bodyPr>
          <a:lstStyle>
            <a:lvl1pPr marL="0" indent="0">
              <a:spcBef>
                <a:spcPts val="400"/>
              </a:spcBef>
              <a:buNone/>
              <a:defRPr lang="en-US" sz="1800" spc="0" baseline="0" dirty="0">
                <a:latin typeface="+mj-lt"/>
              </a:defRPr>
            </a:lvl1pPr>
            <a:lvl2pPr>
              <a:defRPr sz="4000"/>
            </a:lvl2pPr>
            <a:lvl3pPr>
              <a:defRPr sz="4000"/>
            </a:lvl3pPr>
            <a:lvl4pPr>
              <a:defRPr sz="4000"/>
            </a:lvl4pPr>
            <a:lvl5pPr>
              <a:defRPr sz="4000"/>
            </a:lvl5pPr>
          </a:lstStyle>
          <a:p>
            <a:pPr marL="0" lvl="0" indent="0">
              <a:spcBef>
                <a:spcPts val="400"/>
              </a:spcBef>
              <a:buNone/>
            </a:pPr>
            <a:r>
              <a:rPr lang="en-US" dirty="0"/>
              <a:t>Click to edit </a:t>
            </a:r>
          </a:p>
        </p:txBody>
      </p:sp>
      <p:sp>
        <p:nvSpPr>
          <p:cNvPr id="106" name="Text Placeholder 29">
            <a:extLst>
              <a:ext uri="{FF2B5EF4-FFF2-40B4-BE49-F238E27FC236}">
                <a16:creationId xmlns:a16="http://schemas.microsoft.com/office/drawing/2014/main" id="{A63F8454-D12E-A641-ABD0-8977D3F5EC05}"/>
              </a:ext>
            </a:extLst>
          </p:cNvPr>
          <p:cNvSpPr>
            <a:spLocks noGrp="1"/>
          </p:cNvSpPr>
          <p:nvPr>
            <p:ph type="body" sz="quarter" idx="32"/>
          </p:nvPr>
        </p:nvSpPr>
        <p:spPr>
          <a:xfrm>
            <a:off x="9001711" y="5087328"/>
            <a:ext cx="2133600" cy="369332"/>
          </a:xfrm>
          <a:ln>
            <a:noFill/>
          </a:ln>
        </p:spPr>
        <p:txBody>
          <a:bodyPr lIns="0" tIns="0" rIns="0" bIns="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a:r>
              <a:rPr lang="en-US" dirty="0"/>
              <a:t>Click to edit </a:t>
            </a:r>
          </a:p>
        </p:txBody>
      </p:sp>
      <p:sp>
        <p:nvSpPr>
          <p:cNvPr id="107" name="Text Placeholder 29">
            <a:extLst>
              <a:ext uri="{FF2B5EF4-FFF2-40B4-BE49-F238E27FC236}">
                <a16:creationId xmlns:a16="http://schemas.microsoft.com/office/drawing/2014/main" id="{F35AA15D-DBAD-9840-8764-A5B6D486A234}"/>
              </a:ext>
            </a:extLst>
          </p:cNvPr>
          <p:cNvSpPr>
            <a:spLocks noGrp="1"/>
          </p:cNvSpPr>
          <p:nvPr>
            <p:ph type="body" sz="quarter" idx="33"/>
          </p:nvPr>
        </p:nvSpPr>
        <p:spPr>
          <a:xfrm>
            <a:off x="9001711" y="4701908"/>
            <a:ext cx="2133600" cy="205837"/>
          </a:xfrm>
          <a:ln>
            <a:noFill/>
          </a:ln>
        </p:spPr>
        <p:txBody>
          <a:bodyPr vert="horz" lIns="0" tIns="0" rIns="0" bIns="0" rtlCol="0">
            <a:noAutofit/>
          </a:bodyPr>
          <a:lstStyle>
            <a:lvl1pPr marL="0" indent="0">
              <a:spcBef>
                <a:spcPts val="400"/>
              </a:spcBef>
              <a:buNone/>
              <a:defRPr lang="en-US" sz="1800" spc="0" baseline="0" dirty="0">
                <a:latin typeface="+mj-lt"/>
              </a:defRPr>
            </a:lvl1pPr>
            <a:lvl2pPr>
              <a:defRPr sz="4000"/>
            </a:lvl2pPr>
            <a:lvl3pPr>
              <a:defRPr sz="4000"/>
            </a:lvl3pPr>
            <a:lvl4pPr>
              <a:defRPr sz="4000"/>
            </a:lvl4pPr>
            <a:lvl5pPr>
              <a:defRPr sz="4000"/>
            </a:lvl5pPr>
          </a:lstStyle>
          <a:p>
            <a:pPr marL="0" lvl="0" indent="0">
              <a:spcBef>
                <a:spcPts val="400"/>
              </a:spcBef>
              <a:buNone/>
            </a:pPr>
            <a:r>
              <a:rPr lang="en-US" dirty="0"/>
              <a:t>Click to edit </a:t>
            </a:r>
          </a:p>
        </p:txBody>
      </p:sp>
      <p:sp>
        <p:nvSpPr>
          <p:cNvPr id="108" name="Text Placeholder 29">
            <a:extLst>
              <a:ext uri="{FF2B5EF4-FFF2-40B4-BE49-F238E27FC236}">
                <a16:creationId xmlns:a16="http://schemas.microsoft.com/office/drawing/2014/main" id="{8357CA0F-1A55-B145-8305-562F0DF22543}"/>
              </a:ext>
            </a:extLst>
          </p:cNvPr>
          <p:cNvSpPr>
            <a:spLocks noGrp="1"/>
          </p:cNvSpPr>
          <p:nvPr>
            <p:ph type="body" sz="quarter" idx="34"/>
          </p:nvPr>
        </p:nvSpPr>
        <p:spPr>
          <a:xfrm>
            <a:off x="6438143" y="2934856"/>
            <a:ext cx="2133600" cy="369332"/>
          </a:xfrm>
          <a:ln>
            <a:noFill/>
          </a:ln>
        </p:spPr>
        <p:txBody>
          <a:bodyPr lIns="0" tIns="0" rIns="0" bIns="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a:r>
              <a:rPr lang="en-US" dirty="0"/>
              <a:t>Click to edit </a:t>
            </a:r>
          </a:p>
        </p:txBody>
      </p:sp>
      <p:sp>
        <p:nvSpPr>
          <p:cNvPr id="109" name="Text Placeholder 29">
            <a:extLst>
              <a:ext uri="{FF2B5EF4-FFF2-40B4-BE49-F238E27FC236}">
                <a16:creationId xmlns:a16="http://schemas.microsoft.com/office/drawing/2014/main" id="{D6C49F6F-AF28-8942-8442-8F54A1DC388B}"/>
              </a:ext>
            </a:extLst>
          </p:cNvPr>
          <p:cNvSpPr>
            <a:spLocks noGrp="1"/>
          </p:cNvSpPr>
          <p:nvPr>
            <p:ph type="body" sz="quarter" idx="35"/>
          </p:nvPr>
        </p:nvSpPr>
        <p:spPr>
          <a:xfrm>
            <a:off x="6438143" y="2568686"/>
            <a:ext cx="2133600" cy="205837"/>
          </a:xfrm>
          <a:ln>
            <a:noFill/>
          </a:ln>
        </p:spPr>
        <p:txBody>
          <a:bodyPr lIns="0" tIns="0" rIns="0" bIns="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a:r>
              <a:rPr lang="en-US" dirty="0"/>
              <a:t>Click to edit </a:t>
            </a:r>
          </a:p>
        </p:txBody>
      </p:sp>
      <p:cxnSp>
        <p:nvCxnSpPr>
          <p:cNvPr id="8" name="Straight Connector 7">
            <a:extLst>
              <a:ext uri="{FF2B5EF4-FFF2-40B4-BE49-F238E27FC236}">
                <a16:creationId xmlns:a16="http://schemas.microsoft.com/office/drawing/2014/main" id="{4CE2724A-BCA1-604F-9D18-BF05746408C2}"/>
              </a:ext>
            </a:extLst>
          </p:cNvPr>
          <p:cNvCxnSpPr/>
          <p:nvPr userDrawn="1"/>
        </p:nvCxnSpPr>
        <p:spPr>
          <a:xfrm>
            <a:off x="967689" y="3968780"/>
            <a:ext cx="10275477" cy="0"/>
          </a:xfrm>
          <a:prstGeom prst="line">
            <a:avLst/>
          </a:prstGeom>
          <a:ln w="165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44" name="Rectangle 43">
            <a:extLst>
              <a:ext uri="{FF2B5EF4-FFF2-40B4-BE49-F238E27FC236}">
                <a16:creationId xmlns:a16="http://schemas.microsoft.com/office/drawing/2014/main" id="{4923D7D1-A9CC-C34C-86FF-43B5C8978712}"/>
              </a:ext>
            </a:extLst>
          </p:cNvPr>
          <p:cNvSpPr/>
          <p:nvPr userDrawn="1"/>
        </p:nvSpPr>
        <p:spPr>
          <a:xfrm>
            <a:off x="964323" y="3883241"/>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Rectangle 46">
            <a:extLst>
              <a:ext uri="{FF2B5EF4-FFF2-40B4-BE49-F238E27FC236}">
                <a16:creationId xmlns:a16="http://schemas.microsoft.com/office/drawing/2014/main" id="{6119FF13-13AB-3448-B24E-58E18B3CE2B6}"/>
              </a:ext>
            </a:extLst>
          </p:cNvPr>
          <p:cNvSpPr/>
          <p:nvPr userDrawn="1"/>
        </p:nvSpPr>
        <p:spPr>
          <a:xfrm>
            <a:off x="3531590" y="3892012"/>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22F8F982-870E-AE44-B0D3-B3313BC48DB7}"/>
              </a:ext>
            </a:extLst>
          </p:cNvPr>
          <p:cNvSpPr/>
          <p:nvPr userDrawn="1"/>
        </p:nvSpPr>
        <p:spPr>
          <a:xfrm>
            <a:off x="6098857" y="3883241"/>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28">
            <a:extLst>
              <a:ext uri="{FF2B5EF4-FFF2-40B4-BE49-F238E27FC236}">
                <a16:creationId xmlns:a16="http://schemas.microsoft.com/office/drawing/2014/main" id="{C549A137-DB5E-9C40-8C0A-ED607212022C}"/>
              </a:ext>
            </a:extLst>
          </p:cNvPr>
          <p:cNvSpPr/>
          <p:nvPr userDrawn="1"/>
        </p:nvSpPr>
        <p:spPr>
          <a:xfrm>
            <a:off x="8666124" y="3892012"/>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Footer Placeholder 3">
            <a:extLst>
              <a:ext uri="{FF2B5EF4-FFF2-40B4-BE49-F238E27FC236}">
                <a16:creationId xmlns:a16="http://schemas.microsoft.com/office/drawing/2014/main" id="{FF46DFD4-BF8C-4939-874D-85B7DF956768}"/>
              </a:ext>
            </a:extLst>
          </p:cNvPr>
          <p:cNvSpPr>
            <a:spLocks noGrp="1"/>
          </p:cNvSpPr>
          <p:nvPr>
            <p:ph type="ftr" sz="quarter" idx="37"/>
          </p:nvPr>
        </p:nvSpPr>
        <p:spPr/>
        <p:txBody>
          <a:bodyPr/>
          <a:lstStyle/>
          <a:p>
            <a:r>
              <a:rPr lang="en-US"/>
              <a:t>DevIC Paper ID-414</a:t>
            </a:r>
            <a:endParaRPr lang="en-US" b="0" dirty="0"/>
          </a:p>
        </p:txBody>
      </p:sp>
      <p:sp>
        <p:nvSpPr>
          <p:cNvPr id="5" name="Slide Number Placeholder 4">
            <a:extLst>
              <a:ext uri="{FF2B5EF4-FFF2-40B4-BE49-F238E27FC236}">
                <a16:creationId xmlns:a16="http://schemas.microsoft.com/office/drawing/2014/main" id="{7373856F-38E9-4BBF-93D8-0F8AC2E0E6C7}"/>
              </a:ext>
            </a:extLst>
          </p:cNvPr>
          <p:cNvSpPr>
            <a:spLocks noGrp="1"/>
          </p:cNvSpPr>
          <p:nvPr>
            <p:ph type="sldNum" sz="quarter" idx="38"/>
          </p:nvPr>
        </p:nvSpPr>
        <p:spPr/>
        <p:txBody>
          <a:bodyPr/>
          <a:lstStyle/>
          <a:p>
            <a:fld id="{294A09A9-5501-47C1-A89A-A340965A2BE2}" type="slidenum">
              <a:rPr lang="en-US" smtClean="0"/>
              <a:pPr/>
              <a:t>‹#›</a:t>
            </a:fld>
            <a:endParaRPr lang="en-US" dirty="0">
              <a:latin typeface="+mn-lt"/>
            </a:endParaRPr>
          </a:p>
        </p:txBody>
      </p:sp>
    </p:spTree>
    <p:extLst>
      <p:ext uri="{BB962C8B-B14F-4D97-AF65-F5344CB8AC3E}">
        <p14:creationId xmlns:p14="http://schemas.microsoft.com/office/powerpoint/2010/main" val="298615523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userDrawn="1">
          <p15:clr>
            <a:srgbClr val="FBAE40"/>
          </p15:clr>
        </p15:guide>
        <p15:guide id="3" pos="2880" userDrawn="1">
          <p15:clr>
            <a:srgbClr val="FBAE40"/>
          </p15:clr>
        </p15:guide>
        <p15:guide id="4" pos="5160" userDrawn="1">
          <p15:clr>
            <a:srgbClr val="FBAE40"/>
          </p15:clr>
        </p15:guide>
        <p15:guide id="5" pos="2520" userDrawn="1">
          <p15:clr>
            <a:srgbClr val="FBAE40"/>
          </p15:clr>
        </p15:guide>
        <p15:guide id="6" pos="4800" userDrawn="1">
          <p15:clr>
            <a:srgbClr val="FBAE40"/>
          </p15:clr>
        </p15:guide>
        <p15:guide id="7" orient="horz" pos="1224" userDrawn="1">
          <p15:clr>
            <a:srgbClr val="FBAE40"/>
          </p15:clr>
        </p15:guide>
        <p15:guide id="8" orient="horz" pos="3768" userDrawn="1">
          <p15:clr>
            <a:srgbClr val="FBAE40"/>
          </p15:clr>
        </p15:guide>
        <p15:guide id="9" orient="horz" pos="552" userDrawn="1">
          <p15:clr>
            <a:srgbClr val="FBAE40"/>
          </p15:clr>
        </p15:guide>
        <p15:guide id="10" orient="horz" pos="1512" userDrawn="1">
          <p15:clr>
            <a:srgbClr val="FBAE40"/>
          </p15:clr>
        </p15:guide>
        <p15:guide id="11" orient="horz" pos="2832"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 Col">
    <p:bg>
      <p:bgPr>
        <a:solidFill>
          <a:schemeClr val="tx1"/>
        </a:solidFill>
        <a:effectLst/>
      </p:bgPr>
    </p:bg>
    <p:spTree>
      <p:nvGrpSpPr>
        <p:cNvPr id="1" name=""/>
        <p:cNvGrpSpPr/>
        <p:nvPr/>
      </p:nvGrpSpPr>
      <p:grpSpPr>
        <a:xfrm>
          <a:off x="0" y="0"/>
          <a:ext cx="0" cy="0"/>
          <a:chOff x="0" y="0"/>
          <a:chExt cx="0" cy="0"/>
        </a:xfrm>
      </p:grpSpPr>
      <p:grpSp>
        <p:nvGrpSpPr>
          <p:cNvPr id="19" name="Group 18">
            <a:extLst>
              <a:ext uri="{FF2B5EF4-FFF2-40B4-BE49-F238E27FC236}">
                <a16:creationId xmlns:a16="http://schemas.microsoft.com/office/drawing/2014/main" id="{BDEF3328-825B-3946-8472-DB93D6A32867}"/>
              </a:ext>
            </a:extLst>
          </p:cNvPr>
          <p:cNvGrpSpPr>
            <a:grpSpLocks/>
          </p:cNvGrpSpPr>
          <p:nvPr userDrawn="1"/>
        </p:nvGrpSpPr>
        <p:grpSpPr bwMode="auto">
          <a:xfrm rot="16200000" flipV="1">
            <a:off x="0" y="3900132"/>
            <a:ext cx="2959226" cy="2959226"/>
            <a:chOff x="0" y="12289"/>
            <a:chExt cx="3550" cy="3551"/>
          </a:xfrm>
        </p:grpSpPr>
        <p:sp>
          <p:nvSpPr>
            <p:cNvPr id="20" name="Freeform 19">
              <a:extLst>
                <a:ext uri="{FF2B5EF4-FFF2-40B4-BE49-F238E27FC236}">
                  <a16:creationId xmlns:a16="http://schemas.microsoft.com/office/drawing/2014/main" id="{4E4E09DF-AF21-0E4A-9838-14DFBFFED7D7}"/>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1" name="Freeform 20">
              <a:extLst>
                <a:ext uri="{FF2B5EF4-FFF2-40B4-BE49-F238E27FC236}">
                  <a16:creationId xmlns:a16="http://schemas.microsoft.com/office/drawing/2014/main" id="{653F54AE-9BC1-3A45-A129-4028EADE406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2" name="Freeform 21">
              <a:extLst>
                <a:ext uri="{FF2B5EF4-FFF2-40B4-BE49-F238E27FC236}">
                  <a16:creationId xmlns:a16="http://schemas.microsoft.com/office/drawing/2014/main" id="{254F6D22-4944-974A-999E-F9E22F159523}"/>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32" name="Title 1">
            <a:extLst>
              <a:ext uri="{FF2B5EF4-FFF2-40B4-BE49-F238E27FC236}">
                <a16:creationId xmlns:a16="http://schemas.microsoft.com/office/drawing/2014/main" id="{467E05B6-B7CB-1E4F-96BA-4B8CFE8B63D9}"/>
              </a:ext>
            </a:extLst>
          </p:cNvPr>
          <p:cNvSpPr>
            <a:spLocks noGrp="1"/>
          </p:cNvSpPr>
          <p:nvPr>
            <p:ph type="title"/>
          </p:nvPr>
        </p:nvSpPr>
        <p:spPr>
          <a:xfrm>
            <a:off x="964023" y="879063"/>
            <a:ext cx="4941477" cy="610863"/>
          </a:xfrm>
          <a:prstGeom prst="rect">
            <a:avLst/>
          </a:prstGeom>
        </p:spPr>
        <p:txBody>
          <a:bodyPr lIns="0" tIns="0" rIns="0" bIns="0" anchor="b" anchorCtr="0">
            <a:normAutofit/>
          </a:bodyPr>
          <a:lstStyle>
            <a:lvl1pPr>
              <a:defRPr sz="4400" b="1" i="0">
                <a:latin typeface="+mj-lt"/>
              </a:defRPr>
            </a:lvl1pPr>
          </a:lstStyle>
          <a:p>
            <a:r>
              <a:rPr lang="en-US" dirty="0"/>
              <a:t>Click to edit </a:t>
            </a:r>
          </a:p>
        </p:txBody>
      </p:sp>
      <p:cxnSp>
        <p:nvCxnSpPr>
          <p:cNvPr id="33" name="Straight Connector 32">
            <a:extLst>
              <a:ext uri="{FF2B5EF4-FFF2-40B4-BE49-F238E27FC236}">
                <a16:creationId xmlns:a16="http://schemas.microsoft.com/office/drawing/2014/main" id="{51DEB652-BD6A-BD41-B85E-704D2C41A1C4}"/>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3" name="Text Placeholder 2">
            <a:extLst>
              <a:ext uri="{FF2B5EF4-FFF2-40B4-BE49-F238E27FC236}">
                <a16:creationId xmlns:a16="http://schemas.microsoft.com/office/drawing/2014/main" id="{A6147D10-E7D7-8F40-AF69-726398729333}"/>
              </a:ext>
            </a:extLst>
          </p:cNvPr>
          <p:cNvSpPr>
            <a:spLocks noGrp="1"/>
          </p:cNvSpPr>
          <p:nvPr>
            <p:ph type="body" idx="1"/>
          </p:nvPr>
        </p:nvSpPr>
        <p:spPr>
          <a:xfrm>
            <a:off x="964023" y="2300984"/>
            <a:ext cx="4827178" cy="404216"/>
          </a:xfrm>
          <a:prstGeom prst="rect">
            <a:avLst/>
          </a:prstGeom>
        </p:spPr>
        <p:txBody>
          <a:bodyPr lIns="0" tIns="0" rIns="0" bIns="0" anchor="t" anchorCtr="0">
            <a:normAutofit/>
          </a:bodyPr>
          <a:lstStyle>
            <a:lvl1pPr marL="0" indent="0">
              <a:buNone/>
              <a:defRPr sz="1800" b="0" i="0" spc="0" baseline="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a:t>
            </a:r>
          </a:p>
        </p:txBody>
      </p:sp>
      <p:sp>
        <p:nvSpPr>
          <p:cNvPr id="25" name="Text Placeholder 2">
            <a:extLst>
              <a:ext uri="{FF2B5EF4-FFF2-40B4-BE49-F238E27FC236}">
                <a16:creationId xmlns:a16="http://schemas.microsoft.com/office/drawing/2014/main" id="{3A0EE708-F36B-444B-9A8B-D48D69535E45}"/>
              </a:ext>
            </a:extLst>
          </p:cNvPr>
          <p:cNvSpPr>
            <a:spLocks noGrp="1"/>
          </p:cNvSpPr>
          <p:nvPr>
            <p:ph type="body" idx="10"/>
          </p:nvPr>
        </p:nvSpPr>
        <p:spPr>
          <a:xfrm>
            <a:off x="6362700" y="2300984"/>
            <a:ext cx="4764829" cy="404216"/>
          </a:xfrm>
          <a:prstGeom prst="rect">
            <a:avLst/>
          </a:prstGeom>
        </p:spPr>
        <p:txBody>
          <a:bodyPr lIns="0" tIns="0" rIns="0" bIns="0" anchor="t" anchorCtr="0">
            <a:normAutofit/>
          </a:bodyPr>
          <a:lstStyle>
            <a:lvl1pPr marL="0" indent="0">
              <a:buNone/>
              <a:defRPr sz="1800" b="0" i="0" spc="0" baseline="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a:t>
            </a:r>
          </a:p>
        </p:txBody>
      </p:sp>
      <p:sp>
        <p:nvSpPr>
          <p:cNvPr id="27" name="Content Placeholder 3">
            <a:extLst>
              <a:ext uri="{FF2B5EF4-FFF2-40B4-BE49-F238E27FC236}">
                <a16:creationId xmlns:a16="http://schemas.microsoft.com/office/drawing/2014/main" id="{E81957B7-CEA6-A446-A203-471CF9A57FFD}"/>
              </a:ext>
            </a:extLst>
          </p:cNvPr>
          <p:cNvSpPr>
            <a:spLocks noGrp="1"/>
          </p:cNvSpPr>
          <p:nvPr>
            <p:ph sz="half" idx="2"/>
          </p:nvPr>
        </p:nvSpPr>
        <p:spPr>
          <a:xfrm>
            <a:off x="964023" y="2799146"/>
            <a:ext cx="4827178" cy="1942138"/>
          </a:xfrm>
          <a:prstGeom prst="rect">
            <a:avLst/>
          </a:prstGeom>
        </p:spPr>
        <p:txBody>
          <a:bodyPr lIns="0" tIns="0" rIns="0" bIns="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a:r>
              <a:rPr lang="en-US" dirty="0"/>
              <a:t>Click to edit Master text styles</a:t>
            </a:r>
          </a:p>
        </p:txBody>
      </p:sp>
      <p:sp>
        <p:nvSpPr>
          <p:cNvPr id="28" name="Content Placeholder 3">
            <a:extLst>
              <a:ext uri="{FF2B5EF4-FFF2-40B4-BE49-F238E27FC236}">
                <a16:creationId xmlns:a16="http://schemas.microsoft.com/office/drawing/2014/main" id="{E40D4044-0F7B-0647-BAB5-16B23EBD9ECD}"/>
              </a:ext>
            </a:extLst>
          </p:cNvPr>
          <p:cNvSpPr>
            <a:spLocks noGrp="1"/>
          </p:cNvSpPr>
          <p:nvPr>
            <p:ph sz="half" idx="13"/>
          </p:nvPr>
        </p:nvSpPr>
        <p:spPr>
          <a:xfrm>
            <a:off x="6362700" y="2799146"/>
            <a:ext cx="4756241" cy="1942138"/>
          </a:xfrm>
          <a:prstGeom prst="rect">
            <a:avLst/>
          </a:prstGeom>
        </p:spPr>
        <p:txBody>
          <a:bodyPr lIns="0" tIns="0" rIns="0" bIns="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a:r>
              <a:rPr lang="en-US"/>
              <a:t>Click to edit Master text styles</a:t>
            </a:r>
          </a:p>
        </p:txBody>
      </p:sp>
      <p:cxnSp>
        <p:nvCxnSpPr>
          <p:cNvPr id="15" name="Straight Connector 14">
            <a:extLst>
              <a:ext uri="{FF2B5EF4-FFF2-40B4-BE49-F238E27FC236}">
                <a16:creationId xmlns:a16="http://schemas.microsoft.com/office/drawing/2014/main" id="{ED51C063-0222-064B-8A2E-485FE9EAC10D}"/>
              </a:ext>
            </a:extLst>
          </p:cNvPr>
          <p:cNvCxnSpPr>
            <a:cxnSpLocks/>
          </p:cNvCxnSpPr>
          <p:nvPr userDrawn="1"/>
        </p:nvCxnSpPr>
        <p:spPr>
          <a:xfrm>
            <a:off x="63627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4" name="Footer Placeholder 3">
            <a:extLst>
              <a:ext uri="{FF2B5EF4-FFF2-40B4-BE49-F238E27FC236}">
                <a16:creationId xmlns:a16="http://schemas.microsoft.com/office/drawing/2014/main" id="{D2060DA6-6E6F-47BF-9680-1B030F525DD2}"/>
              </a:ext>
            </a:extLst>
          </p:cNvPr>
          <p:cNvSpPr>
            <a:spLocks noGrp="1"/>
          </p:cNvSpPr>
          <p:nvPr>
            <p:ph type="ftr" sz="quarter" idx="15"/>
          </p:nvPr>
        </p:nvSpPr>
        <p:spPr/>
        <p:txBody>
          <a:bodyPr/>
          <a:lstStyle/>
          <a:p>
            <a:r>
              <a:rPr lang="en-US"/>
              <a:t>DevIC Paper ID-414</a:t>
            </a:r>
            <a:endParaRPr lang="en-US" b="0" dirty="0"/>
          </a:p>
        </p:txBody>
      </p:sp>
      <p:sp>
        <p:nvSpPr>
          <p:cNvPr id="5" name="Slide Number Placeholder 4">
            <a:extLst>
              <a:ext uri="{FF2B5EF4-FFF2-40B4-BE49-F238E27FC236}">
                <a16:creationId xmlns:a16="http://schemas.microsoft.com/office/drawing/2014/main" id="{FF8F140D-2B48-4E31-9E97-08B68ABBAC1E}"/>
              </a:ext>
            </a:extLst>
          </p:cNvPr>
          <p:cNvSpPr>
            <a:spLocks noGrp="1"/>
          </p:cNvSpPr>
          <p:nvPr>
            <p:ph type="sldNum" sz="quarter" idx="16"/>
          </p:nvPr>
        </p:nvSpPr>
        <p:spPr/>
        <p:txBody>
          <a:bodyPr/>
          <a:lstStyle/>
          <a:p>
            <a:fld id="{294A09A9-5501-47C1-A89A-A340965A2BE2}" type="slidenum">
              <a:rPr lang="en-US" smtClean="0"/>
              <a:pPr/>
              <a:t>‹#›</a:t>
            </a:fld>
            <a:endParaRPr lang="en-US" dirty="0">
              <a:latin typeface="+mn-lt"/>
            </a:endParaRPr>
          </a:p>
        </p:txBody>
      </p:sp>
    </p:spTree>
    <p:extLst>
      <p:ext uri="{BB962C8B-B14F-4D97-AF65-F5344CB8AC3E}">
        <p14:creationId xmlns:p14="http://schemas.microsoft.com/office/powerpoint/2010/main" val="255042539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 col">
    <p:bg>
      <p:bgPr>
        <a:solidFill>
          <a:schemeClr val="tx1"/>
        </a:solidFill>
        <a:effectLst/>
      </p:bgPr>
    </p:bg>
    <p:spTree>
      <p:nvGrpSpPr>
        <p:cNvPr id="1" name=""/>
        <p:cNvGrpSpPr/>
        <p:nvPr/>
      </p:nvGrpSpPr>
      <p:grpSpPr>
        <a:xfrm>
          <a:off x="0" y="0"/>
          <a:ext cx="0" cy="0"/>
          <a:chOff x="0" y="0"/>
          <a:chExt cx="0" cy="0"/>
        </a:xfrm>
      </p:grpSpPr>
      <p:grpSp>
        <p:nvGrpSpPr>
          <p:cNvPr id="37" name="Group 36">
            <a:extLst>
              <a:ext uri="{FF2B5EF4-FFF2-40B4-BE49-F238E27FC236}">
                <a16:creationId xmlns:a16="http://schemas.microsoft.com/office/drawing/2014/main" id="{868B08E5-2F7C-7749-8BDF-386EAF974BB0}"/>
              </a:ext>
            </a:extLst>
          </p:cNvPr>
          <p:cNvGrpSpPr>
            <a:grpSpLocks/>
          </p:cNvGrpSpPr>
          <p:nvPr userDrawn="1"/>
        </p:nvGrpSpPr>
        <p:grpSpPr bwMode="auto">
          <a:xfrm rot="16200000" flipV="1">
            <a:off x="0" y="3900132"/>
            <a:ext cx="2959226" cy="2959226"/>
            <a:chOff x="0" y="12289"/>
            <a:chExt cx="3550" cy="3551"/>
          </a:xfrm>
        </p:grpSpPr>
        <p:sp>
          <p:nvSpPr>
            <p:cNvPr id="38" name="Freeform 37">
              <a:extLst>
                <a:ext uri="{FF2B5EF4-FFF2-40B4-BE49-F238E27FC236}">
                  <a16:creationId xmlns:a16="http://schemas.microsoft.com/office/drawing/2014/main" id="{F3E300C0-0B72-9048-9E16-2166E1A88FE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39" name="Freeform 38">
              <a:extLst>
                <a:ext uri="{FF2B5EF4-FFF2-40B4-BE49-F238E27FC236}">
                  <a16:creationId xmlns:a16="http://schemas.microsoft.com/office/drawing/2014/main" id="{E4AA520D-9D51-3A42-B9B1-DF72169BC8DB}"/>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40" name="Freeform 39">
              <a:extLst>
                <a:ext uri="{FF2B5EF4-FFF2-40B4-BE49-F238E27FC236}">
                  <a16:creationId xmlns:a16="http://schemas.microsoft.com/office/drawing/2014/main" id="{D5F2735E-137C-DB47-AEF0-EFC871A32373}"/>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32" name="Title 1">
            <a:extLst>
              <a:ext uri="{FF2B5EF4-FFF2-40B4-BE49-F238E27FC236}">
                <a16:creationId xmlns:a16="http://schemas.microsoft.com/office/drawing/2014/main" id="{467E05B6-B7CB-1E4F-96BA-4B8CFE8B63D9}"/>
              </a:ext>
            </a:extLst>
          </p:cNvPr>
          <p:cNvSpPr>
            <a:spLocks noGrp="1"/>
          </p:cNvSpPr>
          <p:nvPr>
            <p:ph type="title"/>
          </p:nvPr>
        </p:nvSpPr>
        <p:spPr>
          <a:xfrm>
            <a:off x="964023" y="879063"/>
            <a:ext cx="4941477" cy="610863"/>
          </a:xfrm>
          <a:prstGeom prst="rect">
            <a:avLst/>
          </a:prstGeom>
        </p:spPr>
        <p:txBody>
          <a:bodyPr lIns="0" tIns="0" rIns="0" bIns="0" anchor="b" anchorCtr="0">
            <a:normAutofit/>
          </a:bodyPr>
          <a:lstStyle>
            <a:lvl1pPr>
              <a:defRPr sz="4400" b="1" i="0">
                <a:latin typeface="+mj-lt"/>
              </a:defRPr>
            </a:lvl1pPr>
          </a:lstStyle>
          <a:p>
            <a:r>
              <a:rPr lang="en-US" dirty="0"/>
              <a:t>Click to edit </a:t>
            </a:r>
          </a:p>
        </p:txBody>
      </p:sp>
      <p:cxnSp>
        <p:nvCxnSpPr>
          <p:cNvPr id="33" name="Straight Connector 32">
            <a:extLst>
              <a:ext uri="{FF2B5EF4-FFF2-40B4-BE49-F238E27FC236}">
                <a16:creationId xmlns:a16="http://schemas.microsoft.com/office/drawing/2014/main" id="{51DEB652-BD6A-BD41-B85E-704D2C41A1C4}"/>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3" name="Text Placeholder 2">
            <a:extLst>
              <a:ext uri="{FF2B5EF4-FFF2-40B4-BE49-F238E27FC236}">
                <a16:creationId xmlns:a16="http://schemas.microsoft.com/office/drawing/2014/main" id="{A6147D10-E7D7-8F40-AF69-726398729333}"/>
              </a:ext>
            </a:extLst>
          </p:cNvPr>
          <p:cNvSpPr>
            <a:spLocks noGrp="1"/>
          </p:cNvSpPr>
          <p:nvPr>
            <p:ph type="body" idx="1"/>
          </p:nvPr>
        </p:nvSpPr>
        <p:spPr>
          <a:xfrm>
            <a:off x="952500" y="2300156"/>
            <a:ext cx="3036477" cy="404216"/>
          </a:xfrm>
          <a:prstGeom prst="rect">
            <a:avLst/>
          </a:prstGeom>
        </p:spPr>
        <p:txBody>
          <a:bodyPr vert="horz" lIns="0" tIns="0" rIns="0" bIns="0" rtlCol="0" anchor="t" anchorCtr="0">
            <a:normAutofit/>
          </a:bodyPr>
          <a:lstStyle>
            <a:lvl1pPr marL="0" indent="0">
              <a:buNone/>
              <a:defRPr lang="en-US" sz="1800" spc="0" baseline="0" dirty="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buNone/>
            </a:pPr>
            <a:r>
              <a:rPr lang="en-US" dirty="0"/>
              <a:t>Click to edit </a:t>
            </a:r>
          </a:p>
        </p:txBody>
      </p:sp>
      <p:sp>
        <p:nvSpPr>
          <p:cNvPr id="27" name="Content Placeholder 3">
            <a:extLst>
              <a:ext uri="{FF2B5EF4-FFF2-40B4-BE49-F238E27FC236}">
                <a16:creationId xmlns:a16="http://schemas.microsoft.com/office/drawing/2014/main" id="{E81957B7-CEA6-A446-A203-471CF9A57FFD}"/>
              </a:ext>
            </a:extLst>
          </p:cNvPr>
          <p:cNvSpPr>
            <a:spLocks noGrp="1"/>
          </p:cNvSpPr>
          <p:nvPr>
            <p:ph sz="half" idx="2"/>
          </p:nvPr>
        </p:nvSpPr>
        <p:spPr>
          <a:xfrm>
            <a:off x="952500" y="2799146"/>
            <a:ext cx="3036477" cy="1942138"/>
          </a:xfrm>
          <a:prstGeom prst="rect">
            <a:avLst/>
          </a:prstGeom>
        </p:spPr>
        <p:txBody>
          <a:bodyPr lIns="0" tIns="0" rIns="0" bIns="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a:r>
              <a:rPr lang="en-US" dirty="0"/>
              <a:t>Click to edit Master text styles</a:t>
            </a:r>
          </a:p>
        </p:txBody>
      </p:sp>
      <p:sp>
        <p:nvSpPr>
          <p:cNvPr id="20" name="Text Placeholder 2">
            <a:extLst>
              <a:ext uri="{FF2B5EF4-FFF2-40B4-BE49-F238E27FC236}">
                <a16:creationId xmlns:a16="http://schemas.microsoft.com/office/drawing/2014/main" id="{057DFE0A-61D9-1B48-8196-EA94D04685DD}"/>
              </a:ext>
            </a:extLst>
          </p:cNvPr>
          <p:cNvSpPr>
            <a:spLocks noGrp="1"/>
          </p:cNvSpPr>
          <p:nvPr>
            <p:ph type="body" idx="10"/>
          </p:nvPr>
        </p:nvSpPr>
        <p:spPr>
          <a:xfrm>
            <a:off x="4569372" y="2300156"/>
            <a:ext cx="3036477" cy="404216"/>
          </a:xfrm>
          <a:prstGeom prst="rect">
            <a:avLst/>
          </a:prstGeom>
        </p:spPr>
        <p:txBody>
          <a:bodyPr vert="horz" lIns="0" tIns="0" rIns="0" bIns="0" rtlCol="0" anchor="t" anchorCtr="0">
            <a:normAutofit/>
          </a:bodyPr>
          <a:lstStyle>
            <a:lvl1pPr marL="0" indent="0">
              <a:buNone/>
              <a:defRPr lang="en-US" sz="1800" spc="0" baseline="0" dirty="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buNone/>
            </a:pPr>
            <a:r>
              <a:rPr lang="en-US" dirty="0"/>
              <a:t>Click to edit </a:t>
            </a:r>
          </a:p>
        </p:txBody>
      </p:sp>
      <p:sp>
        <p:nvSpPr>
          <p:cNvPr id="21" name="Content Placeholder 3">
            <a:extLst>
              <a:ext uri="{FF2B5EF4-FFF2-40B4-BE49-F238E27FC236}">
                <a16:creationId xmlns:a16="http://schemas.microsoft.com/office/drawing/2014/main" id="{C946754A-F105-644E-99A4-DC80B9944243}"/>
              </a:ext>
            </a:extLst>
          </p:cNvPr>
          <p:cNvSpPr>
            <a:spLocks noGrp="1"/>
          </p:cNvSpPr>
          <p:nvPr>
            <p:ph sz="half" idx="11"/>
          </p:nvPr>
        </p:nvSpPr>
        <p:spPr>
          <a:xfrm>
            <a:off x="4569372" y="2799146"/>
            <a:ext cx="3050628" cy="1942138"/>
          </a:xfrm>
          <a:prstGeom prst="rect">
            <a:avLst/>
          </a:prstGeom>
        </p:spPr>
        <p:txBody>
          <a:bodyPr lIns="0" tIns="0" rIns="0" bIns="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a:r>
              <a:rPr lang="en-US" dirty="0"/>
              <a:t>Click to edit Master text styles</a:t>
            </a:r>
          </a:p>
        </p:txBody>
      </p:sp>
      <p:sp>
        <p:nvSpPr>
          <p:cNvPr id="22" name="Text Placeholder 2">
            <a:extLst>
              <a:ext uri="{FF2B5EF4-FFF2-40B4-BE49-F238E27FC236}">
                <a16:creationId xmlns:a16="http://schemas.microsoft.com/office/drawing/2014/main" id="{368648FC-FC9A-5645-8F0C-390FFFAE180D}"/>
              </a:ext>
            </a:extLst>
          </p:cNvPr>
          <p:cNvSpPr>
            <a:spLocks noGrp="1"/>
          </p:cNvSpPr>
          <p:nvPr>
            <p:ph type="body" idx="12"/>
          </p:nvPr>
        </p:nvSpPr>
        <p:spPr>
          <a:xfrm>
            <a:off x="8187017" y="2300156"/>
            <a:ext cx="3036477" cy="404216"/>
          </a:xfrm>
          <a:prstGeom prst="rect">
            <a:avLst/>
          </a:prstGeom>
        </p:spPr>
        <p:txBody>
          <a:bodyPr vert="horz" lIns="0" tIns="0" rIns="0" bIns="0" rtlCol="0" anchor="t" anchorCtr="0">
            <a:normAutofit/>
          </a:bodyPr>
          <a:lstStyle>
            <a:lvl1pPr marL="0" indent="0">
              <a:buNone/>
              <a:defRPr lang="en-US" sz="1800" spc="0" baseline="0" dirty="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buNone/>
            </a:pPr>
            <a:r>
              <a:rPr lang="en-US" dirty="0"/>
              <a:t>Click to edit </a:t>
            </a:r>
          </a:p>
        </p:txBody>
      </p:sp>
      <p:sp>
        <p:nvSpPr>
          <p:cNvPr id="24" name="Content Placeholder 3">
            <a:extLst>
              <a:ext uri="{FF2B5EF4-FFF2-40B4-BE49-F238E27FC236}">
                <a16:creationId xmlns:a16="http://schemas.microsoft.com/office/drawing/2014/main" id="{BBB849DC-B114-D145-9879-4FE0688BF57E}"/>
              </a:ext>
            </a:extLst>
          </p:cNvPr>
          <p:cNvSpPr>
            <a:spLocks noGrp="1"/>
          </p:cNvSpPr>
          <p:nvPr>
            <p:ph sz="half" idx="13"/>
          </p:nvPr>
        </p:nvSpPr>
        <p:spPr>
          <a:xfrm>
            <a:off x="8187017" y="2799146"/>
            <a:ext cx="3036477" cy="1942138"/>
          </a:xfrm>
          <a:prstGeom prst="rect">
            <a:avLst/>
          </a:prstGeom>
        </p:spPr>
        <p:txBody>
          <a:bodyPr lIns="0" tIns="0" rIns="0" bIns="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a:r>
              <a:rPr lang="en-US" dirty="0"/>
              <a:t>Click to edit Master text styles</a:t>
            </a:r>
          </a:p>
        </p:txBody>
      </p:sp>
      <p:cxnSp>
        <p:nvCxnSpPr>
          <p:cNvPr id="26" name="Straight Connector 25">
            <a:extLst>
              <a:ext uri="{FF2B5EF4-FFF2-40B4-BE49-F238E27FC236}">
                <a16:creationId xmlns:a16="http://schemas.microsoft.com/office/drawing/2014/main" id="{9F0C4CE5-5F02-B143-8FD1-1B235D270DAC}"/>
              </a:ext>
            </a:extLst>
          </p:cNvPr>
          <p:cNvCxnSpPr>
            <a:cxnSpLocks/>
          </p:cNvCxnSpPr>
          <p:nvPr userDrawn="1"/>
        </p:nvCxnSpPr>
        <p:spPr>
          <a:xfrm>
            <a:off x="4569372"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289A8C14-DB28-F34E-8098-168D4C75AF23}"/>
              </a:ext>
            </a:extLst>
          </p:cNvPr>
          <p:cNvCxnSpPr>
            <a:cxnSpLocks/>
          </p:cNvCxnSpPr>
          <p:nvPr userDrawn="1"/>
        </p:nvCxnSpPr>
        <p:spPr>
          <a:xfrm>
            <a:off x="8187017"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4" name="Footer Placeholder 3">
            <a:extLst>
              <a:ext uri="{FF2B5EF4-FFF2-40B4-BE49-F238E27FC236}">
                <a16:creationId xmlns:a16="http://schemas.microsoft.com/office/drawing/2014/main" id="{9A79B87D-E8CF-49AE-9326-2FEED2392F09}"/>
              </a:ext>
            </a:extLst>
          </p:cNvPr>
          <p:cNvSpPr>
            <a:spLocks noGrp="1"/>
          </p:cNvSpPr>
          <p:nvPr>
            <p:ph type="ftr" sz="quarter" idx="15"/>
          </p:nvPr>
        </p:nvSpPr>
        <p:spPr/>
        <p:txBody>
          <a:bodyPr/>
          <a:lstStyle/>
          <a:p>
            <a:r>
              <a:rPr lang="en-US"/>
              <a:t>DevIC Paper ID-414</a:t>
            </a:r>
            <a:endParaRPr lang="en-US" b="0" dirty="0"/>
          </a:p>
        </p:txBody>
      </p:sp>
      <p:sp>
        <p:nvSpPr>
          <p:cNvPr id="5" name="Slide Number Placeholder 4">
            <a:extLst>
              <a:ext uri="{FF2B5EF4-FFF2-40B4-BE49-F238E27FC236}">
                <a16:creationId xmlns:a16="http://schemas.microsoft.com/office/drawing/2014/main" id="{7BA139CE-3E4D-4224-B157-2D29EC10FE40}"/>
              </a:ext>
            </a:extLst>
          </p:cNvPr>
          <p:cNvSpPr>
            <a:spLocks noGrp="1"/>
          </p:cNvSpPr>
          <p:nvPr>
            <p:ph type="sldNum" sz="quarter" idx="16"/>
          </p:nvPr>
        </p:nvSpPr>
        <p:spPr/>
        <p:txBody>
          <a:bodyPr/>
          <a:lstStyle/>
          <a:p>
            <a:fld id="{294A09A9-5501-47C1-A89A-A340965A2BE2}" type="slidenum">
              <a:rPr lang="en-US" smtClean="0"/>
              <a:pPr/>
              <a:t>‹#›</a:t>
            </a:fld>
            <a:endParaRPr lang="en-US" dirty="0">
              <a:latin typeface="+mn-lt"/>
            </a:endParaRPr>
          </a:p>
        </p:txBody>
      </p:sp>
    </p:spTree>
    <p:extLst>
      <p:ext uri="{BB962C8B-B14F-4D97-AF65-F5344CB8AC3E}">
        <p14:creationId xmlns:p14="http://schemas.microsoft.com/office/powerpoint/2010/main" val="422794871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520" userDrawn="1">
          <p15:clr>
            <a:srgbClr val="FBAE40"/>
          </p15:clr>
        </p15:guide>
        <p15:guide id="4" pos="5160" userDrawn="1">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4800" userDrawn="1">
          <p15:clr>
            <a:srgbClr val="FBAE40"/>
          </p15:clr>
        </p15:guide>
        <p15:guide id="11" pos="2880" userDrawn="1">
          <p15:clr>
            <a:srgbClr val="FBAE40"/>
          </p15:clr>
        </p15:guide>
        <p15:guide id="12" orient="horz" pos="1752"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ummary ">
    <p:bg>
      <p:bgPr>
        <a:solidFill>
          <a:schemeClr val="tx1"/>
        </a:solidFill>
        <a:effectLst/>
      </p:bgPr>
    </p:bg>
    <p:spTree>
      <p:nvGrpSpPr>
        <p:cNvPr id="1" name=""/>
        <p:cNvGrpSpPr/>
        <p:nvPr/>
      </p:nvGrpSpPr>
      <p:grpSpPr>
        <a:xfrm>
          <a:off x="0" y="0"/>
          <a:ext cx="0" cy="0"/>
          <a:chOff x="0" y="0"/>
          <a:chExt cx="0" cy="0"/>
        </a:xfrm>
      </p:grpSpPr>
      <p:sp>
        <p:nvSpPr>
          <p:cNvPr id="32" name="Title 1">
            <a:extLst>
              <a:ext uri="{FF2B5EF4-FFF2-40B4-BE49-F238E27FC236}">
                <a16:creationId xmlns:a16="http://schemas.microsoft.com/office/drawing/2014/main" id="{467E05B6-B7CB-1E4F-96BA-4B8CFE8B63D9}"/>
              </a:ext>
            </a:extLst>
          </p:cNvPr>
          <p:cNvSpPr>
            <a:spLocks noGrp="1"/>
          </p:cNvSpPr>
          <p:nvPr>
            <p:ph type="title"/>
          </p:nvPr>
        </p:nvSpPr>
        <p:spPr>
          <a:xfrm>
            <a:off x="964023" y="879063"/>
            <a:ext cx="4941477" cy="610863"/>
          </a:xfrm>
          <a:prstGeom prst="rect">
            <a:avLst/>
          </a:prstGeom>
        </p:spPr>
        <p:txBody>
          <a:bodyPr lIns="0" tIns="0" rIns="0" bIns="0" anchor="b" anchorCtr="0">
            <a:normAutofit/>
          </a:bodyPr>
          <a:lstStyle>
            <a:lvl1pPr>
              <a:defRPr sz="4400" b="1" i="0">
                <a:latin typeface="+mj-lt"/>
              </a:defRPr>
            </a:lvl1pPr>
          </a:lstStyle>
          <a:p>
            <a:r>
              <a:rPr lang="en-US" dirty="0"/>
              <a:t>Click to edit </a:t>
            </a:r>
          </a:p>
        </p:txBody>
      </p:sp>
      <p:cxnSp>
        <p:nvCxnSpPr>
          <p:cNvPr id="33" name="Straight Connector 32">
            <a:extLst>
              <a:ext uri="{FF2B5EF4-FFF2-40B4-BE49-F238E27FC236}">
                <a16:creationId xmlns:a16="http://schemas.microsoft.com/office/drawing/2014/main" id="{51DEB652-BD6A-BD41-B85E-704D2C41A1C4}"/>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3" name="Text Placeholder 2">
            <a:extLst>
              <a:ext uri="{FF2B5EF4-FFF2-40B4-BE49-F238E27FC236}">
                <a16:creationId xmlns:a16="http://schemas.microsoft.com/office/drawing/2014/main" id="{0DA8C895-11B9-EA40-B0F8-0F4FE9881512}"/>
              </a:ext>
            </a:extLst>
          </p:cNvPr>
          <p:cNvSpPr>
            <a:spLocks noGrp="1"/>
          </p:cNvSpPr>
          <p:nvPr>
            <p:ph type="body" sz="quarter" idx="10"/>
          </p:nvPr>
        </p:nvSpPr>
        <p:spPr>
          <a:xfrm>
            <a:off x="952500" y="2656904"/>
            <a:ext cx="4838700" cy="574318"/>
          </a:xfrm>
        </p:spPr>
        <p:txBody>
          <a:bodyPr>
            <a:noAutofit/>
          </a:bodyPr>
          <a:lstStyle>
            <a:lvl1pPr marL="0" indent="0">
              <a:buNone/>
              <a:defRPr sz="1600">
                <a:latin typeface="+mn-lt"/>
              </a:defRPr>
            </a:lvl1pPr>
          </a:lstStyle>
          <a:p>
            <a:pPr lvl="0"/>
            <a:r>
              <a:rPr lang="en-US" dirty="0"/>
              <a:t>Click to edit</a:t>
            </a:r>
          </a:p>
        </p:txBody>
      </p:sp>
      <p:grpSp>
        <p:nvGrpSpPr>
          <p:cNvPr id="15" name="Group 14">
            <a:extLst>
              <a:ext uri="{FF2B5EF4-FFF2-40B4-BE49-F238E27FC236}">
                <a16:creationId xmlns:a16="http://schemas.microsoft.com/office/drawing/2014/main" id="{C47A1EE0-4011-3749-B01C-FC489EEDF880}"/>
              </a:ext>
            </a:extLst>
          </p:cNvPr>
          <p:cNvGrpSpPr>
            <a:grpSpLocks/>
          </p:cNvGrpSpPr>
          <p:nvPr userDrawn="1"/>
        </p:nvGrpSpPr>
        <p:grpSpPr bwMode="auto">
          <a:xfrm rot="10800000">
            <a:off x="8870040" y="0"/>
            <a:ext cx="3325208" cy="3325208"/>
            <a:chOff x="0" y="12289"/>
            <a:chExt cx="3550" cy="3551"/>
          </a:xfrm>
        </p:grpSpPr>
        <p:sp>
          <p:nvSpPr>
            <p:cNvPr id="16" name="Freeform 15">
              <a:extLst>
                <a:ext uri="{FF2B5EF4-FFF2-40B4-BE49-F238E27FC236}">
                  <a16:creationId xmlns:a16="http://schemas.microsoft.com/office/drawing/2014/main" id="{17EED68A-6660-2643-BBFB-B6AB92A7C227}"/>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7" name="Freeform 16">
              <a:extLst>
                <a:ext uri="{FF2B5EF4-FFF2-40B4-BE49-F238E27FC236}">
                  <a16:creationId xmlns:a16="http://schemas.microsoft.com/office/drawing/2014/main" id="{BECF9FB8-F6C7-C54D-99F4-11FDF26D7F9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8" name="Freeform 17">
              <a:extLst>
                <a:ext uri="{FF2B5EF4-FFF2-40B4-BE49-F238E27FC236}">
                  <a16:creationId xmlns:a16="http://schemas.microsoft.com/office/drawing/2014/main" id="{46C7C62D-7D3B-934C-AFF9-0F10E727B42E}"/>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4" name="Text Placeholder 3">
            <a:extLst>
              <a:ext uri="{FF2B5EF4-FFF2-40B4-BE49-F238E27FC236}">
                <a16:creationId xmlns:a16="http://schemas.microsoft.com/office/drawing/2014/main" id="{FF85D552-3AFC-4D21-A944-9D41E128A96E}"/>
              </a:ext>
            </a:extLst>
          </p:cNvPr>
          <p:cNvSpPr>
            <a:spLocks noGrp="1"/>
          </p:cNvSpPr>
          <p:nvPr>
            <p:ph type="body" sz="quarter" idx="12"/>
          </p:nvPr>
        </p:nvSpPr>
        <p:spPr>
          <a:xfrm>
            <a:off x="952500" y="2286000"/>
            <a:ext cx="4838700" cy="315915"/>
          </a:xfrm>
        </p:spPr>
        <p:txBody>
          <a:bodyPr>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a:r>
              <a:rPr lang="en-US" dirty="0"/>
              <a:t>Click to edit</a:t>
            </a:r>
          </a:p>
        </p:txBody>
      </p:sp>
      <p:sp>
        <p:nvSpPr>
          <p:cNvPr id="21" name="Text Placeholder 2">
            <a:extLst>
              <a:ext uri="{FF2B5EF4-FFF2-40B4-BE49-F238E27FC236}">
                <a16:creationId xmlns:a16="http://schemas.microsoft.com/office/drawing/2014/main" id="{BE8C2EDB-9C70-49A2-865C-E5CD77D3E741}"/>
              </a:ext>
            </a:extLst>
          </p:cNvPr>
          <p:cNvSpPr>
            <a:spLocks noGrp="1"/>
          </p:cNvSpPr>
          <p:nvPr>
            <p:ph type="body" sz="quarter" idx="13"/>
          </p:nvPr>
        </p:nvSpPr>
        <p:spPr>
          <a:xfrm>
            <a:off x="953655" y="3841846"/>
            <a:ext cx="4838700" cy="636754"/>
          </a:xfrm>
        </p:spPr>
        <p:txBody>
          <a:bodyPr>
            <a:noAutofit/>
          </a:bodyPr>
          <a:lstStyle>
            <a:lvl1pPr marL="0" indent="0">
              <a:buNone/>
              <a:defRPr sz="1600">
                <a:latin typeface="+mn-lt"/>
              </a:defRPr>
            </a:lvl1pPr>
          </a:lstStyle>
          <a:p>
            <a:pPr lvl="0"/>
            <a:r>
              <a:rPr lang="en-US" dirty="0"/>
              <a:t>Click to edit</a:t>
            </a:r>
          </a:p>
        </p:txBody>
      </p:sp>
      <p:sp>
        <p:nvSpPr>
          <p:cNvPr id="22" name="Text Placeholder 3">
            <a:extLst>
              <a:ext uri="{FF2B5EF4-FFF2-40B4-BE49-F238E27FC236}">
                <a16:creationId xmlns:a16="http://schemas.microsoft.com/office/drawing/2014/main" id="{EE50320A-D017-45C6-9986-94BC43911E98}"/>
              </a:ext>
            </a:extLst>
          </p:cNvPr>
          <p:cNvSpPr>
            <a:spLocks noGrp="1"/>
          </p:cNvSpPr>
          <p:nvPr>
            <p:ph type="body" sz="quarter" idx="14"/>
          </p:nvPr>
        </p:nvSpPr>
        <p:spPr>
          <a:xfrm>
            <a:off x="953655" y="3470942"/>
            <a:ext cx="4838700" cy="315915"/>
          </a:xfrm>
        </p:spPr>
        <p:txBody>
          <a:bodyPr>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a:r>
              <a:rPr lang="en-US" dirty="0"/>
              <a:t>Click to edit</a:t>
            </a:r>
          </a:p>
        </p:txBody>
      </p:sp>
      <p:sp>
        <p:nvSpPr>
          <p:cNvPr id="23" name="Text Placeholder 2">
            <a:extLst>
              <a:ext uri="{FF2B5EF4-FFF2-40B4-BE49-F238E27FC236}">
                <a16:creationId xmlns:a16="http://schemas.microsoft.com/office/drawing/2014/main" id="{673EB498-F5D2-4E15-990A-2AFA4A377CBB}"/>
              </a:ext>
            </a:extLst>
          </p:cNvPr>
          <p:cNvSpPr>
            <a:spLocks noGrp="1"/>
          </p:cNvSpPr>
          <p:nvPr>
            <p:ph type="body" sz="quarter" idx="15"/>
          </p:nvPr>
        </p:nvSpPr>
        <p:spPr>
          <a:xfrm>
            <a:off x="952500" y="5017901"/>
            <a:ext cx="4838700" cy="908340"/>
          </a:xfrm>
        </p:spPr>
        <p:txBody>
          <a:bodyPr>
            <a:noAutofit/>
          </a:bodyPr>
          <a:lstStyle>
            <a:lvl1pPr marL="0" indent="0">
              <a:buNone/>
              <a:defRPr sz="1600">
                <a:latin typeface="+mn-lt"/>
              </a:defRPr>
            </a:lvl1pPr>
          </a:lstStyle>
          <a:p>
            <a:pPr lvl="0"/>
            <a:r>
              <a:rPr lang="en-US" dirty="0"/>
              <a:t>Click to edit</a:t>
            </a:r>
          </a:p>
        </p:txBody>
      </p:sp>
      <p:sp>
        <p:nvSpPr>
          <p:cNvPr id="24" name="Text Placeholder 3">
            <a:extLst>
              <a:ext uri="{FF2B5EF4-FFF2-40B4-BE49-F238E27FC236}">
                <a16:creationId xmlns:a16="http://schemas.microsoft.com/office/drawing/2014/main" id="{1F528150-326B-4BB3-AC38-7FC805DB6BA7}"/>
              </a:ext>
            </a:extLst>
          </p:cNvPr>
          <p:cNvSpPr>
            <a:spLocks noGrp="1"/>
          </p:cNvSpPr>
          <p:nvPr>
            <p:ph type="body" sz="quarter" idx="16"/>
          </p:nvPr>
        </p:nvSpPr>
        <p:spPr>
          <a:xfrm>
            <a:off x="952500" y="4646997"/>
            <a:ext cx="4838700" cy="315915"/>
          </a:xfrm>
        </p:spPr>
        <p:txBody>
          <a:bodyPr>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a:r>
              <a:rPr lang="en-US" dirty="0"/>
              <a:t>Click to edit</a:t>
            </a:r>
          </a:p>
        </p:txBody>
      </p:sp>
      <p:sp>
        <p:nvSpPr>
          <p:cNvPr id="25" name="Text Placeholder 2">
            <a:extLst>
              <a:ext uri="{FF2B5EF4-FFF2-40B4-BE49-F238E27FC236}">
                <a16:creationId xmlns:a16="http://schemas.microsoft.com/office/drawing/2014/main" id="{20EBEFF7-AECA-409B-9ACC-A63A168283BE}"/>
              </a:ext>
            </a:extLst>
          </p:cNvPr>
          <p:cNvSpPr>
            <a:spLocks noGrp="1"/>
          </p:cNvSpPr>
          <p:nvPr>
            <p:ph type="body" sz="quarter" idx="17"/>
          </p:nvPr>
        </p:nvSpPr>
        <p:spPr>
          <a:xfrm>
            <a:off x="6399647" y="2656904"/>
            <a:ext cx="4838700" cy="574318"/>
          </a:xfrm>
        </p:spPr>
        <p:txBody>
          <a:bodyPr>
            <a:noAutofit/>
          </a:bodyPr>
          <a:lstStyle>
            <a:lvl1pPr marL="0" indent="0">
              <a:buNone/>
              <a:defRPr sz="1600">
                <a:latin typeface="+mn-lt"/>
              </a:defRPr>
            </a:lvl1pPr>
          </a:lstStyle>
          <a:p>
            <a:pPr lvl="0"/>
            <a:r>
              <a:rPr lang="en-US" dirty="0"/>
              <a:t>Click to edit</a:t>
            </a:r>
          </a:p>
        </p:txBody>
      </p:sp>
      <p:sp>
        <p:nvSpPr>
          <p:cNvPr id="26" name="Text Placeholder 3">
            <a:extLst>
              <a:ext uri="{FF2B5EF4-FFF2-40B4-BE49-F238E27FC236}">
                <a16:creationId xmlns:a16="http://schemas.microsoft.com/office/drawing/2014/main" id="{29E4D063-8666-4D7A-B8C8-2B9383F798E0}"/>
              </a:ext>
            </a:extLst>
          </p:cNvPr>
          <p:cNvSpPr>
            <a:spLocks noGrp="1"/>
          </p:cNvSpPr>
          <p:nvPr>
            <p:ph type="body" sz="quarter" idx="18"/>
          </p:nvPr>
        </p:nvSpPr>
        <p:spPr>
          <a:xfrm>
            <a:off x="6399647" y="2286000"/>
            <a:ext cx="4838700" cy="315915"/>
          </a:xfrm>
        </p:spPr>
        <p:txBody>
          <a:bodyPr>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a:r>
              <a:rPr lang="en-US" dirty="0"/>
              <a:t>Click to edit</a:t>
            </a:r>
          </a:p>
        </p:txBody>
      </p:sp>
      <p:sp>
        <p:nvSpPr>
          <p:cNvPr id="27" name="Text Placeholder 2">
            <a:extLst>
              <a:ext uri="{FF2B5EF4-FFF2-40B4-BE49-F238E27FC236}">
                <a16:creationId xmlns:a16="http://schemas.microsoft.com/office/drawing/2014/main" id="{4717B7CD-A4F9-444E-82B9-8914CB574887}"/>
              </a:ext>
            </a:extLst>
          </p:cNvPr>
          <p:cNvSpPr>
            <a:spLocks noGrp="1"/>
          </p:cNvSpPr>
          <p:nvPr>
            <p:ph type="body" sz="quarter" idx="19"/>
          </p:nvPr>
        </p:nvSpPr>
        <p:spPr>
          <a:xfrm>
            <a:off x="6399647" y="3841846"/>
            <a:ext cx="4838700" cy="908340"/>
          </a:xfrm>
        </p:spPr>
        <p:txBody>
          <a:bodyPr>
            <a:noAutofit/>
          </a:bodyPr>
          <a:lstStyle>
            <a:lvl1pPr marL="0" indent="0">
              <a:buNone/>
              <a:defRPr sz="1600">
                <a:latin typeface="+mn-lt"/>
              </a:defRPr>
            </a:lvl1pPr>
          </a:lstStyle>
          <a:p>
            <a:pPr lvl="0"/>
            <a:r>
              <a:rPr lang="en-US" dirty="0"/>
              <a:t>Click to edit</a:t>
            </a:r>
          </a:p>
        </p:txBody>
      </p:sp>
      <p:sp>
        <p:nvSpPr>
          <p:cNvPr id="28" name="Text Placeholder 3">
            <a:extLst>
              <a:ext uri="{FF2B5EF4-FFF2-40B4-BE49-F238E27FC236}">
                <a16:creationId xmlns:a16="http://schemas.microsoft.com/office/drawing/2014/main" id="{2CF285B7-A950-4326-A4D5-F5D542D2D65B}"/>
              </a:ext>
            </a:extLst>
          </p:cNvPr>
          <p:cNvSpPr>
            <a:spLocks noGrp="1"/>
          </p:cNvSpPr>
          <p:nvPr>
            <p:ph type="body" sz="quarter" idx="20"/>
          </p:nvPr>
        </p:nvSpPr>
        <p:spPr>
          <a:xfrm>
            <a:off x="6399647" y="3470942"/>
            <a:ext cx="4838700" cy="315915"/>
          </a:xfrm>
        </p:spPr>
        <p:txBody>
          <a:bodyPr>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a:r>
              <a:rPr lang="en-US" dirty="0"/>
              <a:t>Click to edit</a:t>
            </a:r>
          </a:p>
        </p:txBody>
      </p:sp>
      <p:sp>
        <p:nvSpPr>
          <p:cNvPr id="6" name="Footer Placeholder 5">
            <a:extLst>
              <a:ext uri="{FF2B5EF4-FFF2-40B4-BE49-F238E27FC236}">
                <a16:creationId xmlns:a16="http://schemas.microsoft.com/office/drawing/2014/main" id="{2DBF2453-9E16-47FE-A8ED-4661246DE597}"/>
              </a:ext>
            </a:extLst>
          </p:cNvPr>
          <p:cNvSpPr>
            <a:spLocks noGrp="1"/>
          </p:cNvSpPr>
          <p:nvPr>
            <p:ph type="ftr" sz="quarter" idx="22"/>
          </p:nvPr>
        </p:nvSpPr>
        <p:spPr/>
        <p:txBody>
          <a:bodyPr/>
          <a:lstStyle/>
          <a:p>
            <a:r>
              <a:rPr lang="en-US"/>
              <a:t>DevIC Paper ID-414</a:t>
            </a:r>
            <a:endParaRPr lang="en-US" b="0" dirty="0"/>
          </a:p>
        </p:txBody>
      </p:sp>
      <p:sp>
        <p:nvSpPr>
          <p:cNvPr id="7" name="Slide Number Placeholder 6">
            <a:extLst>
              <a:ext uri="{FF2B5EF4-FFF2-40B4-BE49-F238E27FC236}">
                <a16:creationId xmlns:a16="http://schemas.microsoft.com/office/drawing/2014/main" id="{F636E9EA-D950-424A-BC92-F6794D6E5D67}"/>
              </a:ext>
            </a:extLst>
          </p:cNvPr>
          <p:cNvSpPr>
            <a:spLocks noGrp="1"/>
          </p:cNvSpPr>
          <p:nvPr>
            <p:ph type="sldNum" sz="quarter" idx="23"/>
          </p:nvPr>
        </p:nvSpPr>
        <p:spPr/>
        <p:txBody>
          <a:bodyPr/>
          <a:lstStyle/>
          <a:p>
            <a:fld id="{294A09A9-5501-47C1-A89A-A340965A2BE2}" type="slidenum">
              <a:rPr lang="en-US" smtClean="0"/>
              <a:pPr/>
              <a:t>‹#›</a:t>
            </a:fld>
            <a:endParaRPr lang="en-US" dirty="0">
              <a:latin typeface="+mn-lt"/>
            </a:endParaRPr>
          </a:p>
        </p:txBody>
      </p:sp>
    </p:spTree>
    <p:extLst>
      <p:ext uri="{BB962C8B-B14F-4D97-AF65-F5344CB8AC3E}">
        <p14:creationId xmlns:p14="http://schemas.microsoft.com/office/powerpoint/2010/main" val="30601358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tx1"/>
        </a:solidFill>
        <a:effectLst/>
      </p:bgPr>
    </p:bg>
    <p:spTree>
      <p:nvGrpSpPr>
        <p:cNvPr id="1" name=""/>
        <p:cNvGrpSpPr/>
        <p:nvPr/>
      </p:nvGrpSpPr>
      <p:grpSpPr>
        <a:xfrm>
          <a:off x="0" y="0"/>
          <a:ext cx="0" cy="0"/>
          <a:chOff x="0" y="0"/>
          <a:chExt cx="0" cy="0"/>
        </a:xfrm>
      </p:grpSpPr>
      <p:sp>
        <p:nvSpPr>
          <p:cNvPr id="16" name="Text Placeholder 29">
            <a:extLst>
              <a:ext uri="{FF2B5EF4-FFF2-40B4-BE49-F238E27FC236}">
                <a16:creationId xmlns:a16="http://schemas.microsoft.com/office/drawing/2014/main" id="{BB778BC5-5409-574B-96E2-B45CDD940DF4}"/>
              </a:ext>
            </a:extLst>
          </p:cNvPr>
          <p:cNvSpPr>
            <a:spLocks noGrp="1"/>
          </p:cNvSpPr>
          <p:nvPr>
            <p:ph type="body" sz="quarter" idx="11"/>
          </p:nvPr>
        </p:nvSpPr>
        <p:spPr>
          <a:xfrm>
            <a:off x="6896100" y="5102063"/>
            <a:ext cx="4914900" cy="588795"/>
          </a:xfrm>
        </p:spPr>
        <p:txBody>
          <a:bodyPr lIns="0" tIns="0" rIns="0" bIns="0" anchor="b">
            <a:noAutofit/>
          </a:bodyPr>
          <a:lstStyle>
            <a:lvl1pPr marL="0" indent="0">
              <a:buNone/>
              <a:defRPr sz="1600" b="0" i="0">
                <a:solidFill>
                  <a:schemeClr val="tx2"/>
                </a:solidFill>
                <a:latin typeface="+mn-lt"/>
              </a:defRPr>
            </a:lvl1pPr>
            <a:lvl2pPr>
              <a:defRPr sz="4000"/>
            </a:lvl2pPr>
            <a:lvl3pPr>
              <a:defRPr sz="4000"/>
            </a:lvl3pPr>
            <a:lvl4pPr>
              <a:defRPr sz="4000"/>
            </a:lvl4pPr>
            <a:lvl5pPr>
              <a:defRPr sz="4000"/>
            </a:lvl5pPr>
          </a:lstStyle>
          <a:p>
            <a:pPr lvl="0"/>
            <a:r>
              <a:rPr lang="en-US" dirty="0"/>
              <a:t>Click to edit </a:t>
            </a:r>
          </a:p>
        </p:txBody>
      </p:sp>
      <p:sp>
        <p:nvSpPr>
          <p:cNvPr id="17" name="Subtitle 2">
            <a:extLst>
              <a:ext uri="{FF2B5EF4-FFF2-40B4-BE49-F238E27FC236}">
                <a16:creationId xmlns:a16="http://schemas.microsoft.com/office/drawing/2014/main" id="{32916F3A-28FA-9A4B-A780-0D687D932893}"/>
              </a:ext>
            </a:extLst>
          </p:cNvPr>
          <p:cNvSpPr>
            <a:spLocks noGrp="1"/>
          </p:cNvSpPr>
          <p:nvPr>
            <p:ph type="subTitle" idx="1"/>
          </p:nvPr>
        </p:nvSpPr>
        <p:spPr>
          <a:xfrm>
            <a:off x="6907623" y="3591098"/>
            <a:ext cx="4903377" cy="1057791"/>
          </a:xfrm>
        </p:spPr>
        <p:txBody>
          <a:bodyPr lIns="0" tIns="0" rIns="0" bIns="0">
            <a:normAutofit/>
          </a:bodyPr>
          <a:lstStyle>
            <a:lvl1pPr marL="0" indent="0" algn="l">
              <a:buNone/>
              <a:defRPr sz="1600" b="0" i="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a:t>
            </a:r>
          </a:p>
        </p:txBody>
      </p:sp>
      <p:sp>
        <p:nvSpPr>
          <p:cNvPr id="26" name="Title 1">
            <a:extLst>
              <a:ext uri="{FF2B5EF4-FFF2-40B4-BE49-F238E27FC236}">
                <a16:creationId xmlns:a16="http://schemas.microsoft.com/office/drawing/2014/main" id="{E29321F6-59C5-6E4C-A846-6AD00848A444}"/>
              </a:ext>
            </a:extLst>
          </p:cNvPr>
          <p:cNvSpPr>
            <a:spLocks noGrp="1"/>
          </p:cNvSpPr>
          <p:nvPr>
            <p:ph type="title"/>
          </p:nvPr>
        </p:nvSpPr>
        <p:spPr>
          <a:xfrm>
            <a:off x="6907623" y="2173658"/>
            <a:ext cx="4903377" cy="610863"/>
          </a:xfrm>
          <a:prstGeom prst="rect">
            <a:avLst/>
          </a:prstGeom>
        </p:spPr>
        <p:txBody>
          <a:bodyPr lIns="0" tIns="0" rIns="0" bIns="0" anchor="b" anchorCtr="0">
            <a:normAutofit/>
          </a:bodyPr>
          <a:lstStyle>
            <a:lvl1pPr>
              <a:defRPr sz="4400" b="1" i="0">
                <a:latin typeface="+mj-lt"/>
              </a:defRPr>
            </a:lvl1pPr>
          </a:lstStyle>
          <a:p>
            <a:r>
              <a:rPr lang="en-US" dirty="0"/>
              <a:t>Click to edit </a:t>
            </a:r>
          </a:p>
        </p:txBody>
      </p:sp>
      <p:cxnSp>
        <p:nvCxnSpPr>
          <p:cNvPr id="27" name="Straight Connector 26">
            <a:extLst>
              <a:ext uri="{FF2B5EF4-FFF2-40B4-BE49-F238E27FC236}">
                <a16:creationId xmlns:a16="http://schemas.microsoft.com/office/drawing/2014/main" id="{AB5C3BF3-A164-DD48-BD02-4587489DA105}"/>
              </a:ext>
            </a:extLst>
          </p:cNvPr>
          <p:cNvCxnSpPr>
            <a:cxnSpLocks/>
          </p:cNvCxnSpPr>
          <p:nvPr userDrawn="1"/>
        </p:nvCxnSpPr>
        <p:spPr>
          <a:xfrm>
            <a:off x="6896100" y="3233703"/>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1" name="Picture Placeholder 2">
            <a:extLst>
              <a:ext uri="{FF2B5EF4-FFF2-40B4-BE49-F238E27FC236}">
                <a16:creationId xmlns:a16="http://schemas.microsoft.com/office/drawing/2014/main" id="{F8C225AD-C009-894E-8AFA-C94EAA06509C}"/>
              </a:ext>
            </a:extLst>
          </p:cNvPr>
          <p:cNvSpPr>
            <a:spLocks noGrp="1"/>
          </p:cNvSpPr>
          <p:nvPr>
            <p:ph type="pic" sz="quarter" idx="13"/>
          </p:nvPr>
        </p:nvSpPr>
        <p:spPr>
          <a:xfrm>
            <a:off x="0" y="0"/>
            <a:ext cx="6096000" cy="6858000"/>
          </a:xfrm>
        </p:spPr>
        <p:txBody>
          <a:bodyPr/>
          <a:lstStyle/>
          <a:p>
            <a:endParaRPr lang="en-US" dirty="0"/>
          </a:p>
        </p:txBody>
      </p:sp>
      <p:grpSp>
        <p:nvGrpSpPr>
          <p:cNvPr id="30" name="Group 29">
            <a:extLst>
              <a:ext uri="{FF2B5EF4-FFF2-40B4-BE49-F238E27FC236}">
                <a16:creationId xmlns:a16="http://schemas.microsoft.com/office/drawing/2014/main" id="{FFEF81ED-50DF-3946-87D9-407C13C3CE9F}"/>
              </a:ext>
            </a:extLst>
          </p:cNvPr>
          <p:cNvGrpSpPr>
            <a:grpSpLocks/>
          </p:cNvGrpSpPr>
          <p:nvPr userDrawn="1"/>
        </p:nvGrpSpPr>
        <p:grpSpPr bwMode="auto">
          <a:xfrm rot="10800000">
            <a:off x="8870040" y="0"/>
            <a:ext cx="3325208" cy="3325208"/>
            <a:chOff x="0" y="12289"/>
            <a:chExt cx="3550" cy="3551"/>
          </a:xfrm>
        </p:grpSpPr>
        <p:sp>
          <p:nvSpPr>
            <p:cNvPr id="31" name="Freeform 30">
              <a:extLst>
                <a:ext uri="{FF2B5EF4-FFF2-40B4-BE49-F238E27FC236}">
                  <a16:creationId xmlns:a16="http://schemas.microsoft.com/office/drawing/2014/main" id="{4B6857A0-601C-9C40-ADB4-7927C7A4ECA0}"/>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32" name="Freeform 31">
              <a:extLst>
                <a:ext uri="{FF2B5EF4-FFF2-40B4-BE49-F238E27FC236}">
                  <a16:creationId xmlns:a16="http://schemas.microsoft.com/office/drawing/2014/main" id="{31562ACC-ECB3-4841-A52C-00DAFF438EBF}"/>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33" name="Freeform 32">
              <a:extLst>
                <a:ext uri="{FF2B5EF4-FFF2-40B4-BE49-F238E27FC236}">
                  <a16:creationId xmlns:a16="http://schemas.microsoft.com/office/drawing/2014/main" id="{77C317B8-91B4-7040-AB8C-CE822CA28AAD}"/>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Tree>
    <p:extLst>
      <p:ext uri="{BB962C8B-B14F-4D97-AF65-F5344CB8AC3E}">
        <p14:creationId xmlns:p14="http://schemas.microsoft.com/office/powerpoint/2010/main" val="999130720"/>
      </p:ext>
    </p:extLst>
  </p:cSld>
  <p:clrMapOvr>
    <a:masterClrMapping/>
  </p:clrMapOvr>
  <p:extLst>
    <p:ext uri="{DCECCB84-F9BA-43D5-87BE-67443E8EF086}">
      <p15:sldGuideLst xmlns:p15="http://schemas.microsoft.com/office/powerpoint/2012/main">
        <p15:guide id="1" pos="60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EED84C6-50E6-6C43-8031-AFF6268E0C06}"/>
              </a:ext>
            </a:extLst>
          </p:cNvPr>
          <p:cNvSpPr>
            <a:spLocks noGrp="1"/>
          </p:cNvSpPr>
          <p:nvPr>
            <p:ph type="body" idx="1"/>
          </p:nvPr>
        </p:nvSpPr>
        <p:spPr>
          <a:xfrm>
            <a:off x="971550" y="1825625"/>
            <a:ext cx="1038225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itle Placeholder 11">
            <a:extLst>
              <a:ext uri="{FF2B5EF4-FFF2-40B4-BE49-F238E27FC236}">
                <a16:creationId xmlns:a16="http://schemas.microsoft.com/office/drawing/2014/main" id="{D41FC0AE-253D-D242-9C88-017078F8A23A}"/>
              </a:ext>
            </a:extLst>
          </p:cNvPr>
          <p:cNvSpPr>
            <a:spLocks noGrp="1"/>
          </p:cNvSpPr>
          <p:nvPr>
            <p:ph type="title"/>
          </p:nvPr>
        </p:nvSpPr>
        <p:spPr>
          <a:xfrm>
            <a:off x="952500" y="365125"/>
            <a:ext cx="10401300" cy="1325563"/>
          </a:xfrm>
          <a:prstGeom prst="rect">
            <a:avLst/>
          </a:prstGeom>
        </p:spPr>
        <p:txBody>
          <a:bodyPr vert="horz" lIns="91440" tIns="45720" rIns="91440" bIns="45720" rtlCol="0" anchor="ctr">
            <a:normAutofit/>
          </a:bodyPr>
          <a:lstStyle/>
          <a:p>
            <a:r>
              <a:rPr lang="en-US" dirty="0"/>
              <a:t>Click to edit Master title style</a:t>
            </a:r>
          </a:p>
        </p:txBody>
      </p:sp>
      <p:sp>
        <p:nvSpPr>
          <p:cNvPr id="30" name="Date Placeholder 3">
            <a:extLst>
              <a:ext uri="{FF2B5EF4-FFF2-40B4-BE49-F238E27FC236}">
                <a16:creationId xmlns:a16="http://schemas.microsoft.com/office/drawing/2014/main" id="{EF47083A-6D76-4B4D-87CA-E08E212F781D}"/>
              </a:ext>
            </a:extLst>
          </p:cNvPr>
          <p:cNvSpPr>
            <a:spLocks noGrp="1"/>
          </p:cNvSpPr>
          <p:nvPr>
            <p:ph type="dt" sz="half" idx="2"/>
          </p:nvPr>
        </p:nvSpPr>
        <p:spPr>
          <a:xfrm>
            <a:off x="2992120" y="6332220"/>
            <a:ext cx="1313180" cy="247651"/>
          </a:xfrm>
          <a:prstGeom prst="rect">
            <a:avLst/>
          </a:prstGeom>
        </p:spPr>
        <p:txBody>
          <a:bodyPr vert="horz" lIns="0" tIns="0" rIns="0" bIns="0" rtlCol="0" anchor="t" anchorCtr="0"/>
          <a:lstStyle>
            <a:lvl1pPr algn="l">
              <a:defRPr sz="1100" b="0" i="0">
                <a:solidFill>
                  <a:schemeClr val="bg1"/>
                </a:solidFill>
                <a:latin typeface="+mn-lt"/>
              </a:defRPr>
            </a:lvl1pPr>
          </a:lstStyle>
          <a:p>
            <a:endParaRPr lang="en-US" dirty="0">
              <a:latin typeface="+mn-lt"/>
            </a:endParaRPr>
          </a:p>
        </p:txBody>
      </p:sp>
      <p:sp>
        <p:nvSpPr>
          <p:cNvPr id="31" name="Footer Placeholder 4">
            <a:extLst>
              <a:ext uri="{FF2B5EF4-FFF2-40B4-BE49-F238E27FC236}">
                <a16:creationId xmlns:a16="http://schemas.microsoft.com/office/drawing/2014/main" id="{C9955F1C-C0B1-BA44-8905-6991FA0D1EF3}"/>
              </a:ext>
            </a:extLst>
          </p:cNvPr>
          <p:cNvSpPr>
            <a:spLocks noGrp="1"/>
          </p:cNvSpPr>
          <p:nvPr>
            <p:ph type="ftr" sz="quarter" idx="3"/>
          </p:nvPr>
        </p:nvSpPr>
        <p:spPr>
          <a:xfrm>
            <a:off x="1494790" y="6332220"/>
            <a:ext cx="1497330" cy="247651"/>
          </a:xfrm>
          <a:prstGeom prst="rect">
            <a:avLst/>
          </a:prstGeom>
        </p:spPr>
        <p:txBody>
          <a:bodyPr vert="horz" lIns="0" tIns="0" rIns="0" bIns="0" rtlCol="0" anchor="t" anchorCtr="0"/>
          <a:lstStyle>
            <a:lvl1pPr algn="l">
              <a:defRPr sz="1100" b="0" i="0">
                <a:solidFill>
                  <a:schemeClr val="bg1"/>
                </a:solidFill>
                <a:latin typeface="+mj-lt"/>
              </a:defRPr>
            </a:lvl1pPr>
          </a:lstStyle>
          <a:p>
            <a:r>
              <a:rPr lang="en-US"/>
              <a:t>DevIC Paper ID-414</a:t>
            </a:r>
            <a:endParaRPr lang="en-US" b="0" dirty="0"/>
          </a:p>
        </p:txBody>
      </p:sp>
      <p:sp>
        <p:nvSpPr>
          <p:cNvPr id="32" name="Slide Number Placeholder 5">
            <a:extLst>
              <a:ext uri="{FF2B5EF4-FFF2-40B4-BE49-F238E27FC236}">
                <a16:creationId xmlns:a16="http://schemas.microsoft.com/office/drawing/2014/main" id="{C8ADA0DF-3751-9A48-8A21-59F01C782D7C}"/>
              </a:ext>
            </a:extLst>
          </p:cNvPr>
          <p:cNvSpPr>
            <a:spLocks noGrp="1"/>
          </p:cNvSpPr>
          <p:nvPr>
            <p:ph type="sldNum" sz="quarter" idx="4"/>
          </p:nvPr>
        </p:nvSpPr>
        <p:spPr>
          <a:xfrm>
            <a:off x="971550" y="6332220"/>
            <a:ext cx="523240" cy="247651"/>
          </a:xfrm>
          <a:prstGeom prst="rect">
            <a:avLst/>
          </a:prstGeom>
        </p:spPr>
        <p:txBody>
          <a:bodyPr vert="horz" lIns="0" tIns="0" rIns="0" bIns="0" rtlCol="0" anchor="t" anchorCtr="0"/>
          <a:lstStyle>
            <a:lvl1pPr algn="l">
              <a:defRPr sz="1100" b="0" i="0">
                <a:solidFill>
                  <a:schemeClr val="bg1"/>
                </a:solidFill>
                <a:latin typeface="+mn-lt"/>
              </a:defRPr>
            </a:lvl1pPr>
          </a:lstStyle>
          <a:p>
            <a:fld id="{294A09A9-5501-47C1-A89A-A340965A2BE2}" type="slidenum">
              <a:rPr lang="en-US" smtClean="0"/>
              <a:pPr/>
              <a:t>‹#›</a:t>
            </a:fld>
            <a:endParaRPr lang="en-US" dirty="0">
              <a:latin typeface="+mn-lt"/>
            </a:endParaRPr>
          </a:p>
        </p:txBody>
      </p:sp>
    </p:spTree>
    <p:extLst>
      <p:ext uri="{BB962C8B-B14F-4D97-AF65-F5344CB8AC3E}">
        <p14:creationId xmlns:p14="http://schemas.microsoft.com/office/powerpoint/2010/main" val="3515892240"/>
      </p:ext>
    </p:extLst>
  </p:cSld>
  <p:clrMap bg1="dk1" tx1="lt1" bg2="dk2" tx2="lt2" accent1="accent1" accent2="accent2" accent3="accent3" accent4="accent4" accent5="accent5" accent6="accent6" hlink="hlink" folHlink="folHlink"/>
  <p:sldLayoutIdLst>
    <p:sldLayoutId id="2147483659" r:id="rId1"/>
    <p:sldLayoutId id="2147483693" r:id="rId2"/>
    <p:sldLayoutId id="2147483671" r:id="rId3"/>
    <p:sldLayoutId id="2147483672" r:id="rId4"/>
    <p:sldLayoutId id="2147483673" r:id="rId5"/>
    <p:sldLayoutId id="2147483684" r:id="rId6"/>
    <p:sldLayoutId id="2147483675" r:id="rId7"/>
    <p:sldLayoutId id="2147483676" r:id="rId8"/>
    <p:sldLayoutId id="2147483677" r:id="rId9"/>
    <p:sldLayoutId id="2147483685" r:id="rId10"/>
    <p:sldLayoutId id="2147483688" r:id="rId11"/>
    <p:sldLayoutId id="2147483692" r:id="rId12"/>
    <p:sldLayoutId id="2147483682" r:id="rId13"/>
  </p:sldLayoutIdLst>
  <p:hf hdr="0" ftr="0" dt="0"/>
  <p:txStyles>
    <p:titleStyle>
      <a:lvl1pPr algn="l" defTabSz="914400" rtl="0" eaLnBrk="1" latinLnBrk="0" hangingPunct="1">
        <a:lnSpc>
          <a:spcPct val="90000"/>
        </a:lnSpc>
        <a:spcBef>
          <a:spcPct val="0"/>
        </a:spcBef>
        <a:buNone/>
        <a:defRPr sz="4400" b="1" i="0" kern="1200" spc="100" baseline="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600" userDrawn="1">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guide id="17" pos="39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5.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5.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9.sv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diagramColors" Target="../diagrams/colors1.xml"/><Relationship Id="rId11" Type="http://schemas.openxmlformats.org/officeDocument/2006/relationships/image" Target="../media/image13.png"/><Relationship Id="rId5" Type="http://schemas.openxmlformats.org/officeDocument/2006/relationships/diagramQuickStyle" Target="../diagrams/quickStyle1.xml"/><Relationship Id="rId10" Type="http://schemas.openxmlformats.org/officeDocument/2006/relationships/image" Target="../media/image12.png"/><Relationship Id="rId4" Type="http://schemas.openxmlformats.org/officeDocument/2006/relationships/diagramLayout" Target="../diagrams/layout1.xml"/><Relationship Id="rId9" Type="http://schemas.openxmlformats.org/officeDocument/2006/relationships/image" Target="../media/image9.sv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9.sv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5.xml"/><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5.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12.xml"/><Relationship Id="rId1" Type="http://schemas.openxmlformats.org/officeDocument/2006/relationships/slideLayout" Target="../slideLayouts/slideLayout5.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4.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Slide Number Placeholder 15">
            <a:extLst>
              <a:ext uri="{FF2B5EF4-FFF2-40B4-BE49-F238E27FC236}">
                <a16:creationId xmlns:a16="http://schemas.microsoft.com/office/drawing/2014/main" id="{DFBCB7FA-B41F-1E1A-35B5-25CCDA94E25D}"/>
              </a:ext>
            </a:extLst>
          </p:cNvPr>
          <p:cNvSpPr>
            <a:spLocks noGrp="1"/>
          </p:cNvSpPr>
          <p:nvPr>
            <p:ph type="sldNum" sz="quarter" idx="13"/>
          </p:nvPr>
        </p:nvSpPr>
        <p:spPr/>
        <p:txBody>
          <a:bodyPr/>
          <a:lstStyle/>
          <a:p>
            <a:fld id="{294A09A9-5501-47C1-A89A-A340965A2BE2}" type="slidenum">
              <a:rPr lang="en-US" smtClean="0"/>
              <a:pPr/>
              <a:t>1</a:t>
            </a:fld>
            <a:endParaRPr lang="en-US" dirty="0">
              <a:latin typeface="+mn-lt"/>
            </a:endParaRPr>
          </a:p>
        </p:txBody>
      </p:sp>
      <p:pic>
        <p:nvPicPr>
          <p:cNvPr id="5" name="Picture 4">
            <a:extLst>
              <a:ext uri="{FF2B5EF4-FFF2-40B4-BE49-F238E27FC236}">
                <a16:creationId xmlns:a16="http://schemas.microsoft.com/office/drawing/2014/main" id="{3C32EF12-FB57-4EA4-46FB-465366004D9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87628" y="1626450"/>
            <a:ext cx="1559820" cy="1102536"/>
          </a:xfrm>
          <a:prstGeom prst="rect">
            <a:avLst/>
          </a:prstGeom>
        </p:spPr>
      </p:pic>
      <p:sp>
        <p:nvSpPr>
          <p:cNvPr id="13" name="Title 1">
            <a:extLst>
              <a:ext uri="{FF2B5EF4-FFF2-40B4-BE49-F238E27FC236}">
                <a16:creationId xmlns:a16="http://schemas.microsoft.com/office/drawing/2014/main" id="{8BAEF64A-E864-4345-8AE9-E4E239606B77}"/>
              </a:ext>
            </a:extLst>
          </p:cNvPr>
          <p:cNvSpPr txBox="1">
            <a:spLocks/>
          </p:cNvSpPr>
          <p:nvPr/>
        </p:nvSpPr>
        <p:spPr>
          <a:xfrm>
            <a:off x="499732" y="2775198"/>
            <a:ext cx="10858079" cy="873276"/>
          </a:xfrm>
          <a:prstGeom prst="rect">
            <a:avLst/>
          </a:prstGeom>
          <a:ln w="12700">
            <a:solidFill>
              <a:srgbClr val="00B0F0"/>
            </a:solidFill>
          </a:ln>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4000" b="1" dirty="0">
                <a:solidFill>
                  <a:schemeClr val="bg1"/>
                </a:solidFill>
                <a:latin typeface="Calibri" panose="020F0502020204030204" pitchFamily="34" charset="0"/>
                <a:ea typeface="Calibri" panose="020F0502020204030204" pitchFamily="34" charset="0"/>
                <a:cs typeface="Calibri" panose="020F0502020204030204" pitchFamily="34" charset="0"/>
              </a:rPr>
              <a:t>Covariance Matrix-Based DOA Estimation Using CNN: Performance Across Narrow and Wide Grids</a:t>
            </a:r>
          </a:p>
        </p:txBody>
      </p:sp>
      <p:sp>
        <p:nvSpPr>
          <p:cNvPr id="15" name="Rectangle 14">
            <a:extLst>
              <a:ext uri="{FF2B5EF4-FFF2-40B4-BE49-F238E27FC236}">
                <a16:creationId xmlns:a16="http://schemas.microsoft.com/office/drawing/2014/main" id="{0C31CDDC-F2F7-41D5-9922-43F1730CFD9A}"/>
              </a:ext>
            </a:extLst>
          </p:cNvPr>
          <p:cNvSpPr/>
          <p:nvPr/>
        </p:nvSpPr>
        <p:spPr>
          <a:xfrm>
            <a:off x="2631886" y="208033"/>
            <a:ext cx="7013050" cy="1261884"/>
          </a:xfrm>
          <a:prstGeom prst="rect">
            <a:avLst/>
          </a:prstGeom>
        </p:spPr>
        <p:txBody>
          <a:bodyPr wrap="square">
            <a:spAutoFit/>
          </a:bodyPr>
          <a:lstStyle/>
          <a:p>
            <a:pPr algn="ctr"/>
            <a:r>
              <a:rPr lang="en-US" sz="2800" b="1" dirty="0">
                <a:solidFill>
                  <a:schemeClr val="bg1"/>
                </a:solidFill>
                <a:latin typeface="Calibri" panose="020F0502020204030204" pitchFamily="34" charset="0"/>
                <a:ea typeface="Calibri" panose="020F0502020204030204" pitchFamily="34" charset="0"/>
                <a:cs typeface="Calibri" panose="020F0502020204030204" pitchFamily="34" charset="0"/>
              </a:rPr>
              <a:t>6</a:t>
            </a:r>
            <a:r>
              <a:rPr lang="en-US" sz="2800" b="1" baseline="30000" dirty="0">
                <a:solidFill>
                  <a:schemeClr val="bg1"/>
                </a:solidFill>
                <a:latin typeface="Calibri" panose="020F0502020204030204" pitchFamily="34" charset="0"/>
                <a:ea typeface="Calibri" panose="020F0502020204030204" pitchFamily="34" charset="0"/>
                <a:cs typeface="Calibri" panose="020F0502020204030204" pitchFamily="34" charset="0"/>
              </a:rPr>
              <a:t>th</a:t>
            </a:r>
            <a:r>
              <a:rPr lang="en-US" sz="2800" b="1" dirty="0">
                <a:solidFill>
                  <a:schemeClr val="bg1"/>
                </a:solidFill>
                <a:latin typeface="Calibri" panose="020F0502020204030204" pitchFamily="34" charset="0"/>
                <a:ea typeface="Calibri" panose="020F0502020204030204" pitchFamily="34" charset="0"/>
                <a:cs typeface="Calibri" panose="020F0502020204030204" pitchFamily="34" charset="0"/>
              </a:rPr>
              <a:t> International Conference “2025 Devices for Integrated Circuit (</a:t>
            </a:r>
            <a:r>
              <a:rPr lang="en-US" sz="2800" b="1" dirty="0" err="1">
                <a:solidFill>
                  <a:schemeClr val="bg1"/>
                </a:solidFill>
                <a:latin typeface="Calibri" panose="020F0502020204030204" pitchFamily="34" charset="0"/>
                <a:ea typeface="Calibri" panose="020F0502020204030204" pitchFamily="34" charset="0"/>
                <a:cs typeface="Calibri" panose="020F0502020204030204" pitchFamily="34" charset="0"/>
              </a:rPr>
              <a:t>DevIC</a:t>
            </a:r>
            <a:r>
              <a:rPr lang="en-US" sz="2800" b="1" dirty="0">
                <a:solidFill>
                  <a:schemeClr val="bg1"/>
                </a:solidFill>
                <a:latin typeface="Calibri" panose="020F0502020204030204" pitchFamily="34" charset="0"/>
                <a:ea typeface="Calibri" panose="020F0502020204030204" pitchFamily="34" charset="0"/>
                <a:cs typeface="Calibri" panose="020F0502020204030204" pitchFamily="34" charset="0"/>
              </a:rPr>
              <a:t>)”</a:t>
            </a:r>
            <a:r>
              <a:rPr lang="en-US" sz="2800" b="1" dirty="0">
                <a:latin typeface="Calibri" panose="020F0502020204030204" pitchFamily="34" charset="0"/>
                <a:ea typeface="Calibri" panose="020F0502020204030204" pitchFamily="34" charset="0"/>
                <a:cs typeface="Calibri" panose="020F0502020204030204" pitchFamily="34" charset="0"/>
              </a:rPr>
              <a:t>)”</a:t>
            </a:r>
          </a:p>
          <a:p>
            <a:pPr algn="ctr"/>
            <a:r>
              <a:rPr lang="en-US" sz="2000" b="1" dirty="0">
                <a:solidFill>
                  <a:schemeClr val="bg1"/>
                </a:solidFill>
                <a:latin typeface="Calibri" panose="020F0502020204030204" pitchFamily="34" charset="0"/>
                <a:ea typeface="Calibri" panose="020F0502020204030204" pitchFamily="34" charset="0"/>
                <a:cs typeface="Calibri" panose="020F0502020204030204" pitchFamily="34" charset="0"/>
              </a:rPr>
              <a:t>Date: 5-6 April, 2025</a:t>
            </a:r>
            <a:r>
              <a:rPr lang="en-US" b="1" dirty="0">
                <a:latin typeface="Calibri" panose="020F0502020204030204" pitchFamily="34" charset="0"/>
                <a:ea typeface="Calibri" panose="020F0502020204030204" pitchFamily="34" charset="0"/>
                <a:cs typeface="Calibri" panose="020F0502020204030204" pitchFamily="34" charset="0"/>
              </a:rPr>
              <a:t>, 2025</a:t>
            </a:r>
            <a:endParaRPr lang="en-US" b="1" dirty="0">
              <a:solidFill>
                <a:srgbClr val="002060"/>
              </a:solidFill>
              <a:latin typeface="Calibri" panose="020F0502020204030204" pitchFamily="34" charset="0"/>
              <a:ea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DB60E524-99BA-4815-9494-819FEF11CBC4}"/>
              </a:ext>
            </a:extLst>
          </p:cNvPr>
          <p:cNvSpPr txBox="1"/>
          <p:nvPr/>
        </p:nvSpPr>
        <p:spPr>
          <a:xfrm>
            <a:off x="4317561" y="6158248"/>
            <a:ext cx="3490623" cy="461665"/>
          </a:xfrm>
          <a:prstGeom prst="rect">
            <a:avLst/>
          </a:prstGeom>
          <a:noFill/>
          <a:ln>
            <a:solidFill>
              <a:srgbClr val="00B0F0"/>
            </a:solidFill>
          </a:ln>
        </p:spPr>
        <p:txBody>
          <a:bodyPr wrap="square" rtlCol="0">
            <a:spAutoFit/>
          </a:bodyPr>
          <a:lstStyle/>
          <a:p>
            <a:pPr algn="ctr"/>
            <a:r>
              <a:rPr lang="en-US" sz="2400" b="1" dirty="0">
                <a:solidFill>
                  <a:schemeClr val="bg1"/>
                </a:solidFill>
                <a:latin typeface="Calibri" panose="020F0502020204030204" pitchFamily="34" charset="0"/>
                <a:ea typeface="Calibri" panose="020F0502020204030204" pitchFamily="34" charset="0"/>
                <a:cs typeface="Calibri" panose="020F0502020204030204" pitchFamily="34" charset="0"/>
              </a:rPr>
              <a:t>Paper ID - 414</a:t>
            </a:r>
            <a:endParaRPr lang="en-IN" sz="24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pic>
        <p:nvPicPr>
          <p:cNvPr id="3" name="Picture 2">
            <a:extLst>
              <a:ext uri="{FF2B5EF4-FFF2-40B4-BE49-F238E27FC236}">
                <a16:creationId xmlns:a16="http://schemas.microsoft.com/office/drawing/2014/main" id="{5055ED38-8F17-DAAD-9671-C4498D3E6E60}"/>
              </a:ext>
            </a:extLst>
          </p:cNvPr>
          <p:cNvPicPr>
            <a:picLocks noChangeAspect="1"/>
          </p:cNvPicPr>
          <p:nvPr/>
        </p:nvPicPr>
        <p:blipFill>
          <a:blip r:embed="rId4"/>
          <a:stretch>
            <a:fillRect/>
          </a:stretch>
        </p:blipFill>
        <p:spPr>
          <a:xfrm>
            <a:off x="2540748" y="3776070"/>
            <a:ext cx="7845213" cy="2254582"/>
          </a:xfrm>
          <a:prstGeom prst="rect">
            <a:avLst/>
          </a:prstGeom>
        </p:spPr>
      </p:pic>
    </p:spTree>
    <p:extLst>
      <p:ext uri="{BB962C8B-B14F-4D97-AF65-F5344CB8AC3E}">
        <p14:creationId xmlns:p14="http://schemas.microsoft.com/office/powerpoint/2010/main" val="40509999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760C02A-AEAD-EEEB-6ACB-839B90CB1FF1}"/>
              </a:ext>
            </a:extLst>
          </p:cNvPr>
          <p:cNvSpPr>
            <a:spLocks noGrp="1"/>
          </p:cNvSpPr>
          <p:nvPr>
            <p:ph type="title"/>
          </p:nvPr>
        </p:nvSpPr>
        <p:spPr>
          <a:xfrm>
            <a:off x="5142307" y="548582"/>
            <a:ext cx="2792519" cy="610863"/>
          </a:xfrm>
        </p:spPr>
        <p:txBody>
          <a:bodyPr>
            <a:noAutofit/>
          </a:bodyPr>
          <a:lstStyle/>
          <a:p>
            <a:r>
              <a:rPr lang="en-US" dirty="0">
                <a:latin typeface="Calibri" panose="020F0502020204030204" pitchFamily="34" charset="0"/>
                <a:ea typeface="Calibri" panose="020F0502020204030204" pitchFamily="34" charset="0"/>
                <a:cs typeface="Calibri" panose="020F0502020204030204" pitchFamily="34" charset="0"/>
              </a:rPr>
              <a:t>Outline</a:t>
            </a:r>
          </a:p>
        </p:txBody>
      </p:sp>
      <p:sp>
        <p:nvSpPr>
          <p:cNvPr id="7" name="TextBox 6">
            <a:extLst>
              <a:ext uri="{FF2B5EF4-FFF2-40B4-BE49-F238E27FC236}">
                <a16:creationId xmlns:a16="http://schemas.microsoft.com/office/drawing/2014/main" id="{AA57D65A-57FE-50A9-3F38-DC07104E5DD0}"/>
              </a:ext>
            </a:extLst>
          </p:cNvPr>
          <p:cNvSpPr txBox="1"/>
          <p:nvPr/>
        </p:nvSpPr>
        <p:spPr>
          <a:xfrm>
            <a:off x="1937519" y="1292660"/>
            <a:ext cx="6409575" cy="5016758"/>
          </a:xfrm>
          <a:prstGeom prst="rect">
            <a:avLst/>
          </a:prstGeom>
          <a:noFill/>
        </p:spPr>
        <p:txBody>
          <a:bodyPr wrap="none" rtlCol="0">
            <a:spAutoFit/>
          </a:bodyPr>
          <a:lstStyle/>
          <a:p>
            <a:pPr marL="342900" indent="-342900">
              <a:buFont typeface="Arial" panose="020B0604020202020204" pitchFamily="34" charset="0"/>
              <a:buChar char="•"/>
            </a:pPr>
            <a:r>
              <a:rPr lang="en-US" sz="3200" dirty="0">
                <a:solidFill>
                  <a:schemeClr val="bg1"/>
                </a:solidFill>
                <a:latin typeface="Calibri" panose="020F0502020204030204" pitchFamily="34" charset="0"/>
                <a:ea typeface="Calibri" panose="020F0502020204030204" pitchFamily="34" charset="0"/>
                <a:cs typeface="Calibri" panose="020F0502020204030204" pitchFamily="34" charset="0"/>
              </a:rPr>
              <a:t>Introduction</a:t>
            </a:r>
          </a:p>
          <a:p>
            <a:pPr marL="342900" indent="-342900">
              <a:buFont typeface="Arial" panose="020B0604020202020204" pitchFamily="34" charset="0"/>
              <a:buChar char="•"/>
            </a:pPr>
            <a:r>
              <a:rPr lang="en-US" sz="3200" dirty="0">
                <a:solidFill>
                  <a:schemeClr val="bg1"/>
                </a:solidFill>
                <a:latin typeface="Calibri" panose="020F0502020204030204" pitchFamily="34" charset="0"/>
                <a:ea typeface="Calibri" panose="020F0502020204030204" pitchFamily="34" charset="0"/>
                <a:cs typeface="Calibri" panose="020F0502020204030204" pitchFamily="34" charset="0"/>
              </a:rPr>
              <a:t>Motivation</a:t>
            </a:r>
          </a:p>
          <a:p>
            <a:pPr marL="342900" indent="-342900">
              <a:buFont typeface="Arial" panose="020B0604020202020204" pitchFamily="34" charset="0"/>
              <a:buChar char="•"/>
            </a:pPr>
            <a:r>
              <a:rPr lang="en-US" sz="3200" dirty="0">
                <a:solidFill>
                  <a:schemeClr val="bg1"/>
                </a:solidFill>
                <a:latin typeface="Calibri" panose="020F0502020204030204" pitchFamily="34" charset="0"/>
                <a:ea typeface="Calibri" panose="020F0502020204030204" pitchFamily="34" charset="0"/>
                <a:cs typeface="Calibri" panose="020F0502020204030204" pitchFamily="34" charset="0"/>
              </a:rPr>
              <a:t>Related Works</a:t>
            </a:r>
          </a:p>
          <a:p>
            <a:pPr marL="342900" indent="-342900">
              <a:buFont typeface="Arial" panose="020B0604020202020204" pitchFamily="34" charset="0"/>
              <a:buChar char="•"/>
            </a:pPr>
            <a:r>
              <a:rPr lang="en-US" sz="3200" dirty="0">
                <a:solidFill>
                  <a:schemeClr val="bg1"/>
                </a:solidFill>
                <a:latin typeface="Calibri" panose="020F0502020204030204" pitchFamily="34" charset="0"/>
                <a:ea typeface="Calibri" panose="020F0502020204030204" pitchFamily="34" charset="0"/>
                <a:cs typeface="Calibri" panose="020F0502020204030204" pitchFamily="34" charset="0"/>
              </a:rPr>
              <a:t>Project Objective</a:t>
            </a:r>
          </a:p>
          <a:p>
            <a:pPr marL="342900" indent="-342900">
              <a:buFont typeface="Arial" panose="020B0604020202020204" pitchFamily="34" charset="0"/>
              <a:buChar char="•"/>
            </a:pPr>
            <a:r>
              <a:rPr lang="en-US" sz="3200" dirty="0">
                <a:solidFill>
                  <a:schemeClr val="bg1"/>
                </a:solidFill>
                <a:latin typeface="Calibri" panose="020F0502020204030204" pitchFamily="34" charset="0"/>
                <a:ea typeface="Calibri" panose="020F0502020204030204" pitchFamily="34" charset="0"/>
                <a:cs typeface="Calibri" panose="020F0502020204030204" pitchFamily="34" charset="0"/>
              </a:rPr>
              <a:t>Dataset Preparation</a:t>
            </a:r>
          </a:p>
          <a:p>
            <a:pPr marL="342900" indent="-342900">
              <a:buFont typeface="Arial" panose="020B0604020202020204" pitchFamily="34" charset="0"/>
              <a:buChar char="•"/>
            </a:pPr>
            <a:r>
              <a:rPr lang="en-US" sz="3200" dirty="0">
                <a:solidFill>
                  <a:prstClr val="black"/>
                </a:solidFill>
                <a:latin typeface="Calibri" panose="020F0502020204030204" pitchFamily="34" charset="0"/>
                <a:ea typeface="Calibri" panose="020F0502020204030204" pitchFamily="34" charset="0"/>
                <a:cs typeface="Calibri" panose="020F0502020204030204" pitchFamily="34" charset="0"/>
              </a:rPr>
              <a:t>Model Architecture &amp; Parameters</a:t>
            </a:r>
          </a:p>
          <a:p>
            <a:pPr marL="342900" indent="-342900">
              <a:buFont typeface="Arial" panose="020B0604020202020204" pitchFamily="34" charset="0"/>
              <a:buChar char="•"/>
            </a:pPr>
            <a:r>
              <a:rPr kumimoji="0" lang="en-US" sz="3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Results</a:t>
            </a:r>
          </a:p>
          <a:p>
            <a:pPr marL="342900" indent="-342900">
              <a:buFont typeface="Arial" panose="020B0604020202020204" pitchFamily="34" charset="0"/>
              <a:buChar char="•"/>
            </a:pPr>
            <a:r>
              <a:rPr lang="en-US" sz="3200" dirty="0">
                <a:solidFill>
                  <a:prstClr val="black"/>
                </a:solidFill>
                <a:latin typeface="Calibri" panose="020F0502020204030204" pitchFamily="34" charset="0"/>
                <a:ea typeface="Calibri" panose="020F0502020204030204" pitchFamily="34" charset="0"/>
                <a:cs typeface="Calibri" panose="020F0502020204030204" pitchFamily="34" charset="0"/>
              </a:rPr>
              <a:t>Ablation Study</a:t>
            </a:r>
          </a:p>
          <a:p>
            <a:pPr marL="342900" indent="-342900">
              <a:buFont typeface="Arial" panose="020B0604020202020204" pitchFamily="34" charset="0"/>
              <a:buChar char="•"/>
            </a:pPr>
            <a:r>
              <a:rPr lang="en-US" sz="3200" dirty="0">
                <a:solidFill>
                  <a:prstClr val="black"/>
                </a:solidFill>
                <a:latin typeface="Calibri" panose="020F0502020204030204" pitchFamily="34" charset="0"/>
                <a:ea typeface="Calibri" panose="020F0502020204030204" pitchFamily="34" charset="0"/>
                <a:cs typeface="Calibri" panose="020F0502020204030204" pitchFamily="34" charset="0"/>
              </a:rPr>
              <a:t>Computational Complexity Analysis</a:t>
            </a:r>
          </a:p>
          <a:p>
            <a:pPr marL="342900" indent="-342900">
              <a:buFont typeface="Arial" panose="020B0604020202020204" pitchFamily="34" charset="0"/>
              <a:buChar char="•"/>
            </a:pPr>
            <a:r>
              <a:rPr kumimoji="0" lang="en-US" sz="3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Co</a:t>
            </a:r>
            <a:r>
              <a:rPr lang="en-US" sz="3200" dirty="0" err="1">
                <a:solidFill>
                  <a:prstClr val="black"/>
                </a:solidFill>
                <a:latin typeface="Calibri" panose="020F0502020204030204" pitchFamily="34" charset="0"/>
                <a:ea typeface="Calibri" panose="020F0502020204030204" pitchFamily="34" charset="0"/>
                <a:cs typeface="Calibri" panose="020F0502020204030204" pitchFamily="34" charset="0"/>
              </a:rPr>
              <a:t>nclusion</a:t>
            </a:r>
            <a:r>
              <a:rPr lang="en-US" sz="3200" dirty="0">
                <a:solidFill>
                  <a:prstClr val="black"/>
                </a:solidFill>
                <a:latin typeface="Calibri" panose="020F0502020204030204" pitchFamily="34" charset="0"/>
                <a:ea typeface="Calibri" panose="020F0502020204030204" pitchFamily="34" charset="0"/>
                <a:cs typeface="Calibri" panose="020F0502020204030204" pitchFamily="34" charset="0"/>
              </a:rPr>
              <a:t> &amp; Future Work</a:t>
            </a:r>
            <a:endParaRPr kumimoji="0" lang="en-US" sz="3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9" name="Slide Number Placeholder 8">
            <a:extLst>
              <a:ext uri="{FF2B5EF4-FFF2-40B4-BE49-F238E27FC236}">
                <a16:creationId xmlns:a16="http://schemas.microsoft.com/office/drawing/2014/main" id="{8F4BFFA5-41C0-E856-56B0-D2CDC87452FE}"/>
              </a:ext>
            </a:extLst>
          </p:cNvPr>
          <p:cNvSpPr>
            <a:spLocks noGrp="1"/>
          </p:cNvSpPr>
          <p:nvPr>
            <p:ph type="sldNum" sz="quarter" idx="13"/>
          </p:nvPr>
        </p:nvSpPr>
        <p:spPr/>
        <p:txBody>
          <a:bodyPr/>
          <a:lstStyle/>
          <a:p>
            <a:fld id="{294A09A9-5501-47C1-A89A-A340965A2BE2}" type="slidenum">
              <a:rPr lang="en-US" smtClean="0"/>
              <a:pPr/>
              <a:t>2</a:t>
            </a:fld>
            <a:endParaRPr lang="en-US" dirty="0">
              <a:latin typeface="+mn-lt"/>
            </a:endParaRPr>
          </a:p>
        </p:txBody>
      </p:sp>
    </p:spTree>
    <p:extLst>
      <p:ext uri="{BB962C8B-B14F-4D97-AF65-F5344CB8AC3E}">
        <p14:creationId xmlns:p14="http://schemas.microsoft.com/office/powerpoint/2010/main" val="7925423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278FFC7-BBFA-B186-7CBD-73B4898FB813}"/>
              </a:ext>
            </a:extLst>
          </p:cNvPr>
          <p:cNvSpPr>
            <a:spLocks noGrp="1"/>
          </p:cNvSpPr>
          <p:nvPr>
            <p:ph type="title"/>
          </p:nvPr>
        </p:nvSpPr>
        <p:spPr>
          <a:xfrm>
            <a:off x="4773792" y="328457"/>
            <a:ext cx="3507104" cy="610863"/>
          </a:xfrm>
        </p:spPr>
        <p:txBody>
          <a:bodyPr>
            <a:noAutofit/>
          </a:bodyPr>
          <a:lstStyle/>
          <a:p>
            <a:r>
              <a:rPr lang="en-US" dirty="0"/>
              <a:t>Introduction</a:t>
            </a:r>
          </a:p>
        </p:txBody>
      </p:sp>
      <p:sp>
        <p:nvSpPr>
          <p:cNvPr id="15" name="Slide Number Placeholder 14">
            <a:extLst>
              <a:ext uri="{FF2B5EF4-FFF2-40B4-BE49-F238E27FC236}">
                <a16:creationId xmlns:a16="http://schemas.microsoft.com/office/drawing/2014/main" id="{B5A1E1EC-CA5C-A5F4-3015-4D2C902E7495}"/>
              </a:ext>
            </a:extLst>
          </p:cNvPr>
          <p:cNvSpPr>
            <a:spLocks noGrp="1"/>
          </p:cNvSpPr>
          <p:nvPr>
            <p:ph type="sldNum" sz="quarter" idx="13"/>
          </p:nvPr>
        </p:nvSpPr>
        <p:spPr/>
        <p:txBody>
          <a:bodyPr/>
          <a:lstStyle/>
          <a:p>
            <a:fld id="{294A09A9-5501-47C1-A89A-A340965A2BE2}" type="slidenum">
              <a:rPr lang="en-US" smtClean="0"/>
              <a:pPr/>
              <a:t>3</a:t>
            </a:fld>
            <a:endParaRPr lang="en-US" dirty="0">
              <a:latin typeface="+mn-lt"/>
            </a:endParaRPr>
          </a:p>
        </p:txBody>
      </p:sp>
      <p:sp>
        <p:nvSpPr>
          <p:cNvPr id="41" name="TextBox 40">
            <a:extLst>
              <a:ext uri="{FF2B5EF4-FFF2-40B4-BE49-F238E27FC236}">
                <a16:creationId xmlns:a16="http://schemas.microsoft.com/office/drawing/2014/main" id="{06EB600C-B866-0C57-B0BE-A4DE1F6F66D4}"/>
              </a:ext>
            </a:extLst>
          </p:cNvPr>
          <p:cNvSpPr txBox="1"/>
          <p:nvPr/>
        </p:nvSpPr>
        <p:spPr>
          <a:xfrm>
            <a:off x="971551" y="946545"/>
            <a:ext cx="10640228" cy="3785652"/>
          </a:xfrm>
          <a:prstGeom prst="rect">
            <a:avLst/>
          </a:prstGeom>
          <a:noFill/>
        </p:spPr>
        <p:txBody>
          <a:bodyPr wrap="square" rtlCol="0">
            <a:spAutoFit/>
          </a:bodyPr>
          <a:lstStyle/>
          <a:p>
            <a:pPr algn="just"/>
            <a:r>
              <a:rPr lang="en-US" sz="3200" b="1" dirty="0">
                <a:solidFill>
                  <a:srgbClr val="C00000"/>
                </a:solidFill>
                <a:latin typeface="Calibri" panose="020F0502020204030204" pitchFamily="34" charset="0"/>
                <a:ea typeface="Calibri" panose="020F0502020204030204" pitchFamily="34" charset="0"/>
                <a:cs typeface="Calibri" panose="020F0502020204030204" pitchFamily="34" charset="0"/>
              </a:rPr>
              <a:t>What is DOA Estimation?</a:t>
            </a:r>
          </a:p>
          <a:p>
            <a:pPr algn="just"/>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DOA estimation is the process of determining the angle at which signals arrive at an array of sensors or antennas.</a:t>
            </a:r>
            <a:endParaRPr lang="en-US" sz="1500" dirty="0">
              <a:latin typeface="Calibri" panose="020F0502020204030204" pitchFamily="34" charset="0"/>
              <a:ea typeface="Calibri" panose="020F0502020204030204" pitchFamily="34" charset="0"/>
              <a:cs typeface="Calibri" panose="020F0502020204030204" pitchFamily="34" charset="0"/>
            </a:endParaRPr>
          </a:p>
          <a:p>
            <a:pPr algn="just"/>
            <a:r>
              <a:rPr lang="en-US" sz="3200" b="1" dirty="0">
                <a:solidFill>
                  <a:srgbClr val="C00000"/>
                </a:solidFill>
                <a:latin typeface="Calibri" panose="020F0502020204030204" pitchFamily="34" charset="0"/>
                <a:ea typeface="Calibri" panose="020F0502020204030204" pitchFamily="34" charset="0"/>
                <a:cs typeface="Calibri" panose="020F0502020204030204" pitchFamily="34" charset="0"/>
              </a:rPr>
              <a:t>Key Applications of DOA Estimation:</a:t>
            </a:r>
          </a:p>
          <a:p>
            <a:pPr algn="just"/>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Radar Systems, Sonar Systems: Vital in underwater object detection, navigation, and exploration, Wireless Communications, Autonomous Vehicles:</a:t>
            </a:r>
            <a:endParaRPr lang="en-US" sz="1500" dirty="0">
              <a:latin typeface="Calibri" panose="020F0502020204030204" pitchFamily="34" charset="0"/>
              <a:ea typeface="Calibri" panose="020F0502020204030204" pitchFamily="34" charset="0"/>
              <a:cs typeface="Calibri" panose="020F0502020204030204" pitchFamily="34" charset="0"/>
            </a:endParaRPr>
          </a:p>
          <a:p>
            <a:pPr algn="just"/>
            <a:r>
              <a:rPr lang="en-US" sz="3200" b="1" dirty="0">
                <a:solidFill>
                  <a:srgbClr val="C00000"/>
                </a:solidFill>
                <a:latin typeface="Calibri" panose="020F0502020204030204" pitchFamily="34" charset="0"/>
                <a:ea typeface="Calibri" panose="020F0502020204030204" pitchFamily="34" charset="0"/>
                <a:cs typeface="Calibri" panose="020F0502020204030204" pitchFamily="34" charset="0"/>
              </a:rPr>
              <a:t>Challenges in DOA Estimation:</a:t>
            </a:r>
          </a:p>
          <a:p>
            <a:pPr algn="just"/>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Processing signals from large arrays demands significant computational power.</a:t>
            </a:r>
          </a:p>
          <a:p>
            <a:pPr algn="just"/>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Noise and Interference, Model Mismatch. </a:t>
            </a:r>
          </a:p>
        </p:txBody>
      </p:sp>
      <p:grpSp>
        <p:nvGrpSpPr>
          <p:cNvPr id="42" name="Group 41">
            <a:extLst>
              <a:ext uri="{FF2B5EF4-FFF2-40B4-BE49-F238E27FC236}">
                <a16:creationId xmlns:a16="http://schemas.microsoft.com/office/drawing/2014/main" id="{F1B1DE21-9BE6-2E91-CE31-BF9520C218BE}"/>
              </a:ext>
            </a:extLst>
          </p:cNvPr>
          <p:cNvGrpSpPr/>
          <p:nvPr/>
        </p:nvGrpSpPr>
        <p:grpSpPr>
          <a:xfrm>
            <a:off x="6445679" y="4608135"/>
            <a:ext cx="4256410" cy="1724085"/>
            <a:chOff x="5105391" y="4696802"/>
            <a:chExt cx="3766820" cy="1459871"/>
          </a:xfrm>
        </p:grpSpPr>
        <p:pic>
          <p:nvPicPr>
            <p:cNvPr id="43" name="Picture 42" descr="A black and white outline of a window&#10;&#10;Description automatically generated">
              <a:extLst>
                <a:ext uri="{FF2B5EF4-FFF2-40B4-BE49-F238E27FC236}">
                  <a16:creationId xmlns:a16="http://schemas.microsoft.com/office/drawing/2014/main" id="{BEE4C9C0-E3F0-943F-2242-4A530C8DB81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59221" y="4921151"/>
              <a:ext cx="669368" cy="859791"/>
            </a:xfrm>
            <a:prstGeom prst="rect">
              <a:avLst/>
            </a:prstGeom>
          </p:spPr>
        </p:pic>
        <p:pic>
          <p:nvPicPr>
            <p:cNvPr id="44" name="Picture 43" descr="A silhouette of a person holding a sink&#10;&#10;Description automatically generated">
              <a:extLst>
                <a:ext uri="{FF2B5EF4-FFF2-40B4-BE49-F238E27FC236}">
                  <a16:creationId xmlns:a16="http://schemas.microsoft.com/office/drawing/2014/main" id="{54A04499-2756-7AC0-B8CF-CFCD155CC47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05391" y="5333713"/>
              <a:ext cx="507660" cy="822960"/>
            </a:xfrm>
            <a:prstGeom prst="rect">
              <a:avLst/>
            </a:prstGeom>
          </p:spPr>
        </p:pic>
        <p:pic>
          <p:nvPicPr>
            <p:cNvPr id="45" name="Picture 44" descr="A person standing next to a door&#10;&#10;Description automatically generated">
              <a:extLst>
                <a:ext uri="{FF2B5EF4-FFF2-40B4-BE49-F238E27FC236}">
                  <a16:creationId xmlns:a16="http://schemas.microsoft.com/office/drawing/2014/main" id="{8EE05587-EE81-6EFE-0745-46D7CC799EE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28715" y="5116473"/>
              <a:ext cx="843718" cy="1040200"/>
            </a:xfrm>
            <a:prstGeom prst="rect">
              <a:avLst/>
            </a:prstGeom>
          </p:spPr>
        </p:pic>
        <p:grpSp>
          <p:nvGrpSpPr>
            <p:cNvPr id="46" name="Group 45">
              <a:extLst>
                <a:ext uri="{FF2B5EF4-FFF2-40B4-BE49-F238E27FC236}">
                  <a16:creationId xmlns:a16="http://schemas.microsoft.com/office/drawing/2014/main" id="{C1599F0A-A8CC-1313-C51F-F9D89AA3D614}"/>
                </a:ext>
              </a:extLst>
            </p:cNvPr>
            <p:cNvGrpSpPr/>
            <p:nvPr/>
          </p:nvGrpSpPr>
          <p:grpSpPr>
            <a:xfrm>
              <a:off x="7288040" y="5095877"/>
              <a:ext cx="978224" cy="1023723"/>
              <a:chOff x="3070537" y="4725392"/>
              <a:chExt cx="978224" cy="1023723"/>
            </a:xfrm>
          </p:grpSpPr>
          <p:pic>
            <p:nvPicPr>
              <p:cNvPr id="61" name="Picture 60" descr="A person walking up the stairs&#10;&#10;Description automatically generated">
                <a:extLst>
                  <a:ext uri="{FF2B5EF4-FFF2-40B4-BE49-F238E27FC236}">
                    <a16:creationId xmlns:a16="http://schemas.microsoft.com/office/drawing/2014/main" id="{F1638E66-5A02-23C7-4203-5A2EEC18392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070537" y="4725392"/>
                <a:ext cx="978224" cy="1023723"/>
              </a:xfrm>
              <a:prstGeom prst="rect">
                <a:avLst/>
              </a:prstGeom>
            </p:spPr>
          </p:pic>
          <p:cxnSp>
            <p:nvCxnSpPr>
              <p:cNvPr id="62" name="Straight Connector 61">
                <a:extLst>
                  <a:ext uri="{FF2B5EF4-FFF2-40B4-BE49-F238E27FC236}">
                    <a16:creationId xmlns:a16="http://schemas.microsoft.com/office/drawing/2014/main" id="{6554F6E5-6C79-BE6A-533E-C2B633902FEE}"/>
                  </a:ext>
                </a:extLst>
              </p:cNvPr>
              <p:cNvCxnSpPr>
                <a:cxnSpLocks/>
              </p:cNvCxnSpPr>
              <p:nvPr/>
            </p:nvCxnSpPr>
            <p:spPr>
              <a:xfrm flipV="1">
                <a:off x="3149600" y="4854026"/>
                <a:ext cx="665480" cy="550343"/>
              </a:xfrm>
              <a:prstGeom prst="line">
                <a:avLst/>
              </a:prstGeom>
              <a:ln w="38100"/>
            </p:spPr>
            <p:style>
              <a:lnRef idx="1">
                <a:schemeClr val="dk1"/>
              </a:lnRef>
              <a:fillRef idx="0">
                <a:schemeClr val="dk1"/>
              </a:fillRef>
              <a:effectRef idx="0">
                <a:schemeClr val="dk1"/>
              </a:effectRef>
              <a:fontRef idx="minor">
                <a:schemeClr val="tx1"/>
              </a:fontRef>
            </p:style>
          </p:cxnSp>
          <p:cxnSp>
            <p:nvCxnSpPr>
              <p:cNvPr id="63" name="Straight Connector 62">
                <a:extLst>
                  <a:ext uri="{FF2B5EF4-FFF2-40B4-BE49-F238E27FC236}">
                    <a16:creationId xmlns:a16="http://schemas.microsoft.com/office/drawing/2014/main" id="{1F465CD4-2A24-A8E0-A071-45145ED549C0}"/>
                  </a:ext>
                </a:extLst>
              </p:cNvPr>
              <p:cNvCxnSpPr>
                <a:cxnSpLocks/>
              </p:cNvCxnSpPr>
              <p:nvPr/>
            </p:nvCxnSpPr>
            <p:spPr>
              <a:xfrm>
                <a:off x="3802380" y="4857664"/>
                <a:ext cx="190183" cy="0"/>
              </a:xfrm>
              <a:prstGeom prst="line">
                <a:avLst/>
              </a:prstGeom>
              <a:ln w="38100"/>
            </p:spPr>
            <p:style>
              <a:lnRef idx="1">
                <a:schemeClr val="dk1"/>
              </a:lnRef>
              <a:fillRef idx="0">
                <a:schemeClr val="dk1"/>
              </a:fillRef>
              <a:effectRef idx="0">
                <a:schemeClr val="dk1"/>
              </a:effectRef>
              <a:fontRef idx="minor">
                <a:schemeClr val="tx1"/>
              </a:fontRef>
            </p:style>
          </p:cxnSp>
          <p:cxnSp>
            <p:nvCxnSpPr>
              <p:cNvPr id="64" name="Straight Connector 63">
                <a:extLst>
                  <a:ext uri="{FF2B5EF4-FFF2-40B4-BE49-F238E27FC236}">
                    <a16:creationId xmlns:a16="http://schemas.microsoft.com/office/drawing/2014/main" id="{293529C3-8A58-D2DD-C78F-5D9725DA3C53}"/>
                  </a:ext>
                </a:extLst>
              </p:cNvPr>
              <p:cNvCxnSpPr>
                <a:cxnSpLocks/>
              </p:cNvCxnSpPr>
              <p:nvPr/>
            </p:nvCxnSpPr>
            <p:spPr>
              <a:xfrm>
                <a:off x="3814179" y="4854136"/>
                <a:ext cx="0" cy="252852"/>
              </a:xfrm>
              <a:prstGeom prst="line">
                <a:avLst/>
              </a:prstGeom>
              <a:ln w="38100"/>
            </p:spPr>
            <p:style>
              <a:lnRef idx="1">
                <a:schemeClr val="dk1"/>
              </a:lnRef>
              <a:fillRef idx="0">
                <a:schemeClr val="dk1"/>
              </a:fillRef>
              <a:effectRef idx="0">
                <a:schemeClr val="dk1"/>
              </a:effectRef>
              <a:fontRef idx="minor">
                <a:schemeClr val="tx1"/>
              </a:fontRef>
            </p:style>
          </p:cxnSp>
          <p:cxnSp>
            <p:nvCxnSpPr>
              <p:cNvPr id="65" name="Straight Connector 64">
                <a:extLst>
                  <a:ext uri="{FF2B5EF4-FFF2-40B4-BE49-F238E27FC236}">
                    <a16:creationId xmlns:a16="http://schemas.microsoft.com/office/drawing/2014/main" id="{C97BF9F3-8685-00C8-EBDC-51C38D49A24C}"/>
                  </a:ext>
                </a:extLst>
              </p:cNvPr>
              <p:cNvCxnSpPr>
                <a:cxnSpLocks/>
              </p:cNvCxnSpPr>
              <p:nvPr/>
            </p:nvCxnSpPr>
            <p:spPr>
              <a:xfrm>
                <a:off x="3679241" y="4980562"/>
                <a:ext cx="0" cy="282001"/>
              </a:xfrm>
              <a:prstGeom prst="line">
                <a:avLst/>
              </a:prstGeom>
              <a:ln w="38100"/>
            </p:spPr>
            <p:style>
              <a:lnRef idx="1">
                <a:schemeClr val="dk1"/>
              </a:lnRef>
              <a:fillRef idx="0">
                <a:schemeClr val="dk1"/>
              </a:fillRef>
              <a:effectRef idx="0">
                <a:schemeClr val="dk1"/>
              </a:effectRef>
              <a:fontRef idx="minor">
                <a:schemeClr val="tx1"/>
              </a:fontRef>
            </p:style>
          </p:cxnSp>
          <p:cxnSp>
            <p:nvCxnSpPr>
              <p:cNvPr id="66" name="Straight Connector 65">
                <a:extLst>
                  <a:ext uri="{FF2B5EF4-FFF2-40B4-BE49-F238E27FC236}">
                    <a16:creationId xmlns:a16="http://schemas.microsoft.com/office/drawing/2014/main" id="{09C3783B-E859-5E03-70C8-505811622731}"/>
                  </a:ext>
                </a:extLst>
              </p:cNvPr>
              <p:cNvCxnSpPr>
                <a:cxnSpLocks/>
              </p:cNvCxnSpPr>
              <p:nvPr/>
            </p:nvCxnSpPr>
            <p:spPr>
              <a:xfrm>
                <a:off x="3210929" y="5367912"/>
                <a:ext cx="0" cy="302638"/>
              </a:xfrm>
              <a:prstGeom prst="line">
                <a:avLst/>
              </a:prstGeom>
              <a:ln w="38100"/>
            </p:spPr>
            <p:style>
              <a:lnRef idx="1">
                <a:schemeClr val="dk1"/>
              </a:lnRef>
              <a:fillRef idx="0">
                <a:schemeClr val="dk1"/>
              </a:fillRef>
              <a:effectRef idx="0">
                <a:schemeClr val="dk1"/>
              </a:effectRef>
              <a:fontRef idx="minor">
                <a:schemeClr val="tx1"/>
              </a:fontRef>
            </p:style>
          </p:cxnSp>
        </p:grpSp>
        <p:cxnSp>
          <p:nvCxnSpPr>
            <p:cNvPr id="47" name="Straight Connector 46">
              <a:extLst>
                <a:ext uri="{FF2B5EF4-FFF2-40B4-BE49-F238E27FC236}">
                  <a16:creationId xmlns:a16="http://schemas.microsoft.com/office/drawing/2014/main" id="{D35AAE85-2BB7-2515-A991-28B813251881}"/>
                </a:ext>
              </a:extLst>
            </p:cNvPr>
            <p:cNvCxnSpPr>
              <a:cxnSpLocks/>
            </p:cNvCxnSpPr>
            <p:nvPr/>
          </p:nvCxnSpPr>
          <p:spPr>
            <a:xfrm>
              <a:off x="5118330" y="6133465"/>
              <a:ext cx="3753881" cy="3866"/>
            </a:xfrm>
            <a:prstGeom prst="line">
              <a:avLst/>
            </a:prstGeom>
            <a:ln w="12700"/>
          </p:spPr>
          <p:style>
            <a:lnRef idx="1">
              <a:schemeClr val="dk1"/>
            </a:lnRef>
            <a:fillRef idx="0">
              <a:schemeClr val="dk1"/>
            </a:fillRef>
            <a:effectRef idx="0">
              <a:schemeClr val="dk1"/>
            </a:effectRef>
            <a:fontRef idx="minor">
              <a:schemeClr val="tx1"/>
            </a:fontRef>
          </p:style>
        </p:cxnSp>
        <p:sp>
          <p:nvSpPr>
            <p:cNvPr id="48" name="Oval 47">
              <a:extLst>
                <a:ext uri="{FF2B5EF4-FFF2-40B4-BE49-F238E27FC236}">
                  <a16:creationId xmlns:a16="http://schemas.microsoft.com/office/drawing/2014/main" id="{B2971FE7-AFE4-117E-C243-DD61D89041FD}"/>
                </a:ext>
              </a:extLst>
            </p:cNvPr>
            <p:cNvSpPr/>
            <p:nvPr/>
          </p:nvSpPr>
          <p:spPr>
            <a:xfrm>
              <a:off x="6145409" y="5559054"/>
              <a:ext cx="97367" cy="97367"/>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A7BCB129-6589-7AEC-9F98-51401D47BE78}"/>
                </a:ext>
              </a:extLst>
            </p:cNvPr>
            <p:cNvSpPr/>
            <p:nvPr/>
          </p:nvSpPr>
          <p:spPr>
            <a:xfrm>
              <a:off x="5479588" y="5636222"/>
              <a:ext cx="97367" cy="97367"/>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A1D68FE0-C6BC-4735-ED79-1034C975884C}"/>
                </a:ext>
              </a:extLst>
            </p:cNvPr>
            <p:cNvSpPr/>
            <p:nvPr/>
          </p:nvSpPr>
          <p:spPr>
            <a:xfrm>
              <a:off x="7612829" y="5351046"/>
              <a:ext cx="97367" cy="97367"/>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cxnSp>
          <p:nvCxnSpPr>
            <p:cNvPr id="51" name="Connector: Curved 50">
              <a:extLst>
                <a:ext uri="{FF2B5EF4-FFF2-40B4-BE49-F238E27FC236}">
                  <a16:creationId xmlns:a16="http://schemas.microsoft.com/office/drawing/2014/main" id="{4150B3C0-F6F2-BDD5-6BE7-7DD97AD94B49}"/>
                </a:ext>
              </a:extLst>
            </p:cNvPr>
            <p:cNvCxnSpPr>
              <a:cxnSpLocks/>
            </p:cNvCxnSpPr>
            <p:nvPr/>
          </p:nvCxnSpPr>
          <p:spPr>
            <a:xfrm flipV="1">
              <a:off x="5528271" y="5789626"/>
              <a:ext cx="561647" cy="105611"/>
            </a:xfrm>
            <a:prstGeom prst="curvedConnector3">
              <a:avLst>
                <a:gd name="adj1" fmla="val 48493"/>
              </a:avLst>
            </a:prstGeom>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52" name="Connector: Curved 51">
              <a:extLst>
                <a:ext uri="{FF2B5EF4-FFF2-40B4-BE49-F238E27FC236}">
                  <a16:creationId xmlns:a16="http://schemas.microsoft.com/office/drawing/2014/main" id="{D4AD5D2D-F4A6-E4C0-E8E3-2648468E7C62}"/>
                </a:ext>
              </a:extLst>
            </p:cNvPr>
            <p:cNvCxnSpPr/>
            <p:nvPr/>
          </p:nvCxnSpPr>
          <p:spPr>
            <a:xfrm>
              <a:off x="6242776" y="5789626"/>
              <a:ext cx="701575" cy="168831"/>
            </a:xfrm>
            <a:prstGeom prst="curvedConnector3">
              <a:avLst/>
            </a:prstGeom>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53" name="Connector: Curved 52">
              <a:extLst>
                <a:ext uri="{FF2B5EF4-FFF2-40B4-BE49-F238E27FC236}">
                  <a16:creationId xmlns:a16="http://schemas.microsoft.com/office/drawing/2014/main" id="{39880B75-8CEA-D806-C926-733E4C492A0E}"/>
                </a:ext>
              </a:extLst>
            </p:cNvPr>
            <p:cNvCxnSpPr>
              <a:cxnSpLocks/>
            </p:cNvCxnSpPr>
            <p:nvPr/>
          </p:nvCxnSpPr>
          <p:spPr>
            <a:xfrm flipV="1">
              <a:off x="6912847" y="5537692"/>
              <a:ext cx="699982" cy="420533"/>
            </a:xfrm>
            <a:prstGeom prst="curvedConnector3">
              <a:avLst>
                <a:gd name="adj1" fmla="val 50000"/>
              </a:avLst>
            </a:prstGeom>
            <a:ln w="19050">
              <a:solidFill>
                <a:srgbClr val="FFC000"/>
              </a:solidFill>
            </a:ln>
          </p:spPr>
          <p:style>
            <a:lnRef idx="1">
              <a:schemeClr val="accent1"/>
            </a:lnRef>
            <a:fillRef idx="0">
              <a:schemeClr val="accent1"/>
            </a:fillRef>
            <a:effectRef idx="0">
              <a:schemeClr val="accent1"/>
            </a:effectRef>
            <a:fontRef idx="minor">
              <a:schemeClr val="tx1"/>
            </a:fontRef>
          </p:style>
        </p:cxnSp>
        <p:sp>
          <p:nvSpPr>
            <p:cNvPr id="54" name="Rectangle 53">
              <a:extLst>
                <a:ext uri="{FF2B5EF4-FFF2-40B4-BE49-F238E27FC236}">
                  <a16:creationId xmlns:a16="http://schemas.microsoft.com/office/drawing/2014/main" id="{F61190AE-D544-6B5A-EE02-866A7B9ABCF4}"/>
                </a:ext>
              </a:extLst>
            </p:cNvPr>
            <p:cNvSpPr/>
            <p:nvPr/>
          </p:nvSpPr>
          <p:spPr>
            <a:xfrm rot="16200000">
              <a:off x="6462927" y="4580196"/>
              <a:ext cx="120766" cy="35397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5" name="Straight Connector 54">
              <a:extLst>
                <a:ext uri="{FF2B5EF4-FFF2-40B4-BE49-F238E27FC236}">
                  <a16:creationId xmlns:a16="http://schemas.microsoft.com/office/drawing/2014/main" id="{31881A0D-B2CE-58B0-4499-628E90BDF44E}"/>
                </a:ext>
              </a:extLst>
            </p:cNvPr>
            <p:cNvCxnSpPr>
              <a:cxnSpLocks/>
            </p:cNvCxnSpPr>
            <p:nvPr/>
          </p:nvCxnSpPr>
          <p:spPr>
            <a:xfrm flipV="1">
              <a:off x="5479588" y="4822546"/>
              <a:ext cx="849614" cy="625867"/>
            </a:xfrm>
            <a:prstGeom prst="line">
              <a:avLst/>
            </a:prstGeom>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4DB4EACA-B666-E3E1-541C-83D318830B8C}"/>
                </a:ext>
              </a:extLst>
            </p:cNvPr>
            <p:cNvCxnSpPr>
              <a:cxnSpLocks/>
            </p:cNvCxnSpPr>
            <p:nvPr/>
          </p:nvCxnSpPr>
          <p:spPr>
            <a:xfrm flipV="1">
              <a:off x="5493163" y="4958437"/>
              <a:ext cx="998436" cy="482108"/>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349F8313-A90D-3258-7B3F-82014A705715}"/>
                </a:ext>
              </a:extLst>
            </p:cNvPr>
            <p:cNvCxnSpPr>
              <a:cxnSpLocks/>
            </p:cNvCxnSpPr>
            <p:nvPr/>
          </p:nvCxnSpPr>
          <p:spPr>
            <a:xfrm flipV="1">
              <a:off x="6397644" y="5007175"/>
              <a:ext cx="84657" cy="444338"/>
            </a:xfrm>
            <a:prstGeom prst="line">
              <a:avLst/>
            </a:prstGeom>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B4FCEC44-D11F-5F2C-218D-618FFB17DBAE}"/>
                </a:ext>
              </a:extLst>
            </p:cNvPr>
            <p:cNvCxnSpPr>
              <a:cxnSpLocks/>
            </p:cNvCxnSpPr>
            <p:nvPr/>
          </p:nvCxnSpPr>
          <p:spPr>
            <a:xfrm flipV="1">
              <a:off x="6394469" y="5021916"/>
              <a:ext cx="232067" cy="447882"/>
            </a:xfrm>
            <a:prstGeom prst="line">
              <a:avLst/>
            </a:prstGeom>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7B3B91B7-63F7-86EB-56CE-BBF98BF15E89}"/>
                </a:ext>
              </a:extLst>
            </p:cNvPr>
            <p:cNvCxnSpPr>
              <a:cxnSpLocks/>
            </p:cNvCxnSpPr>
            <p:nvPr/>
          </p:nvCxnSpPr>
          <p:spPr>
            <a:xfrm flipH="1" flipV="1">
              <a:off x="6572213" y="4916783"/>
              <a:ext cx="1040616" cy="280463"/>
            </a:xfrm>
            <a:prstGeom prst="line">
              <a:avLst/>
            </a:prstGeom>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4A5B0F4D-9B01-9E79-69A7-9563F33977C4}"/>
                </a:ext>
              </a:extLst>
            </p:cNvPr>
            <p:cNvCxnSpPr>
              <a:cxnSpLocks/>
              <a:endCxn id="54" idx="2"/>
            </p:cNvCxnSpPr>
            <p:nvPr/>
          </p:nvCxnSpPr>
          <p:spPr>
            <a:xfrm flipH="1" flipV="1">
              <a:off x="6700299" y="4757185"/>
              <a:ext cx="912530" cy="440217"/>
            </a:xfrm>
            <a:prstGeom prst="line">
              <a:avLst/>
            </a:prstGeom>
          </p:spPr>
          <p:style>
            <a:lnRef idx="1">
              <a:schemeClr val="accent1"/>
            </a:lnRef>
            <a:fillRef idx="0">
              <a:schemeClr val="accent1"/>
            </a:fillRef>
            <a:effectRef idx="0">
              <a:schemeClr val="accent1"/>
            </a:effectRef>
            <a:fontRef idx="minor">
              <a:schemeClr val="tx1"/>
            </a:fontRef>
          </p:style>
        </p:cxnSp>
      </p:grpSp>
      <p:pic>
        <p:nvPicPr>
          <p:cNvPr id="67" name="Picture 66" descr="Electronics | Free Full-Text | An Overview of Direction-of-Arrival  Estimation Methods Using Adaptive Directional Time-Frequency Distributions">
            <a:extLst>
              <a:ext uri="{FF2B5EF4-FFF2-40B4-BE49-F238E27FC236}">
                <a16:creationId xmlns:a16="http://schemas.microsoft.com/office/drawing/2014/main" id="{C56DBF8C-8B19-8AAA-27A7-1BEE821C287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99030" y="4666337"/>
            <a:ext cx="3242302" cy="1859386"/>
          </a:xfrm>
          <a:prstGeom prst="rect">
            <a:avLst/>
          </a:prstGeom>
          <a:noFill/>
          <a:extLst>
            <a:ext uri="{909E8E84-426E-40DD-AFC4-6F175D3DCCD1}">
              <a14:hiddenFill xmlns:a14="http://schemas.microsoft.com/office/drawing/2010/main">
                <a:solidFill>
                  <a:srgbClr val="FFFFFF"/>
                </a:solidFill>
              </a14:hiddenFill>
            </a:ext>
          </a:extLst>
        </p:spPr>
      </p:pic>
      <p:pic>
        <p:nvPicPr>
          <p:cNvPr id="68" name="Graphic 67" descr="Checkmark with solid fill">
            <a:extLst>
              <a:ext uri="{FF2B5EF4-FFF2-40B4-BE49-F238E27FC236}">
                <a16:creationId xmlns:a16="http://schemas.microsoft.com/office/drawing/2014/main" id="{6C7F0168-12C7-00E2-EC86-095B9F2B5EE2}"/>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49019" y="2351637"/>
            <a:ext cx="311993" cy="336322"/>
          </a:xfrm>
          <a:prstGeom prst="rect">
            <a:avLst/>
          </a:prstGeom>
        </p:spPr>
      </p:pic>
      <p:pic>
        <p:nvPicPr>
          <p:cNvPr id="69" name="Graphic 68" descr="Checkmark with solid fill">
            <a:extLst>
              <a:ext uri="{FF2B5EF4-FFF2-40B4-BE49-F238E27FC236}">
                <a16:creationId xmlns:a16="http://schemas.microsoft.com/office/drawing/2014/main" id="{DEE61D0B-2901-E72E-6045-C44910B5B2BF}"/>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35472" y="1100353"/>
            <a:ext cx="311993" cy="336322"/>
          </a:xfrm>
          <a:prstGeom prst="rect">
            <a:avLst/>
          </a:prstGeom>
        </p:spPr>
      </p:pic>
      <p:pic>
        <p:nvPicPr>
          <p:cNvPr id="70" name="Graphic 69" descr="Checkmark with solid fill">
            <a:extLst>
              <a:ext uri="{FF2B5EF4-FFF2-40B4-BE49-F238E27FC236}">
                <a16:creationId xmlns:a16="http://schemas.microsoft.com/office/drawing/2014/main" id="{40838DA1-131F-C5D0-32FC-618329748728}"/>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54288" y="3507206"/>
            <a:ext cx="311993" cy="336322"/>
          </a:xfrm>
          <a:prstGeom prst="rect">
            <a:avLst/>
          </a:prstGeom>
        </p:spPr>
      </p:pic>
    </p:spTree>
    <p:extLst>
      <p:ext uri="{BB962C8B-B14F-4D97-AF65-F5344CB8AC3E}">
        <p14:creationId xmlns:p14="http://schemas.microsoft.com/office/powerpoint/2010/main" val="3642468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BA6FCFE-74DE-38D6-A07E-BC94D81DE390}"/>
              </a:ext>
            </a:extLst>
          </p:cNvPr>
          <p:cNvSpPr>
            <a:spLocks noGrp="1"/>
          </p:cNvSpPr>
          <p:nvPr>
            <p:ph type="title"/>
          </p:nvPr>
        </p:nvSpPr>
        <p:spPr>
          <a:xfrm>
            <a:off x="4778988" y="172694"/>
            <a:ext cx="2836217" cy="610863"/>
          </a:xfrm>
        </p:spPr>
        <p:txBody>
          <a:bodyPr>
            <a:normAutofit/>
          </a:bodyPr>
          <a:lstStyle/>
          <a:p>
            <a:pPr algn="ctr"/>
            <a:r>
              <a:rPr lang="en-US" dirty="0">
                <a:latin typeface="Calibri" panose="020F0502020204030204" pitchFamily="34" charset="0"/>
                <a:ea typeface="Calibri" panose="020F0502020204030204" pitchFamily="34" charset="0"/>
                <a:cs typeface="Calibri" panose="020F0502020204030204" pitchFamily="34" charset="0"/>
              </a:rPr>
              <a:t>Motivation</a:t>
            </a:r>
          </a:p>
        </p:txBody>
      </p:sp>
      <p:sp>
        <p:nvSpPr>
          <p:cNvPr id="9" name="Slide Number Placeholder 8">
            <a:extLst>
              <a:ext uri="{FF2B5EF4-FFF2-40B4-BE49-F238E27FC236}">
                <a16:creationId xmlns:a16="http://schemas.microsoft.com/office/drawing/2014/main" id="{CA52D462-F393-E15D-A6FC-83385DD41C10}"/>
              </a:ext>
            </a:extLst>
          </p:cNvPr>
          <p:cNvSpPr>
            <a:spLocks noGrp="1"/>
          </p:cNvSpPr>
          <p:nvPr>
            <p:ph type="sldNum" sz="quarter" idx="13"/>
          </p:nvPr>
        </p:nvSpPr>
        <p:spPr/>
        <p:txBody>
          <a:bodyPr/>
          <a:lstStyle/>
          <a:p>
            <a:fld id="{294A09A9-5501-47C1-A89A-A340965A2BE2}" type="slidenum">
              <a:rPr lang="en-US" smtClean="0"/>
              <a:pPr/>
              <a:t>4</a:t>
            </a:fld>
            <a:endParaRPr lang="en-US" dirty="0">
              <a:latin typeface="+mn-lt"/>
            </a:endParaRPr>
          </a:p>
        </p:txBody>
      </p:sp>
      <p:sp>
        <p:nvSpPr>
          <p:cNvPr id="6" name="TextBox 5">
            <a:extLst>
              <a:ext uri="{FF2B5EF4-FFF2-40B4-BE49-F238E27FC236}">
                <a16:creationId xmlns:a16="http://schemas.microsoft.com/office/drawing/2014/main" id="{76F2B9BA-1879-AF6A-D401-3FCCFCB81EA1}"/>
              </a:ext>
            </a:extLst>
          </p:cNvPr>
          <p:cNvSpPr txBox="1"/>
          <p:nvPr/>
        </p:nvSpPr>
        <p:spPr>
          <a:xfrm>
            <a:off x="788069" y="837348"/>
            <a:ext cx="10798341" cy="4031873"/>
          </a:xfrm>
          <a:prstGeom prst="rect">
            <a:avLst/>
          </a:prstGeom>
          <a:noFill/>
        </p:spPr>
        <p:txBody>
          <a:bodyPr wrap="square" rtlCol="0">
            <a:spAutoFit/>
          </a:bodyPr>
          <a:lstStyle/>
          <a:p>
            <a:pPr algn="just"/>
            <a:r>
              <a:rPr lang="en-US" sz="3200" b="1" dirty="0">
                <a:solidFill>
                  <a:srgbClr val="C00000"/>
                </a:solidFill>
                <a:latin typeface="Calibri" panose="020F0502020204030204" pitchFamily="34" charset="0"/>
                <a:ea typeface="Calibri" panose="020F0502020204030204" pitchFamily="34" charset="0"/>
                <a:cs typeface="Calibri" panose="020F0502020204030204" pitchFamily="34" charset="0"/>
              </a:rPr>
              <a:t>Limitations of Traditional Methods:</a:t>
            </a:r>
            <a:endParaRPr lang="en-US" sz="3200" dirty="0">
              <a:latin typeface="Calibri" panose="020F0502020204030204" pitchFamily="34" charset="0"/>
              <a:ea typeface="Calibri" panose="020F0502020204030204" pitchFamily="34" charset="0"/>
              <a:cs typeface="Calibri" panose="020F0502020204030204" pitchFamily="34" charset="0"/>
            </a:endParaRPr>
          </a:p>
          <a:p>
            <a:pPr algn="just"/>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    MUSIC &amp; ESPRIT Algorithms: Require prior knowledge of the number of signal sources, Performance degrades with coherent signals or under low SNR conditions, Sensitivity to Model Mismatch: Hardware imperfections and environmental variations impact accuracy</a:t>
            </a:r>
            <a:r>
              <a:rPr lang="en-US" sz="2400" dirty="0">
                <a:latin typeface="Calibri" panose="020F0502020204030204" pitchFamily="34" charset="0"/>
                <a:ea typeface="Calibri" panose="020F0502020204030204" pitchFamily="34" charset="0"/>
                <a:cs typeface="Calibri" panose="020F0502020204030204" pitchFamily="34" charset="0"/>
              </a:rPr>
              <a:t>.</a:t>
            </a:r>
            <a:endParaRPr lang="en-US" sz="2400" dirty="0">
              <a:solidFill>
                <a:srgbClr val="C00000"/>
              </a:solidFill>
              <a:latin typeface="Calibri" panose="020F0502020204030204" pitchFamily="34" charset="0"/>
              <a:ea typeface="Calibri" panose="020F0502020204030204" pitchFamily="34" charset="0"/>
              <a:cs typeface="Calibri" panose="020F0502020204030204" pitchFamily="34" charset="0"/>
            </a:endParaRPr>
          </a:p>
          <a:p>
            <a:pPr algn="just"/>
            <a:r>
              <a:rPr lang="en-US" sz="3200" b="1" dirty="0">
                <a:solidFill>
                  <a:srgbClr val="C00000"/>
                </a:solidFill>
                <a:latin typeface="Calibri" panose="020F0502020204030204" pitchFamily="34" charset="0"/>
                <a:ea typeface="Calibri" panose="020F0502020204030204" pitchFamily="34" charset="0"/>
                <a:cs typeface="Calibri" panose="020F0502020204030204" pitchFamily="34" charset="0"/>
              </a:rPr>
              <a:t>Advantages of Deep Learning:</a:t>
            </a:r>
          </a:p>
          <a:p>
            <a:pPr algn="just"/>
            <a:r>
              <a:rPr lang="en-US" sz="2400" b="1"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Automatic Feature Extraction: Learns complex patterns from data without manual intervention.</a:t>
            </a:r>
          </a:p>
          <a:p>
            <a:pPr algn="just"/>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Robustness: Handles noise and imperfections better than classical methods.</a:t>
            </a:r>
          </a:p>
          <a:p>
            <a:pPr algn="just"/>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Efficiency &amp; Adaptability.</a:t>
            </a:r>
          </a:p>
        </p:txBody>
      </p:sp>
      <p:pic>
        <p:nvPicPr>
          <p:cNvPr id="8" name="Picture 7">
            <a:extLst>
              <a:ext uri="{FF2B5EF4-FFF2-40B4-BE49-F238E27FC236}">
                <a16:creationId xmlns:a16="http://schemas.microsoft.com/office/drawing/2014/main" id="{1325F1A3-2E5D-FF96-6673-AA4CF6D0BF30}"/>
              </a:ext>
            </a:extLst>
          </p:cNvPr>
          <p:cNvPicPr>
            <a:picLocks noChangeAspect="1" noChangeArrowheads="1"/>
          </p:cNvPicPr>
          <p:nvPr/>
        </p:nvPicPr>
        <p:blipFill>
          <a:blip r:embed="rId3"/>
          <a:srcRect/>
          <a:stretch/>
        </p:blipFill>
        <p:spPr bwMode="auto">
          <a:xfrm>
            <a:off x="6339637" y="4627131"/>
            <a:ext cx="3941851" cy="194718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descr="Feed-forward neural network with sigmoid activation function: X i (i... |  Download Scientific Diagram">
            <a:extLst>
              <a:ext uri="{FF2B5EF4-FFF2-40B4-BE49-F238E27FC236}">
                <a16:creationId xmlns:a16="http://schemas.microsoft.com/office/drawing/2014/main" id="{B53D58EA-C339-1D8D-4E46-706AC3653B1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90962" y="4981617"/>
            <a:ext cx="3593959" cy="15982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97707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F4A2F5-ACB7-7DA7-4808-F9C4A72F88B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21320BC-FABD-0209-6A60-007AF864A197}"/>
              </a:ext>
            </a:extLst>
          </p:cNvPr>
          <p:cNvSpPr>
            <a:spLocks noGrp="1"/>
          </p:cNvSpPr>
          <p:nvPr>
            <p:ph type="title"/>
          </p:nvPr>
        </p:nvSpPr>
        <p:spPr>
          <a:xfrm>
            <a:off x="4024978" y="235051"/>
            <a:ext cx="4142044" cy="610863"/>
          </a:xfrm>
        </p:spPr>
        <p:txBody>
          <a:bodyPr>
            <a:noAutofit/>
          </a:bodyPr>
          <a:lstStyle/>
          <a:p>
            <a:pPr algn="ctr"/>
            <a:r>
              <a:rPr lang="en-US" dirty="0">
                <a:latin typeface="Calibri" panose="020F0502020204030204" pitchFamily="34" charset="0"/>
                <a:ea typeface="Calibri" panose="020F0502020204030204" pitchFamily="34" charset="0"/>
                <a:cs typeface="Calibri" panose="020F0502020204030204" pitchFamily="34" charset="0"/>
              </a:rPr>
              <a:t>Related Works</a:t>
            </a:r>
          </a:p>
        </p:txBody>
      </p:sp>
      <p:sp>
        <p:nvSpPr>
          <p:cNvPr id="9" name="Slide Number Placeholder 8">
            <a:extLst>
              <a:ext uri="{FF2B5EF4-FFF2-40B4-BE49-F238E27FC236}">
                <a16:creationId xmlns:a16="http://schemas.microsoft.com/office/drawing/2014/main" id="{ACEAD72C-2575-04B8-01C9-8DD9F7D9AE85}"/>
              </a:ext>
            </a:extLst>
          </p:cNvPr>
          <p:cNvSpPr>
            <a:spLocks noGrp="1"/>
          </p:cNvSpPr>
          <p:nvPr>
            <p:ph type="sldNum" sz="quarter" idx="13"/>
          </p:nvPr>
        </p:nvSpPr>
        <p:spPr/>
        <p:txBody>
          <a:bodyPr/>
          <a:lstStyle/>
          <a:p>
            <a:fld id="{294A09A9-5501-47C1-A89A-A340965A2BE2}" type="slidenum">
              <a:rPr lang="en-US" smtClean="0"/>
              <a:pPr/>
              <a:t>5</a:t>
            </a:fld>
            <a:endParaRPr lang="en-US" dirty="0">
              <a:latin typeface="+mn-lt"/>
            </a:endParaRPr>
          </a:p>
        </p:txBody>
      </p:sp>
      <p:graphicFrame>
        <p:nvGraphicFramePr>
          <p:cNvPr id="2" name="Table 1">
            <a:extLst>
              <a:ext uri="{FF2B5EF4-FFF2-40B4-BE49-F238E27FC236}">
                <a16:creationId xmlns:a16="http://schemas.microsoft.com/office/drawing/2014/main" id="{BD7A717F-1FF9-B0A0-C0DA-41CB4820BE4B}"/>
              </a:ext>
            </a:extLst>
          </p:cNvPr>
          <p:cNvGraphicFramePr>
            <a:graphicFrameLocks noGrp="1"/>
          </p:cNvGraphicFramePr>
          <p:nvPr>
            <p:extLst>
              <p:ext uri="{D42A27DB-BD31-4B8C-83A1-F6EECF244321}">
                <p14:modId xmlns:p14="http://schemas.microsoft.com/office/powerpoint/2010/main" val="1276196669"/>
              </p:ext>
            </p:extLst>
          </p:nvPr>
        </p:nvGraphicFramePr>
        <p:xfrm>
          <a:off x="487279" y="845915"/>
          <a:ext cx="11399922" cy="5402499"/>
        </p:xfrm>
        <a:graphic>
          <a:graphicData uri="http://schemas.openxmlformats.org/drawingml/2006/table">
            <a:tbl>
              <a:tblPr firstRow="1" bandRow="1">
                <a:tableStyleId>{5C22544A-7EE6-4342-B048-85BDC9FD1C3A}</a:tableStyleId>
              </a:tblPr>
              <a:tblGrid>
                <a:gridCol w="2207343">
                  <a:extLst>
                    <a:ext uri="{9D8B030D-6E8A-4147-A177-3AD203B41FA5}">
                      <a16:colId xmlns:a16="http://schemas.microsoft.com/office/drawing/2014/main" val="1153277621"/>
                    </a:ext>
                  </a:extLst>
                </a:gridCol>
                <a:gridCol w="4467196">
                  <a:extLst>
                    <a:ext uri="{9D8B030D-6E8A-4147-A177-3AD203B41FA5}">
                      <a16:colId xmlns:a16="http://schemas.microsoft.com/office/drawing/2014/main" val="53586822"/>
                    </a:ext>
                  </a:extLst>
                </a:gridCol>
                <a:gridCol w="4725383">
                  <a:extLst>
                    <a:ext uri="{9D8B030D-6E8A-4147-A177-3AD203B41FA5}">
                      <a16:colId xmlns:a16="http://schemas.microsoft.com/office/drawing/2014/main" val="1118205210"/>
                    </a:ext>
                  </a:extLst>
                </a:gridCol>
              </a:tblGrid>
              <a:tr h="528580">
                <a:tc>
                  <a:txBody>
                    <a:bodyPr/>
                    <a:lstStyle/>
                    <a:p>
                      <a:r>
                        <a:rPr lang="en-US" sz="3200" dirty="0">
                          <a:latin typeface="Calibri" panose="020F0502020204030204" pitchFamily="34" charset="0"/>
                          <a:ea typeface="Calibri" panose="020F0502020204030204" pitchFamily="34" charset="0"/>
                          <a:cs typeface="Calibri" panose="020F0502020204030204" pitchFamily="34" charset="0"/>
                        </a:rPr>
                        <a:t>Authors</a:t>
                      </a:r>
                    </a:p>
                  </a:txBody>
                  <a:tcPr/>
                </a:tc>
                <a:tc>
                  <a:txBody>
                    <a:bodyPr/>
                    <a:lstStyle/>
                    <a:p>
                      <a:r>
                        <a:rPr lang="en-US" sz="3200" dirty="0">
                          <a:latin typeface="Calibri" panose="020F0502020204030204" pitchFamily="34" charset="0"/>
                          <a:ea typeface="Calibri" panose="020F0502020204030204" pitchFamily="34" charset="0"/>
                          <a:cs typeface="Calibri" panose="020F0502020204030204" pitchFamily="34" charset="0"/>
                        </a:rPr>
                        <a:t>Key Takeaways</a:t>
                      </a:r>
                    </a:p>
                  </a:txBody>
                  <a:tcPr/>
                </a:tc>
                <a:tc>
                  <a:txBody>
                    <a:bodyPr/>
                    <a:lstStyle/>
                    <a:p>
                      <a:r>
                        <a:rPr lang="en-US" sz="3200" dirty="0">
                          <a:latin typeface="Calibri" panose="020F0502020204030204" pitchFamily="34" charset="0"/>
                          <a:ea typeface="Calibri" panose="020F0502020204030204" pitchFamily="34" charset="0"/>
                          <a:cs typeface="Calibri" panose="020F0502020204030204" pitchFamily="34" charset="0"/>
                        </a:rPr>
                        <a:t>Limitations</a:t>
                      </a:r>
                    </a:p>
                  </a:txBody>
                  <a:tcPr/>
                </a:tc>
                <a:extLst>
                  <a:ext uri="{0D108BD9-81ED-4DB2-BD59-A6C34878D82A}">
                    <a16:rowId xmlns:a16="http://schemas.microsoft.com/office/drawing/2014/main" val="3376803571"/>
                  </a:ext>
                </a:extLst>
              </a:tr>
              <a:tr h="1196259">
                <a:tc>
                  <a:txBody>
                    <a:bodyPr/>
                    <a:lstStyle/>
                    <a:p>
                      <a:r>
                        <a:rPr lang="en-US" sz="2000" dirty="0">
                          <a:latin typeface="Calibri" panose="020F0502020204030204" pitchFamily="34" charset="0"/>
                          <a:ea typeface="Calibri" panose="020F0502020204030204" pitchFamily="34" charset="0"/>
                          <a:cs typeface="Calibri" panose="020F0502020204030204" pitchFamily="34" charset="0"/>
                        </a:rPr>
                        <a:t>Huang et al. (2018)</a:t>
                      </a:r>
                    </a:p>
                  </a:txBody>
                  <a:tcPr/>
                </a:tc>
                <a:tc>
                  <a:txBody>
                    <a:bodyPr/>
                    <a:lstStyle/>
                    <a:p>
                      <a:r>
                        <a:rPr lang="en-US" sz="2000" b="0" dirty="0">
                          <a:latin typeface="Calibri" panose="020F0502020204030204" pitchFamily="34" charset="0"/>
                          <a:ea typeface="Calibri" panose="020F0502020204030204" pitchFamily="34" charset="0"/>
                          <a:cs typeface="Calibri" panose="020F0502020204030204" pitchFamily="34" charset="0"/>
                        </a:rPr>
                        <a:t>- Used DNNs for offline and online learning. </a:t>
                      </a:r>
                      <a:br>
                        <a:rPr lang="en-US" sz="2000" b="0" dirty="0">
                          <a:latin typeface="Calibri" panose="020F0502020204030204" pitchFamily="34" charset="0"/>
                          <a:ea typeface="Calibri" panose="020F0502020204030204" pitchFamily="34" charset="0"/>
                          <a:cs typeface="Calibri" panose="020F0502020204030204" pitchFamily="34" charset="0"/>
                        </a:rPr>
                      </a:br>
                      <a:r>
                        <a:rPr lang="en-US" sz="2000" b="0" dirty="0">
                          <a:latin typeface="Calibri" panose="020F0502020204030204" pitchFamily="34" charset="0"/>
                          <a:ea typeface="Calibri" panose="020F0502020204030204" pitchFamily="34" charset="0"/>
                          <a:cs typeface="Calibri" panose="020F0502020204030204" pitchFamily="34" charset="0"/>
                        </a:rPr>
                        <a:t>- Achieved superior DOA estimation compared to traditional methods.</a:t>
                      </a:r>
                    </a:p>
                  </a:txBody>
                  <a:tcPr/>
                </a:tc>
                <a:tc>
                  <a:txBody>
                    <a:bodyPr/>
                    <a:lstStyle/>
                    <a:p>
                      <a:r>
                        <a:rPr lang="en-US" sz="2000" b="0" dirty="0">
                          <a:latin typeface="Calibri" panose="020F0502020204030204" pitchFamily="34" charset="0"/>
                          <a:ea typeface="Calibri" panose="020F0502020204030204" pitchFamily="34" charset="0"/>
                          <a:cs typeface="Calibri" panose="020F0502020204030204" pitchFamily="34" charset="0"/>
                        </a:rPr>
                        <a:t>- Model performance dependent on massive MIMO setups. </a:t>
                      </a:r>
                      <a:br>
                        <a:rPr lang="en-US" sz="2000" b="0" dirty="0">
                          <a:latin typeface="Calibri" panose="020F0502020204030204" pitchFamily="34" charset="0"/>
                          <a:ea typeface="Calibri" panose="020F0502020204030204" pitchFamily="34" charset="0"/>
                          <a:cs typeface="Calibri" panose="020F0502020204030204" pitchFamily="34" charset="0"/>
                        </a:rPr>
                      </a:br>
                      <a:r>
                        <a:rPr lang="en-US" sz="2000" b="0" dirty="0">
                          <a:latin typeface="Calibri" panose="020F0502020204030204" pitchFamily="34" charset="0"/>
                          <a:ea typeface="Calibri" panose="020F0502020204030204" pitchFamily="34" charset="0"/>
                          <a:cs typeface="Calibri" panose="020F0502020204030204" pitchFamily="34" charset="0"/>
                        </a:rPr>
                        <a:t>- Requires extensive computational resources for training.</a:t>
                      </a:r>
                    </a:p>
                  </a:txBody>
                  <a:tcPr anchor="ctr"/>
                </a:tc>
                <a:extLst>
                  <a:ext uri="{0D108BD9-81ED-4DB2-BD59-A6C34878D82A}">
                    <a16:rowId xmlns:a16="http://schemas.microsoft.com/office/drawing/2014/main" val="2607573474"/>
                  </a:ext>
                </a:extLst>
              </a:tr>
              <a:tr h="1198369">
                <a:tc>
                  <a:txBody>
                    <a:bodyPr/>
                    <a:lstStyle/>
                    <a:p>
                      <a:r>
                        <a:rPr lang="en-US" sz="2000" dirty="0">
                          <a:latin typeface="Calibri" panose="020F0502020204030204" pitchFamily="34" charset="0"/>
                          <a:ea typeface="Calibri" panose="020F0502020204030204" pitchFamily="34" charset="0"/>
                          <a:cs typeface="Calibri" panose="020F0502020204030204" pitchFamily="34" charset="0"/>
                        </a:rPr>
                        <a:t>Zheng et al. (2024)</a:t>
                      </a:r>
                    </a:p>
                  </a:txBody>
                  <a:tcPr/>
                </a:tc>
                <a:tc>
                  <a:txBody>
                    <a:bodyPr/>
                    <a:lstStyle/>
                    <a:p>
                      <a:r>
                        <a:rPr lang="en-US" sz="2000" b="0" dirty="0">
                          <a:latin typeface="Calibri" panose="020F0502020204030204" pitchFamily="34" charset="0"/>
                          <a:ea typeface="Calibri" panose="020F0502020204030204" pitchFamily="34" charset="0"/>
                          <a:cs typeface="Calibri" panose="020F0502020204030204" pitchFamily="34" charset="0"/>
                        </a:rPr>
                        <a:t>- Utilized raw signal components for DOA estimation. </a:t>
                      </a:r>
                      <a:br>
                        <a:rPr lang="en-US" sz="2000" b="0" dirty="0">
                          <a:latin typeface="Calibri" panose="020F0502020204030204" pitchFamily="34" charset="0"/>
                          <a:ea typeface="Calibri" panose="020F0502020204030204" pitchFamily="34" charset="0"/>
                          <a:cs typeface="Calibri" panose="020F0502020204030204" pitchFamily="34" charset="0"/>
                        </a:rPr>
                      </a:br>
                      <a:r>
                        <a:rPr lang="en-US" sz="2000" b="0" dirty="0">
                          <a:latin typeface="Calibri" panose="020F0502020204030204" pitchFamily="34" charset="0"/>
                          <a:ea typeface="Calibri" panose="020F0502020204030204" pitchFamily="34" charset="0"/>
                          <a:cs typeface="Calibri" panose="020F0502020204030204" pitchFamily="34" charset="0"/>
                        </a:rPr>
                        <a:t>- Showed improvements in multi-source and low-SNR environments.</a:t>
                      </a:r>
                    </a:p>
                  </a:txBody>
                  <a:tcPr/>
                </a:tc>
                <a:tc>
                  <a:txBody>
                    <a:bodyPr/>
                    <a:lstStyle/>
                    <a:p>
                      <a:r>
                        <a:rPr lang="en-US" sz="2000" b="0" dirty="0">
                          <a:latin typeface="Calibri" panose="020F0502020204030204" pitchFamily="34" charset="0"/>
                          <a:ea typeface="Calibri" panose="020F0502020204030204" pitchFamily="34" charset="0"/>
                          <a:cs typeface="Calibri" panose="020F0502020204030204" pitchFamily="34" charset="0"/>
                        </a:rPr>
                        <a:t>- Struggles with real-world implementation due to dependence on raw signal variations. </a:t>
                      </a:r>
                    </a:p>
                  </a:txBody>
                  <a:tcPr/>
                </a:tc>
                <a:extLst>
                  <a:ext uri="{0D108BD9-81ED-4DB2-BD59-A6C34878D82A}">
                    <a16:rowId xmlns:a16="http://schemas.microsoft.com/office/drawing/2014/main" val="1227242511"/>
                  </a:ext>
                </a:extLst>
              </a:tr>
              <a:tr h="918060">
                <a:tc>
                  <a:txBody>
                    <a:bodyPr/>
                    <a:lstStyle/>
                    <a:p>
                      <a:r>
                        <a:rPr lang="en-US" sz="2000" dirty="0">
                          <a:latin typeface="Calibri" panose="020F0502020204030204" pitchFamily="34" charset="0"/>
                          <a:ea typeface="Calibri" panose="020F0502020204030204" pitchFamily="34" charset="0"/>
                          <a:cs typeface="Calibri" panose="020F0502020204030204" pitchFamily="34" charset="0"/>
                        </a:rPr>
                        <a:t>Chung et al. (2022)</a:t>
                      </a:r>
                    </a:p>
                  </a:txBody>
                  <a:tcPr/>
                </a:tc>
                <a:tc>
                  <a:txBody>
                    <a:bodyPr/>
                    <a:lstStyle/>
                    <a:p>
                      <a:r>
                        <a:rPr lang="en-US" sz="2000" b="0" dirty="0">
                          <a:latin typeface="Calibri" panose="020F0502020204030204" pitchFamily="34" charset="0"/>
                          <a:ea typeface="Calibri" panose="020F0502020204030204" pitchFamily="34" charset="0"/>
                          <a:cs typeface="Calibri" panose="020F0502020204030204" pitchFamily="34" charset="0"/>
                        </a:rPr>
                        <a:t>- Validated deep learning-based DOA estimation using real-world datasets collected via USRP. </a:t>
                      </a:r>
                    </a:p>
                  </a:txBody>
                  <a:tcPr/>
                </a:tc>
                <a:tc>
                  <a:txBody>
                    <a:bodyPr/>
                    <a:lstStyle/>
                    <a:p>
                      <a:r>
                        <a:rPr lang="en-US" sz="2000" b="0" dirty="0">
                          <a:latin typeface="Calibri" panose="020F0502020204030204" pitchFamily="34" charset="0"/>
                          <a:ea typeface="Calibri" panose="020F0502020204030204" pitchFamily="34" charset="0"/>
                          <a:cs typeface="Calibri" panose="020F0502020204030204" pitchFamily="34" charset="0"/>
                        </a:rPr>
                        <a:t>- Performance degrades under severe noise conditions. </a:t>
                      </a:r>
                    </a:p>
                  </a:txBody>
                  <a:tcPr/>
                </a:tc>
                <a:extLst>
                  <a:ext uri="{0D108BD9-81ED-4DB2-BD59-A6C34878D82A}">
                    <a16:rowId xmlns:a16="http://schemas.microsoft.com/office/drawing/2014/main" val="2611094095"/>
                  </a:ext>
                </a:extLst>
              </a:tr>
              <a:tr h="1196259">
                <a:tc>
                  <a:txBody>
                    <a:bodyPr/>
                    <a:lstStyle/>
                    <a:p>
                      <a:r>
                        <a:rPr lang="nl-NL" sz="2000" dirty="0">
                          <a:latin typeface="Calibri" panose="020F0502020204030204" pitchFamily="34" charset="0"/>
                          <a:ea typeface="Calibri" panose="020F0502020204030204" pitchFamily="34" charset="0"/>
                          <a:cs typeface="Calibri" panose="020F0502020204030204" pitchFamily="34" charset="0"/>
                        </a:rPr>
                        <a:t>Chen et al. (2024)</a:t>
                      </a:r>
                      <a:endParaRPr lang="en-US" sz="2000" dirty="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r>
                        <a:rPr lang="en-US" sz="2000" b="0" dirty="0">
                          <a:latin typeface="Calibri" panose="020F0502020204030204" pitchFamily="34" charset="0"/>
                          <a:ea typeface="Calibri" panose="020F0502020204030204" pitchFamily="34" charset="0"/>
                          <a:cs typeface="Calibri" panose="020F0502020204030204" pitchFamily="34" charset="0"/>
                        </a:rPr>
                        <a:t>- Introduced SDOA-Net using convolutional layers to address antenna imperfections. </a:t>
                      </a:r>
                    </a:p>
                  </a:txBody>
                  <a:tcPr/>
                </a:tc>
                <a:tc>
                  <a:txBody>
                    <a:bodyPr/>
                    <a:lstStyle/>
                    <a:p>
                      <a:r>
                        <a:rPr lang="en-US" sz="2000" b="0" dirty="0">
                          <a:latin typeface="Calibri" panose="020F0502020204030204" pitchFamily="34" charset="0"/>
                          <a:ea typeface="Calibri" panose="020F0502020204030204" pitchFamily="34" charset="0"/>
                          <a:cs typeface="Calibri" panose="020F0502020204030204" pitchFamily="34" charset="0"/>
                        </a:rPr>
                        <a:t>- Requires further validation on diverse datasets. </a:t>
                      </a:r>
                    </a:p>
                  </a:txBody>
                  <a:tcPr/>
                </a:tc>
                <a:extLst>
                  <a:ext uri="{0D108BD9-81ED-4DB2-BD59-A6C34878D82A}">
                    <a16:rowId xmlns:a16="http://schemas.microsoft.com/office/drawing/2014/main" val="328566803"/>
                  </a:ext>
                </a:extLst>
              </a:tr>
            </a:tbl>
          </a:graphicData>
        </a:graphic>
      </p:graphicFrame>
    </p:spTree>
    <p:extLst>
      <p:ext uri="{BB962C8B-B14F-4D97-AF65-F5344CB8AC3E}">
        <p14:creationId xmlns:p14="http://schemas.microsoft.com/office/powerpoint/2010/main" val="22634086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84357E-E090-AB38-C4F7-A5CA16098FCB}"/>
              </a:ext>
            </a:extLst>
          </p:cNvPr>
          <p:cNvSpPr>
            <a:spLocks noGrp="1"/>
          </p:cNvSpPr>
          <p:nvPr>
            <p:ph type="title"/>
          </p:nvPr>
        </p:nvSpPr>
        <p:spPr>
          <a:xfrm>
            <a:off x="4200571" y="391383"/>
            <a:ext cx="4329818" cy="610863"/>
          </a:xfrm>
        </p:spPr>
        <p:txBody>
          <a:bodyPr>
            <a:noAutofit/>
          </a:bodyPr>
          <a:lstStyle/>
          <a:p>
            <a:r>
              <a:rPr lang="en-US" sz="4200" dirty="0">
                <a:latin typeface="Calibri" panose="020F0502020204030204" pitchFamily="34" charset="0"/>
                <a:ea typeface="Calibri" panose="020F0502020204030204" pitchFamily="34" charset="0"/>
                <a:cs typeface="Calibri" panose="020F0502020204030204" pitchFamily="34" charset="0"/>
              </a:rPr>
              <a:t>Project Objective</a:t>
            </a:r>
          </a:p>
        </p:txBody>
      </p:sp>
      <p:sp>
        <p:nvSpPr>
          <p:cNvPr id="10" name="Slide Number Placeholder 9">
            <a:extLst>
              <a:ext uri="{FF2B5EF4-FFF2-40B4-BE49-F238E27FC236}">
                <a16:creationId xmlns:a16="http://schemas.microsoft.com/office/drawing/2014/main" id="{909E9291-9E38-1E0D-A9CE-75C6153C833A}"/>
              </a:ext>
            </a:extLst>
          </p:cNvPr>
          <p:cNvSpPr>
            <a:spLocks noGrp="1"/>
          </p:cNvSpPr>
          <p:nvPr>
            <p:ph type="sldNum" sz="quarter" idx="13"/>
          </p:nvPr>
        </p:nvSpPr>
        <p:spPr/>
        <p:txBody>
          <a:bodyPr/>
          <a:lstStyle/>
          <a:p>
            <a:fld id="{294A09A9-5501-47C1-A89A-A340965A2BE2}" type="slidenum">
              <a:rPr lang="en-US" smtClean="0"/>
              <a:pPr/>
              <a:t>6</a:t>
            </a:fld>
            <a:endParaRPr lang="en-US" dirty="0">
              <a:latin typeface="+mn-lt"/>
            </a:endParaRPr>
          </a:p>
        </p:txBody>
      </p:sp>
      <p:sp>
        <p:nvSpPr>
          <p:cNvPr id="3" name="TextBox 2">
            <a:extLst>
              <a:ext uri="{FF2B5EF4-FFF2-40B4-BE49-F238E27FC236}">
                <a16:creationId xmlns:a16="http://schemas.microsoft.com/office/drawing/2014/main" id="{117D0083-E459-D109-2673-C8D831861072}"/>
              </a:ext>
            </a:extLst>
          </p:cNvPr>
          <p:cNvSpPr txBox="1"/>
          <p:nvPr/>
        </p:nvSpPr>
        <p:spPr>
          <a:xfrm>
            <a:off x="618544" y="976908"/>
            <a:ext cx="10954912" cy="5262979"/>
          </a:xfrm>
          <a:prstGeom prst="rect">
            <a:avLst/>
          </a:prstGeom>
          <a:noFill/>
        </p:spPr>
        <p:txBody>
          <a:bodyPr wrap="square" rtlCol="0">
            <a:spAutoFit/>
          </a:bodyPr>
          <a:lstStyle/>
          <a:p>
            <a:pPr algn="just"/>
            <a:r>
              <a:rPr lang="en-US" sz="3200" b="1" dirty="0">
                <a:solidFill>
                  <a:srgbClr val="C00000"/>
                </a:solidFill>
                <a:latin typeface="Calibri" panose="020F0502020204030204" pitchFamily="34" charset="0"/>
                <a:ea typeface="Calibri" panose="020F0502020204030204" pitchFamily="34" charset="0"/>
                <a:cs typeface="Calibri" panose="020F0502020204030204" pitchFamily="34" charset="0"/>
              </a:rPr>
              <a:t>Primary Goal:</a:t>
            </a:r>
          </a:p>
          <a:p>
            <a:pPr algn="just"/>
            <a:r>
              <a:rPr lang="en-US" sz="1500" b="1"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en-US" sz="2400" b="1"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Designing and implementing a robust deep convolutional neural network (CNN) model for Direction-of-Arrival (DOA) estimation.</a:t>
            </a:r>
            <a:endParaRPr lang="en-US" sz="1500" b="1" dirty="0">
              <a:solidFill>
                <a:srgbClr val="C00000"/>
              </a:solidFill>
              <a:latin typeface="Calibri" panose="020F0502020204030204" pitchFamily="34" charset="0"/>
              <a:ea typeface="Calibri" panose="020F0502020204030204" pitchFamily="34" charset="0"/>
              <a:cs typeface="Calibri" panose="020F0502020204030204" pitchFamily="34" charset="0"/>
            </a:endParaRPr>
          </a:p>
          <a:p>
            <a:pPr algn="just"/>
            <a:r>
              <a:rPr lang="en-US" sz="3200" b="1" dirty="0">
                <a:solidFill>
                  <a:srgbClr val="C00000"/>
                </a:solidFill>
                <a:latin typeface="Calibri" panose="020F0502020204030204" pitchFamily="34" charset="0"/>
                <a:ea typeface="Calibri" panose="020F0502020204030204" pitchFamily="34" charset="0"/>
                <a:cs typeface="Calibri" panose="020F0502020204030204" pitchFamily="34" charset="0"/>
              </a:rPr>
              <a:t>Specific Objectives:</a:t>
            </a:r>
          </a:p>
          <a:p>
            <a:pPr algn="just"/>
            <a:r>
              <a:rPr lang="en-US" sz="2400" b="1" dirty="0">
                <a:solidFill>
                  <a:schemeClr val="bg1"/>
                </a:solidFill>
                <a:latin typeface="Calibri" panose="020F0502020204030204" pitchFamily="34" charset="0"/>
                <a:ea typeface="Calibri" panose="020F0502020204030204" pitchFamily="34" charset="0"/>
                <a:cs typeface="Calibri" panose="020F0502020204030204" pitchFamily="34" charset="0"/>
              </a:rPr>
              <a:t>    - </a:t>
            </a:r>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Utilizing Covariance Matrices: Leveraging the data from offline settings where covariance matrices of signals received by a sensor or antenna array as input features for the CNN. (Dataset)</a:t>
            </a:r>
          </a:p>
          <a:p>
            <a:pPr algn="just"/>
            <a:r>
              <a:rPr lang="en-US" sz="2400" b="1" dirty="0">
                <a:solidFill>
                  <a:schemeClr val="bg1"/>
                </a:solidFill>
                <a:latin typeface="Calibri" panose="020F0502020204030204" pitchFamily="34" charset="0"/>
                <a:ea typeface="Calibri" panose="020F0502020204030204" pitchFamily="34" charset="0"/>
                <a:cs typeface="Calibri" panose="020F0502020204030204" pitchFamily="34" charset="0"/>
              </a:rPr>
              <a:t>    - </a:t>
            </a:r>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Achieving High Accuracy: Ensuring accurate DOA estimation, even in challenging scenarios with low signal-to-noise ratios (SNR).</a:t>
            </a:r>
          </a:p>
          <a:p>
            <a:pPr algn="just"/>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    - Simplifying Parameter Tuning: Developing a system that minimizes the need for extensive manual parameter tuning, unlike traditional algorithms.</a:t>
            </a:r>
            <a:endParaRPr lang="en-US" sz="1500" b="1" dirty="0">
              <a:solidFill>
                <a:srgbClr val="C00000"/>
              </a:solidFill>
              <a:latin typeface="Calibri" panose="020F0502020204030204" pitchFamily="34" charset="0"/>
              <a:ea typeface="Calibri" panose="020F0502020204030204" pitchFamily="34" charset="0"/>
              <a:cs typeface="Calibri" panose="020F0502020204030204" pitchFamily="34" charset="0"/>
            </a:endParaRPr>
          </a:p>
          <a:p>
            <a:pPr algn="just"/>
            <a:r>
              <a:rPr lang="en-US" sz="3200" b="1" dirty="0">
                <a:solidFill>
                  <a:srgbClr val="C00000"/>
                </a:solidFill>
                <a:latin typeface="Calibri" panose="020F0502020204030204" pitchFamily="34" charset="0"/>
                <a:ea typeface="Calibri" panose="020F0502020204030204" pitchFamily="34" charset="0"/>
                <a:cs typeface="Calibri" panose="020F0502020204030204" pitchFamily="34" charset="0"/>
              </a:rPr>
              <a:t>Expected Outcomes:</a:t>
            </a:r>
          </a:p>
          <a:p>
            <a:pPr algn="just"/>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    - Noise Robustness   -  Efficiency</a:t>
            </a:r>
          </a:p>
        </p:txBody>
      </p:sp>
    </p:spTree>
    <p:extLst>
      <p:ext uri="{BB962C8B-B14F-4D97-AF65-F5344CB8AC3E}">
        <p14:creationId xmlns:p14="http://schemas.microsoft.com/office/powerpoint/2010/main" val="15329927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D0A06AA-26F6-C190-A5E0-3F0C9AD40E75}"/>
              </a:ext>
            </a:extLst>
          </p:cNvPr>
          <p:cNvSpPr>
            <a:spLocks noGrp="1"/>
          </p:cNvSpPr>
          <p:nvPr>
            <p:ph type="title"/>
          </p:nvPr>
        </p:nvSpPr>
        <p:spPr>
          <a:xfrm>
            <a:off x="3512963" y="408147"/>
            <a:ext cx="5903412" cy="610863"/>
          </a:xfrm>
        </p:spPr>
        <p:txBody>
          <a:bodyPr>
            <a:noAutofit/>
          </a:bodyPr>
          <a:lstStyle/>
          <a:p>
            <a:r>
              <a:rPr lang="en-US" dirty="0">
                <a:latin typeface="Calibri" panose="020F0502020204030204" pitchFamily="34" charset="0"/>
                <a:ea typeface="Calibri" panose="020F0502020204030204" pitchFamily="34" charset="0"/>
                <a:cs typeface="Calibri" panose="020F0502020204030204" pitchFamily="34" charset="0"/>
              </a:rPr>
              <a:t>Dataset Preparation</a:t>
            </a:r>
          </a:p>
        </p:txBody>
      </p:sp>
      <p:sp>
        <p:nvSpPr>
          <p:cNvPr id="10" name="Slide Number Placeholder 9">
            <a:extLst>
              <a:ext uri="{FF2B5EF4-FFF2-40B4-BE49-F238E27FC236}">
                <a16:creationId xmlns:a16="http://schemas.microsoft.com/office/drawing/2014/main" id="{80B75F7D-8A0C-B11A-18F3-0CC1424BEDA5}"/>
              </a:ext>
            </a:extLst>
          </p:cNvPr>
          <p:cNvSpPr>
            <a:spLocks noGrp="1"/>
          </p:cNvSpPr>
          <p:nvPr>
            <p:ph type="sldNum" sz="quarter" idx="13"/>
          </p:nvPr>
        </p:nvSpPr>
        <p:spPr/>
        <p:txBody>
          <a:bodyPr/>
          <a:lstStyle/>
          <a:p>
            <a:fld id="{294A09A9-5501-47C1-A89A-A340965A2BE2}" type="slidenum">
              <a:rPr lang="en-US" smtClean="0"/>
              <a:pPr/>
              <a:t>7</a:t>
            </a:fld>
            <a:endParaRPr lang="en-US" dirty="0">
              <a:latin typeface="+mn-lt"/>
            </a:endParaRPr>
          </a:p>
        </p:txBody>
      </p:sp>
      <p:grpSp>
        <p:nvGrpSpPr>
          <p:cNvPr id="2" name="Group 1">
            <a:extLst>
              <a:ext uri="{FF2B5EF4-FFF2-40B4-BE49-F238E27FC236}">
                <a16:creationId xmlns:a16="http://schemas.microsoft.com/office/drawing/2014/main" id="{5F9BC6B7-50D2-E1B3-0BE8-A20E9626C94B}"/>
              </a:ext>
            </a:extLst>
          </p:cNvPr>
          <p:cNvGrpSpPr/>
          <p:nvPr/>
        </p:nvGrpSpPr>
        <p:grpSpPr>
          <a:xfrm>
            <a:off x="-529247" y="1697567"/>
            <a:ext cx="4322172" cy="3021367"/>
            <a:chOff x="-609717" y="2461880"/>
            <a:chExt cx="4322172" cy="3021367"/>
          </a:xfrm>
        </p:grpSpPr>
        <p:graphicFrame>
          <p:nvGraphicFramePr>
            <p:cNvPr id="4" name="Diagram 3">
              <a:extLst>
                <a:ext uri="{FF2B5EF4-FFF2-40B4-BE49-F238E27FC236}">
                  <a16:creationId xmlns:a16="http://schemas.microsoft.com/office/drawing/2014/main" id="{4DE5D14D-FA9A-D5AC-148D-6912747AD80A}"/>
                </a:ext>
              </a:extLst>
            </p:cNvPr>
            <p:cNvGraphicFramePr/>
            <p:nvPr/>
          </p:nvGraphicFramePr>
          <p:xfrm>
            <a:off x="-609717" y="2461880"/>
            <a:ext cx="4076399" cy="30213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Box 4">
              <a:extLst>
                <a:ext uri="{FF2B5EF4-FFF2-40B4-BE49-F238E27FC236}">
                  <a16:creationId xmlns:a16="http://schemas.microsoft.com/office/drawing/2014/main" id="{C08E8A71-C534-50FC-26E2-F2CBA418F4B8}"/>
                </a:ext>
              </a:extLst>
            </p:cNvPr>
            <p:cNvSpPr txBox="1"/>
            <p:nvPr/>
          </p:nvSpPr>
          <p:spPr>
            <a:xfrm>
              <a:off x="703385" y="2552693"/>
              <a:ext cx="2763297" cy="830997"/>
            </a:xfrm>
            <a:prstGeom prst="rect">
              <a:avLst/>
            </a:prstGeom>
            <a:noFill/>
          </p:spPr>
          <p:txBody>
            <a:bodyPr wrap="square" rtlCol="0">
              <a:spAutoFit/>
            </a:bodyPr>
            <a:lstStyle/>
            <a:p>
              <a:pPr algn="ctr"/>
              <a:r>
                <a:rPr lang="en-US" sz="2400" b="1"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Grid Resolution for angle prediction</a:t>
              </a:r>
              <a:endParaRPr lang="en-US" sz="2400" b="1" dirty="0">
                <a:effectLst/>
                <a:latin typeface="Calibri" panose="020F0502020204030204" pitchFamily="34" charset="0"/>
                <a:ea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7F784DC1-A59A-0390-37B8-CB8D3A1799F6}"/>
                </a:ext>
              </a:extLst>
            </p:cNvPr>
            <p:cNvSpPr txBox="1"/>
            <p:nvPr/>
          </p:nvSpPr>
          <p:spPr>
            <a:xfrm>
              <a:off x="725161" y="3599392"/>
              <a:ext cx="2763297" cy="830997"/>
            </a:xfrm>
            <a:prstGeom prst="rect">
              <a:avLst/>
            </a:prstGeom>
            <a:noFill/>
          </p:spPr>
          <p:txBody>
            <a:bodyPr wrap="square" rtlCol="0">
              <a:spAutoFit/>
            </a:bodyPr>
            <a:lstStyle/>
            <a:p>
              <a:pPr algn="ctr"/>
              <a:r>
                <a:rPr lang="en-US" sz="2400" b="1"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Multiple SNR levels for robustness</a:t>
              </a:r>
            </a:p>
          </p:txBody>
        </p:sp>
        <p:sp>
          <p:nvSpPr>
            <p:cNvPr id="9" name="TextBox 8">
              <a:extLst>
                <a:ext uri="{FF2B5EF4-FFF2-40B4-BE49-F238E27FC236}">
                  <a16:creationId xmlns:a16="http://schemas.microsoft.com/office/drawing/2014/main" id="{3CD4B16B-59EB-6CE4-7EAE-6BEB89CA9A5D}"/>
                </a:ext>
              </a:extLst>
            </p:cNvPr>
            <p:cNvSpPr txBox="1"/>
            <p:nvPr/>
          </p:nvSpPr>
          <p:spPr>
            <a:xfrm>
              <a:off x="457610" y="4599240"/>
              <a:ext cx="3254845" cy="830997"/>
            </a:xfrm>
            <a:prstGeom prst="rect">
              <a:avLst/>
            </a:prstGeom>
            <a:noFill/>
          </p:spPr>
          <p:txBody>
            <a:bodyPr wrap="square" rtlCol="0">
              <a:spAutoFit/>
            </a:bodyPr>
            <a:lstStyle/>
            <a:p>
              <a:pPr algn="ctr"/>
              <a:r>
                <a:rPr lang="en-US" sz="2400" b="1"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Handling targets with varying separations</a:t>
              </a:r>
            </a:p>
          </p:txBody>
        </p:sp>
      </p:grpSp>
      <p:grpSp>
        <p:nvGrpSpPr>
          <p:cNvPr id="12" name="Group 11">
            <a:extLst>
              <a:ext uri="{FF2B5EF4-FFF2-40B4-BE49-F238E27FC236}">
                <a16:creationId xmlns:a16="http://schemas.microsoft.com/office/drawing/2014/main" id="{3FA08E2D-1F26-31B8-5791-4282F67E83BB}"/>
              </a:ext>
            </a:extLst>
          </p:cNvPr>
          <p:cNvGrpSpPr/>
          <p:nvPr/>
        </p:nvGrpSpPr>
        <p:grpSpPr>
          <a:xfrm>
            <a:off x="627117" y="1311472"/>
            <a:ext cx="10939986" cy="5877906"/>
            <a:chOff x="1691221" y="1955823"/>
            <a:chExt cx="7107538" cy="5877906"/>
          </a:xfrm>
        </p:grpSpPr>
        <p:grpSp>
          <p:nvGrpSpPr>
            <p:cNvPr id="13" name="Group 12">
              <a:extLst>
                <a:ext uri="{FF2B5EF4-FFF2-40B4-BE49-F238E27FC236}">
                  <a16:creationId xmlns:a16="http://schemas.microsoft.com/office/drawing/2014/main" id="{F830F770-F103-EDBA-D251-DB9A0BB24726}"/>
                </a:ext>
              </a:extLst>
            </p:cNvPr>
            <p:cNvGrpSpPr/>
            <p:nvPr/>
          </p:nvGrpSpPr>
          <p:grpSpPr>
            <a:xfrm>
              <a:off x="1691221" y="2035083"/>
              <a:ext cx="7106095" cy="5798646"/>
              <a:chOff x="-3208866" y="1142801"/>
              <a:chExt cx="11726597" cy="5798646"/>
            </a:xfrm>
          </p:grpSpPr>
          <p:grpSp>
            <p:nvGrpSpPr>
              <p:cNvPr id="15" name="Group 14">
                <a:extLst>
                  <a:ext uri="{FF2B5EF4-FFF2-40B4-BE49-F238E27FC236}">
                    <a16:creationId xmlns:a16="http://schemas.microsoft.com/office/drawing/2014/main" id="{530E3504-3444-B11E-B2D2-1CF488B07162}"/>
                  </a:ext>
                </a:extLst>
              </p:cNvPr>
              <p:cNvGrpSpPr/>
              <p:nvPr/>
            </p:nvGrpSpPr>
            <p:grpSpPr>
              <a:xfrm>
                <a:off x="481782" y="1142801"/>
                <a:ext cx="8026410" cy="1492716"/>
                <a:chOff x="481782" y="1142801"/>
                <a:chExt cx="8026410" cy="1492716"/>
              </a:xfrm>
            </p:grpSpPr>
            <p:pic>
              <p:nvPicPr>
                <p:cNvPr id="25" name="Graphic 24" descr="Checkmark with solid fill">
                  <a:extLst>
                    <a:ext uri="{FF2B5EF4-FFF2-40B4-BE49-F238E27FC236}">
                      <a16:creationId xmlns:a16="http://schemas.microsoft.com/office/drawing/2014/main" id="{5A92D6CF-C65A-BE84-A486-B66AC90A1C75}"/>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81782" y="1333718"/>
                  <a:ext cx="311993" cy="336322"/>
                </a:xfrm>
                <a:prstGeom prst="rect">
                  <a:avLst/>
                </a:prstGeom>
              </p:spPr>
            </p:pic>
            <p:sp>
              <p:nvSpPr>
                <p:cNvPr id="26" name="TextBox 25">
                  <a:extLst>
                    <a:ext uri="{FF2B5EF4-FFF2-40B4-BE49-F238E27FC236}">
                      <a16:creationId xmlns:a16="http://schemas.microsoft.com/office/drawing/2014/main" id="{282649F4-5CAC-90A0-E52A-41057C119144}"/>
                    </a:ext>
                  </a:extLst>
                </p:cNvPr>
                <p:cNvSpPr txBox="1"/>
                <p:nvPr/>
              </p:nvSpPr>
              <p:spPr>
                <a:xfrm>
                  <a:off x="793775" y="1142801"/>
                  <a:ext cx="7714417" cy="1492716"/>
                </a:xfrm>
                <a:prstGeom prst="rect">
                  <a:avLst/>
                </a:prstGeom>
                <a:noFill/>
              </p:spPr>
              <p:txBody>
                <a:bodyPr wrap="square" rtlCol="0">
                  <a:spAutoFit/>
                </a:bodyPr>
                <a:lstStyle/>
                <a:p>
                  <a:pPr algn="just"/>
                  <a:r>
                    <a:rPr lang="en-US" sz="2800" b="1" dirty="0">
                      <a:solidFill>
                        <a:srgbClr val="C00000"/>
                      </a:solidFill>
                      <a:latin typeface="Calibri" panose="020F0502020204030204" pitchFamily="34" charset="0"/>
                      <a:ea typeface="Calibri" panose="020F0502020204030204" pitchFamily="34" charset="0"/>
                      <a:cs typeface="Calibri" panose="020F0502020204030204" pitchFamily="34" charset="0"/>
                    </a:rPr>
                    <a:t>SNR Levels</a:t>
                  </a:r>
                </a:p>
                <a:p>
                  <a:pPr algn="just"/>
                  <a:r>
                    <a:rPr lang="en-US" sz="2400" b="1" dirty="0">
                      <a:solidFill>
                        <a:srgbClr val="C00000"/>
                      </a:solidFill>
                      <a:cs typeface="Times New Roman" panose="02020603050405020304" pitchFamily="18" charset="0"/>
                    </a:rPr>
                    <a:t>    - </a:t>
                  </a:r>
                  <a:r>
                    <a:rPr lang="en-US" sz="2400" dirty="0">
                      <a:solidFill>
                        <a:schemeClr val="bg1"/>
                      </a:solidFill>
                      <a:cs typeface="Times New Roman" panose="02020603050405020304" pitchFamily="18" charset="0"/>
                    </a:rPr>
                    <a:t>5 different SNR levels</a:t>
                  </a:r>
                </a:p>
                <a:p>
                  <a:pPr algn="just"/>
                  <a:r>
                    <a:rPr lang="en-US" sz="2400" b="1" dirty="0">
                      <a:solidFill>
                        <a:schemeClr val="bg1"/>
                      </a:solidFill>
                      <a:cs typeface="Times New Roman" panose="02020603050405020304" pitchFamily="18" charset="0"/>
                    </a:rPr>
                    <a:t>    - </a:t>
                  </a:r>
                  <a:r>
                    <a:rPr lang="en-US" sz="2400" dirty="0">
                      <a:solidFill>
                        <a:schemeClr val="bg1"/>
                      </a:solidFill>
                      <a:cs typeface="Times New Roman" panose="02020603050405020304" pitchFamily="18" charset="0"/>
                    </a:rPr>
                    <a:t>{-20, -15, -10, -5, 0} DB</a:t>
                  </a:r>
                </a:p>
                <a:p>
                  <a:pPr algn="just"/>
                  <a:endParaRPr lang="en-US" sz="1500" b="1" dirty="0">
                    <a:solidFill>
                      <a:srgbClr val="C00000"/>
                    </a:solidFill>
                    <a:cs typeface="Times New Roman" panose="02020603050405020304" pitchFamily="18" charset="0"/>
                  </a:endParaRPr>
                </a:p>
              </p:txBody>
            </p:sp>
          </p:grpSp>
          <p:grpSp>
            <p:nvGrpSpPr>
              <p:cNvPr id="16" name="Group 15">
                <a:extLst>
                  <a:ext uri="{FF2B5EF4-FFF2-40B4-BE49-F238E27FC236}">
                    <a16:creationId xmlns:a16="http://schemas.microsoft.com/office/drawing/2014/main" id="{E9A68AFE-3B6D-AFC6-4BA0-59C2442D1F52}"/>
                  </a:ext>
                </a:extLst>
              </p:cNvPr>
              <p:cNvGrpSpPr/>
              <p:nvPr/>
            </p:nvGrpSpPr>
            <p:grpSpPr>
              <a:xfrm>
                <a:off x="-3208866" y="2420074"/>
                <a:ext cx="11726597" cy="3069621"/>
                <a:chOff x="-3208866" y="1635123"/>
                <a:chExt cx="11726597" cy="3069621"/>
              </a:xfrm>
            </p:grpSpPr>
            <p:pic>
              <p:nvPicPr>
                <p:cNvPr id="23" name="Graphic 22" descr="Checkmark with solid fill">
                  <a:extLst>
                    <a:ext uri="{FF2B5EF4-FFF2-40B4-BE49-F238E27FC236}">
                      <a16:creationId xmlns:a16="http://schemas.microsoft.com/office/drawing/2014/main" id="{46AC4414-59C9-7FE5-1911-D6923B724BE9}"/>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208866" y="4368422"/>
                  <a:ext cx="311993" cy="336322"/>
                </a:xfrm>
                <a:prstGeom prst="rect">
                  <a:avLst/>
                </a:prstGeom>
              </p:spPr>
            </p:pic>
            <mc:AlternateContent xmlns:mc="http://schemas.openxmlformats.org/markup-compatibility/2006">
              <mc:Choice xmlns:a14="http://schemas.microsoft.com/office/drawing/2010/main" Requires="a14">
                <p:sp>
                  <p:nvSpPr>
                    <p:cNvPr id="24" name="TextBox 23">
                      <a:extLst>
                        <a:ext uri="{FF2B5EF4-FFF2-40B4-BE49-F238E27FC236}">
                          <a16:creationId xmlns:a16="http://schemas.microsoft.com/office/drawing/2014/main" id="{3090B0D7-7D51-8FB8-FC68-51E8DCC60DD0}"/>
                        </a:ext>
                      </a:extLst>
                    </p:cNvPr>
                    <p:cNvSpPr txBox="1"/>
                    <p:nvPr/>
                  </p:nvSpPr>
                  <p:spPr>
                    <a:xfrm>
                      <a:off x="803314" y="1635123"/>
                      <a:ext cx="7714417" cy="2831544"/>
                    </a:xfrm>
                    <a:prstGeom prst="rect">
                      <a:avLst/>
                    </a:prstGeom>
                    <a:noFill/>
                  </p:spPr>
                  <p:txBody>
                    <a:bodyPr wrap="square" rtlCol="0">
                      <a:spAutoFit/>
                    </a:bodyPr>
                    <a:lstStyle/>
                    <a:p>
                      <a:pPr algn="just"/>
                      <a:r>
                        <a:rPr lang="en-US" sz="2800" b="1" dirty="0">
                          <a:solidFill>
                            <a:srgbClr val="C00000"/>
                          </a:solidFill>
                          <a:latin typeface="Calibri" panose="020F0502020204030204" pitchFamily="34" charset="0"/>
                          <a:ea typeface="Calibri" panose="020F0502020204030204" pitchFamily="34" charset="0"/>
                          <a:cs typeface="Calibri" panose="020F0502020204030204" pitchFamily="34" charset="0"/>
                        </a:rPr>
                        <a:t>Grid</a:t>
                      </a:r>
                    </a:p>
                    <a:p>
                      <a:pPr algn="just"/>
                      <a:r>
                        <a:rPr lang="en-US" sz="2400" b="1" dirty="0">
                          <a:solidFill>
                            <a:srgbClr val="C00000"/>
                          </a:solidFill>
                          <a:latin typeface="Calibri" panose="020F0502020204030204" pitchFamily="34" charset="0"/>
                          <a:ea typeface="Calibri" panose="020F0502020204030204" pitchFamily="34" charset="0"/>
                          <a:cs typeface="Calibri" panose="020F0502020204030204" pitchFamily="34" charset="0"/>
                        </a:rPr>
                        <a:t>    </a:t>
                      </a:r>
                      <a:r>
                        <a:rPr lang="en-US" sz="2400" dirty="0">
                          <a:solidFill>
                            <a:srgbClr val="C00000"/>
                          </a:solidFill>
                          <a:latin typeface="Calibri" panose="020F0502020204030204" pitchFamily="34" charset="0"/>
                          <a:ea typeface="Calibri" panose="020F0502020204030204" pitchFamily="34" charset="0"/>
                          <a:cs typeface="Calibri" panose="020F0502020204030204" pitchFamily="34" charset="0"/>
                        </a:rPr>
                        <a:t>- </a:t>
                      </a:r>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Resolution 1</a:t>
                      </a:r>
                      <a14:m>
                        <m:oMath xmlns:m="http://schemas.openxmlformats.org/officeDocument/2006/math">
                          <m:r>
                            <a:rPr lang="en-US" sz="2400"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m:t>
                          </m:r>
                        </m:oMath>
                      </a14:m>
                      <a:endPar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algn="just"/>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    - Narrow grid ranging from -60</a:t>
                      </a:r>
                      <a14:m>
                        <m:oMath xmlns:m="http://schemas.openxmlformats.org/officeDocument/2006/math">
                          <m:r>
                            <a:rPr lang="en-US" sz="2400"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m:t>
                          </m:r>
                        </m:oMath>
                      </a14:m>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 to 60</a:t>
                      </a:r>
                      <a14:m>
                        <m:oMath xmlns:m="http://schemas.openxmlformats.org/officeDocument/2006/math">
                          <m:r>
                            <a:rPr lang="en-US" sz="2400" i="1">
                              <a:solidFill>
                                <a:schemeClr val="bg1"/>
                              </a:solidFill>
                              <a:latin typeface="Cambria Math" panose="02040503050406030204" pitchFamily="18" charset="0"/>
                              <a:ea typeface="Cambria Math" panose="02040503050406030204" pitchFamily="18" charset="0"/>
                              <a:cs typeface="Times New Roman" panose="02020603050405020304" pitchFamily="18" charset="0"/>
                            </a:rPr>
                            <m:t>°</m:t>
                          </m:r>
                        </m:oMath>
                      </a14:m>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 121 grid points</a:t>
                      </a:r>
                    </a:p>
                    <a:p>
                      <a:pPr algn="just"/>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    - Wide grid ranging from -90</a:t>
                      </a:r>
                      <a14:m>
                        <m:oMath xmlns:m="http://schemas.openxmlformats.org/officeDocument/2006/math">
                          <m:r>
                            <a:rPr lang="en-US" sz="2400"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m:t>
                          </m:r>
                        </m:oMath>
                      </a14:m>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 to 90</a:t>
                      </a:r>
                      <a14:m>
                        <m:oMath xmlns:m="http://schemas.openxmlformats.org/officeDocument/2006/math">
                          <m:r>
                            <a:rPr lang="en-US" sz="2400" i="1">
                              <a:solidFill>
                                <a:schemeClr val="bg1"/>
                              </a:solidFill>
                              <a:latin typeface="Cambria Math" panose="02040503050406030204" pitchFamily="18" charset="0"/>
                              <a:ea typeface="Cambria Math" panose="02040503050406030204" pitchFamily="18" charset="0"/>
                              <a:cs typeface="Times New Roman" panose="02020603050405020304" pitchFamily="18" charset="0"/>
                            </a:rPr>
                            <m:t>°</m:t>
                          </m:r>
                        </m:oMath>
                      </a14:m>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 181 grid points</a:t>
                      </a:r>
                    </a:p>
                    <a:p>
                      <a:pPr algn="just"/>
                      <a:endParaRPr lang="en-US" sz="1500" dirty="0">
                        <a:solidFill>
                          <a:schemeClr val="bg1"/>
                        </a:solidFill>
                        <a:cs typeface="Times New Roman" panose="02020603050405020304" pitchFamily="18" charset="0"/>
                      </a:endParaRPr>
                    </a:p>
                    <a:p>
                      <a:pPr algn="just"/>
                      <a:endParaRPr lang="en-US" sz="1500" b="1" dirty="0">
                        <a:solidFill>
                          <a:srgbClr val="C00000"/>
                        </a:solidFill>
                        <a:cs typeface="Times New Roman" panose="02020603050405020304" pitchFamily="18" charset="0"/>
                      </a:endParaRPr>
                    </a:p>
                  </p:txBody>
                </p:sp>
              </mc:Choice>
              <mc:Fallback>
                <p:sp>
                  <p:nvSpPr>
                    <p:cNvPr id="24" name="TextBox 23">
                      <a:extLst>
                        <a:ext uri="{FF2B5EF4-FFF2-40B4-BE49-F238E27FC236}">
                          <a16:creationId xmlns:a16="http://schemas.microsoft.com/office/drawing/2014/main" id="{3090B0D7-7D51-8FB8-FC68-51E8DCC60DD0}"/>
                        </a:ext>
                      </a:extLst>
                    </p:cNvPr>
                    <p:cNvSpPr txBox="1">
                      <a:spLocks noRot="1" noChangeAspect="1" noMove="1" noResize="1" noEditPoints="1" noAdjustHandles="1" noChangeArrowheads="1" noChangeShapeType="1" noTextEdit="1"/>
                    </p:cNvSpPr>
                    <p:nvPr/>
                  </p:nvSpPr>
                  <p:spPr>
                    <a:xfrm>
                      <a:off x="803314" y="1635123"/>
                      <a:ext cx="7714417" cy="2831544"/>
                    </a:xfrm>
                    <a:prstGeom prst="rect">
                      <a:avLst/>
                    </a:prstGeom>
                    <a:blipFill>
                      <a:blip r:embed="rId10"/>
                      <a:stretch>
                        <a:fillRect l="-1780" t="-2155" r="-593"/>
                      </a:stretch>
                    </a:blipFill>
                  </p:spPr>
                  <p:txBody>
                    <a:bodyPr/>
                    <a:lstStyle/>
                    <a:p>
                      <a:r>
                        <a:rPr lang="en-US">
                          <a:noFill/>
                        </a:rPr>
                        <a:t> </a:t>
                      </a:r>
                    </a:p>
                  </p:txBody>
                </p:sp>
              </mc:Fallback>
            </mc:AlternateContent>
          </p:grpSp>
          <p:grpSp>
            <p:nvGrpSpPr>
              <p:cNvPr id="17" name="Group 16">
                <a:extLst>
                  <a:ext uri="{FF2B5EF4-FFF2-40B4-BE49-F238E27FC236}">
                    <a16:creationId xmlns:a16="http://schemas.microsoft.com/office/drawing/2014/main" id="{B1F88407-1BD6-93F1-0079-1781B9D8DF18}"/>
                  </a:ext>
                </a:extLst>
              </p:cNvPr>
              <p:cNvGrpSpPr/>
              <p:nvPr/>
            </p:nvGrpSpPr>
            <p:grpSpPr>
              <a:xfrm>
                <a:off x="497051" y="2549401"/>
                <a:ext cx="8011142" cy="4392046"/>
                <a:chOff x="494656" y="751061"/>
                <a:chExt cx="8011142" cy="4392046"/>
              </a:xfrm>
            </p:grpSpPr>
            <p:pic>
              <p:nvPicPr>
                <p:cNvPr id="21" name="Graphic 20" descr="Checkmark with solid fill">
                  <a:extLst>
                    <a:ext uri="{FF2B5EF4-FFF2-40B4-BE49-F238E27FC236}">
                      <a16:creationId xmlns:a16="http://schemas.microsoft.com/office/drawing/2014/main" id="{63155917-3BA9-677E-F159-2A4EC9E53761}"/>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94656" y="751061"/>
                  <a:ext cx="311993" cy="336322"/>
                </a:xfrm>
                <a:prstGeom prst="rect">
                  <a:avLst/>
                </a:prstGeom>
              </p:spPr>
            </p:pic>
            <mc:AlternateContent xmlns:mc="http://schemas.openxmlformats.org/markup-compatibility/2006">
              <mc:Choice xmlns:a14="http://schemas.microsoft.com/office/drawing/2010/main" Requires="a14">
                <p:sp>
                  <p:nvSpPr>
                    <p:cNvPr id="22" name="TextBox 21">
                      <a:extLst>
                        <a:ext uri="{FF2B5EF4-FFF2-40B4-BE49-F238E27FC236}">
                          <a16:creationId xmlns:a16="http://schemas.microsoft.com/office/drawing/2014/main" id="{C65338B1-FDAA-F53F-50AD-9368E8E4D0A7}"/>
                        </a:ext>
                      </a:extLst>
                    </p:cNvPr>
                    <p:cNvSpPr txBox="1"/>
                    <p:nvPr/>
                  </p:nvSpPr>
                  <p:spPr>
                    <a:xfrm>
                      <a:off x="791381" y="2193710"/>
                      <a:ext cx="7714417" cy="2949397"/>
                    </a:xfrm>
                    <a:prstGeom prst="rect">
                      <a:avLst/>
                    </a:prstGeom>
                    <a:noFill/>
                  </p:spPr>
                  <p:txBody>
                    <a:bodyPr wrap="square" rtlCol="0">
                      <a:spAutoFit/>
                    </a:bodyPr>
                    <a:lstStyle/>
                    <a:p>
                      <a:pPr algn="just"/>
                      <a:r>
                        <a:rPr lang="en-US" sz="2800" b="1" dirty="0">
                          <a:solidFill>
                            <a:srgbClr val="C00000"/>
                          </a:solidFill>
                          <a:latin typeface="Calibri" panose="020F0502020204030204" pitchFamily="34" charset="0"/>
                          <a:ea typeface="Calibri" panose="020F0502020204030204" pitchFamily="34" charset="0"/>
                          <a:cs typeface="Calibri" panose="020F0502020204030204" pitchFamily="34" charset="0"/>
                        </a:rPr>
                        <a:t>Targets</a:t>
                      </a:r>
                    </a:p>
                    <a:p>
                      <a:pPr algn="just"/>
                      <a:r>
                        <a:rPr lang="en-US" sz="1500" b="1" dirty="0">
                          <a:solidFill>
                            <a:srgbClr val="C00000"/>
                          </a:solidFill>
                          <a:cs typeface="Times New Roman" panose="02020603050405020304" pitchFamily="18" charset="0"/>
                        </a:rPr>
                        <a:t>    </a:t>
                      </a:r>
                      <a:r>
                        <a:rPr lang="en-US" sz="1500" dirty="0">
                          <a:solidFill>
                            <a:srgbClr val="C00000"/>
                          </a:solidFill>
                          <a:cs typeface="Times New Roman" panose="02020603050405020304" pitchFamily="18" charset="0"/>
                        </a:rPr>
                        <a:t>- </a:t>
                      </a:r>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2</a:t>
                      </a:r>
                      <a:r>
                        <a:rPr lang="en-US" sz="2400" dirty="0">
                          <a:latin typeface="Calibri" panose="020F0502020204030204" pitchFamily="34" charset="0"/>
                          <a:ea typeface="Calibri" panose="020F0502020204030204" pitchFamily="34" charset="0"/>
                          <a:cs typeface="Calibri" panose="020F0502020204030204" pitchFamily="34" charset="0"/>
                        </a:rPr>
                        <a:t> </a:t>
                      </a:r>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targets</a:t>
                      </a:r>
                    </a:p>
                    <a:p>
                      <a:pPr algn="just"/>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    - All combination for narrow grid =&gt; </a:t>
                      </a:r>
                      <a14:m>
                        <m:oMath xmlns:m="http://schemas.openxmlformats.org/officeDocument/2006/math">
                          <m:d>
                            <m:dPr>
                              <m:ctrlPr>
                                <a:rPr lang="en-US" sz="2400" i="1" smtClean="0">
                                  <a:solidFill>
                                    <a:schemeClr val="bg1"/>
                                  </a:solidFill>
                                  <a:latin typeface="Cambria Math" panose="02040503050406030204" pitchFamily="18" charset="0"/>
                                  <a:cs typeface="Times New Roman" panose="02020603050405020304" pitchFamily="18" charset="0"/>
                                </a:rPr>
                              </m:ctrlPr>
                            </m:dPr>
                            <m:e>
                              <m:m>
                                <m:mPr>
                                  <m:mcs>
                                    <m:mc>
                                      <m:mcPr>
                                        <m:count m:val="1"/>
                                        <m:mcJc m:val="center"/>
                                      </m:mcPr>
                                    </m:mc>
                                  </m:mcs>
                                  <m:ctrlPr>
                                    <a:rPr lang="en-US" sz="2400" i="1" smtClean="0">
                                      <a:solidFill>
                                        <a:schemeClr val="bg1"/>
                                      </a:solidFill>
                                      <a:latin typeface="Cambria Math" panose="02040503050406030204" pitchFamily="18" charset="0"/>
                                      <a:cs typeface="Times New Roman" panose="02020603050405020304" pitchFamily="18" charset="0"/>
                                    </a:rPr>
                                  </m:ctrlPr>
                                </m:mPr>
                                <m:mr>
                                  <m:e>
                                    <m:r>
                                      <m:rPr>
                                        <m:brk m:alnAt="7"/>
                                      </m:rPr>
                                      <a:rPr lang="en-US" sz="2400" b="0" i="1" smtClean="0">
                                        <a:solidFill>
                                          <a:schemeClr val="bg1"/>
                                        </a:solidFill>
                                        <a:latin typeface="Cambria Math" panose="02040503050406030204" pitchFamily="18" charset="0"/>
                                        <a:cs typeface="Times New Roman" panose="02020603050405020304" pitchFamily="18" charset="0"/>
                                      </a:rPr>
                                      <m:t>1</m:t>
                                    </m:r>
                                    <m:r>
                                      <a:rPr lang="en-US" sz="2400" b="0" i="1" smtClean="0">
                                        <a:solidFill>
                                          <a:schemeClr val="bg1"/>
                                        </a:solidFill>
                                        <a:latin typeface="Cambria Math" panose="02040503050406030204" pitchFamily="18" charset="0"/>
                                        <a:cs typeface="Times New Roman" panose="02020603050405020304" pitchFamily="18" charset="0"/>
                                      </a:rPr>
                                      <m:t>61</m:t>
                                    </m:r>
                                  </m:e>
                                </m:mr>
                                <m:mr>
                                  <m:e>
                                    <m:r>
                                      <a:rPr lang="en-US" sz="2400" b="0" i="1" smtClean="0">
                                        <a:solidFill>
                                          <a:schemeClr val="bg1"/>
                                        </a:solidFill>
                                        <a:latin typeface="Cambria Math" panose="02040503050406030204" pitchFamily="18" charset="0"/>
                                        <a:cs typeface="Times New Roman" panose="02020603050405020304" pitchFamily="18" charset="0"/>
                                      </a:rPr>
                                      <m:t>2</m:t>
                                    </m:r>
                                  </m:e>
                                </m:mr>
                              </m:m>
                            </m:e>
                          </m:d>
                        </m:oMath>
                      </a14:m>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  i.e. 7260</a:t>
                      </a:r>
                    </a:p>
                    <a:p>
                      <a:pPr algn="just">
                        <a:lnSpc>
                          <a:spcPct val="150000"/>
                        </a:lnSpc>
                      </a:pPr>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    - All combination for narrow grid =&gt; </a:t>
                      </a:r>
                      <a14:m>
                        <m:oMath xmlns:m="http://schemas.openxmlformats.org/officeDocument/2006/math">
                          <m:d>
                            <m:dPr>
                              <m:ctrlPr>
                                <a:rPr lang="en-US" sz="2400" i="1" smtClean="0">
                                  <a:solidFill>
                                    <a:schemeClr val="bg1"/>
                                  </a:solidFill>
                                  <a:latin typeface="Cambria Math" panose="02040503050406030204" pitchFamily="18" charset="0"/>
                                  <a:cs typeface="Times New Roman" panose="02020603050405020304" pitchFamily="18" charset="0"/>
                                </a:rPr>
                              </m:ctrlPr>
                            </m:dPr>
                            <m:e>
                              <m:m>
                                <m:mPr>
                                  <m:mcs>
                                    <m:mc>
                                      <m:mcPr>
                                        <m:count m:val="1"/>
                                        <m:mcJc m:val="center"/>
                                      </m:mcPr>
                                    </m:mc>
                                  </m:mcs>
                                  <m:ctrlPr>
                                    <a:rPr lang="en-US" sz="2400" i="1" smtClean="0">
                                      <a:solidFill>
                                        <a:schemeClr val="bg1"/>
                                      </a:solidFill>
                                      <a:latin typeface="Cambria Math" panose="02040503050406030204" pitchFamily="18" charset="0"/>
                                      <a:cs typeface="Times New Roman" panose="02020603050405020304" pitchFamily="18" charset="0"/>
                                    </a:rPr>
                                  </m:ctrlPr>
                                </m:mPr>
                                <m:mr>
                                  <m:e>
                                    <m:r>
                                      <m:rPr>
                                        <m:brk m:alnAt="7"/>
                                      </m:rPr>
                                      <a:rPr lang="en-US" sz="2400" b="0" i="1" smtClean="0">
                                        <a:solidFill>
                                          <a:schemeClr val="bg1"/>
                                        </a:solidFill>
                                        <a:latin typeface="Cambria Math" panose="02040503050406030204" pitchFamily="18" charset="0"/>
                                        <a:cs typeface="Times New Roman" panose="02020603050405020304" pitchFamily="18" charset="0"/>
                                      </a:rPr>
                                      <m:t>1</m:t>
                                    </m:r>
                                    <m:r>
                                      <a:rPr lang="en-US" sz="2400" b="0" i="1" smtClean="0">
                                        <a:solidFill>
                                          <a:schemeClr val="bg1"/>
                                        </a:solidFill>
                                        <a:latin typeface="Cambria Math" panose="02040503050406030204" pitchFamily="18" charset="0"/>
                                        <a:cs typeface="Times New Roman" panose="02020603050405020304" pitchFamily="18" charset="0"/>
                                      </a:rPr>
                                      <m:t>81</m:t>
                                    </m:r>
                                  </m:e>
                                </m:mr>
                                <m:mr>
                                  <m:e>
                                    <m:r>
                                      <a:rPr lang="en-US" sz="2400" b="0" i="1" smtClean="0">
                                        <a:solidFill>
                                          <a:schemeClr val="bg1"/>
                                        </a:solidFill>
                                        <a:latin typeface="Cambria Math" panose="02040503050406030204" pitchFamily="18" charset="0"/>
                                        <a:cs typeface="Times New Roman" panose="02020603050405020304" pitchFamily="18" charset="0"/>
                                      </a:rPr>
                                      <m:t>2</m:t>
                                    </m:r>
                                  </m:e>
                                </m:mr>
                              </m:m>
                            </m:e>
                          </m:d>
                        </m:oMath>
                      </a14:m>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  i.e. 16290</a:t>
                      </a:r>
                    </a:p>
                    <a:p>
                      <a:pPr algn="just"/>
                      <a:endParaRPr lang="en-US" sz="1500" dirty="0">
                        <a:cs typeface="Times New Roman" panose="02020603050405020304" pitchFamily="18" charset="0"/>
                      </a:endParaRPr>
                    </a:p>
                    <a:p>
                      <a:pPr algn="just"/>
                      <a:endParaRPr lang="en-US" sz="1500" b="1" dirty="0">
                        <a:solidFill>
                          <a:srgbClr val="C00000"/>
                        </a:solidFill>
                        <a:cs typeface="Times New Roman" panose="02020603050405020304" pitchFamily="18" charset="0"/>
                      </a:endParaRPr>
                    </a:p>
                  </p:txBody>
                </p:sp>
              </mc:Choice>
              <mc:Fallback>
                <p:sp>
                  <p:nvSpPr>
                    <p:cNvPr id="22" name="TextBox 21">
                      <a:extLst>
                        <a:ext uri="{FF2B5EF4-FFF2-40B4-BE49-F238E27FC236}">
                          <a16:creationId xmlns:a16="http://schemas.microsoft.com/office/drawing/2014/main" id="{C65338B1-FDAA-F53F-50AD-9368E8E4D0A7}"/>
                        </a:ext>
                      </a:extLst>
                    </p:cNvPr>
                    <p:cNvSpPr txBox="1">
                      <a:spLocks noRot="1" noChangeAspect="1" noMove="1" noResize="1" noEditPoints="1" noAdjustHandles="1" noChangeArrowheads="1" noChangeShapeType="1" noTextEdit="1"/>
                    </p:cNvSpPr>
                    <p:nvPr/>
                  </p:nvSpPr>
                  <p:spPr>
                    <a:xfrm>
                      <a:off x="791381" y="2193710"/>
                      <a:ext cx="7714417" cy="2949397"/>
                    </a:xfrm>
                    <a:prstGeom prst="rect">
                      <a:avLst/>
                    </a:prstGeom>
                    <a:blipFill>
                      <a:blip r:embed="rId11"/>
                      <a:stretch>
                        <a:fillRect l="-1693" t="-2070"/>
                      </a:stretch>
                    </a:blipFill>
                  </p:spPr>
                  <p:txBody>
                    <a:bodyPr/>
                    <a:lstStyle/>
                    <a:p>
                      <a:r>
                        <a:rPr lang="en-US">
                          <a:noFill/>
                        </a:rPr>
                        <a:t> </a:t>
                      </a:r>
                    </a:p>
                  </p:txBody>
                </p:sp>
              </mc:Fallback>
            </mc:AlternateContent>
          </p:grpSp>
          <p:grpSp>
            <p:nvGrpSpPr>
              <p:cNvPr id="18" name="Group 17">
                <a:extLst>
                  <a:ext uri="{FF2B5EF4-FFF2-40B4-BE49-F238E27FC236}">
                    <a16:creationId xmlns:a16="http://schemas.microsoft.com/office/drawing/2014/main" id="{B5A42E7E-8963-69E8-CF3A-4B47C2E6C1EE}"/>
                  </a:ext>
                </a:extLst>
              </p:cNvPr>
              <p:cNvGrpSpPr/>
              <p:nvPr/>
            </p:nvGrpSpPr>
            <p:grpSpPr>
              <a:xfrm>
                <a:off x="-2932726" y="4134681"/>
                <a:ext cx="3730112" cy="2317905"/>
                <a:chOff x="-2935121" y="898764"/>
                <a:chExt cx="3730112" cy="2317905"/>
              </a:xfrm>
            </p:grpSpPr>
            <p:pic>
              <p:nvPicPr>
                <p:cNvPr id="19" name="Graphic 18" descr="Checkmark with solid fill">
                  <a:extLst>
                    <a:ext uri="{FF2B5EF4-FFF2-40B4-BE49-F238E27FC236}">
                      <a16:creationId xmlns:a16="http://schemas.microsoft.com/office/drawing/2014/main" id="{27A18E57-A4A3-4645-777C-77A46F704F46}"/>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82998" y="898764"/>
                  <a:ext cx="311993" cy="336322"/>
                </a:xfrm>
                <a:prstGeom prst="rect">
                  <a:avLst/>
                </a:prstGeom>
              </p:spPr>
            </p:pic>
            <p:sp>
              <p:nvSpPr>
                <p:cNvPr id="20" name="TextBox 19">
                  <a:extLst>
                    <a:ext uri="{FF2B5EF4-FFF2-40B4-BE49-F238E27FC236}">
                      <a16:creationId xmlns:a16="http://schemas.microsoft.com/office/drawing/2014/main" id="{6E54D4A1-4857-0ECC-61F9-EBD5E76CCBE3}"/>
                    </a:ext>
                  </a:extLst>
                </p:cNvPr>
                <p:cNvSpPr txBox="1"/>
                <p:nvPr/>
              </p:nvSpPr>
              <p:spPr>
                <a:xfrm>
                  <a:off x="-2935121" y="1862452"/>
                  <a:ext cx="3290986" cy="1354217"/>
                </a:xfrm>
                <a:prstGeom prst="rect">
                  <a:avLst/>
                </a:prstGeom>
                <a:noFill/>
              </p:spPr>
              <p:txBody>
                <a:bodyPr wrap="square" rtlCol="0">
                  <a:spAutoFit/>
                </a:bodyPr>
                <a:lstStyle/>
                <a:p>
                  <a:pPr algn="just"/>
                  <a:r>
                    <a:rPr lang="en-US" sz="2800" b="1" dirty="0">
                      <a:solidFill>
                        <a:srgbClr val="C00000"/>
                      </a:solidFill>
                      <a:latin typeface="Calibri" panose="020F0502020204030204" pitchFamily="34" charset="0"/>
                      <a:ea typeface="Calibri" panose="020F0502020204030204" pitchFamily="34" charset="0"/>
                      <a:cs typeface="Calibri" panose="020F0502020204030204" pitchFamily="34" charset="0"/>
                    </a:rPr>
                    <a:t>Antennas</a:t>
                  </a:r>
                </a:p>
                <a:p>
                  <a:pPr algn="just"/>
                  <a:r>
                    <a:rPr lang="en-US" sz="1500" b="1" dirty="0">
                      <a:solidFill>
                        <a:srgbClr val="C00000"/>
                      </a:solidFill>
                      <a:cs typeface="Times New Roman" panose="02020603050405020304" pitchFamily="18" charset="0"/>
                    </a:rPr>
                    <a:t>    </a:t>
                  </a:r>
                  <a:r>
                    <a:rPr lang="en-US" sz="1500" dirty="0">
                      <a:solidFill>
                        <a:srgbClr val="C00000"/>
                      </a:solidFill>
                      <a:cs typeface="Times New Roman" panose="02020603050405020304" pitchFamily="18" charset="0"/>
                    </a:rPr>
                    <a:t>- </a:t>
                  </a:r>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Array of 16 antennas</a:t>
                  </a:r>
                </a:p>
                <a:p>
                  <a:pPr algn="just"/>
                  <a:r>
                    <a:rPr lang="en-US" sz="1500" dirty="0">
                      <a:solidFill>
                        <a:schemeClr val="bg1"/>
                      </a:solidFill>
                      <a:cs typeface="Times New Roman" panose="02020603050405020304" pitchFamily="18" charset="0"/>
                    </a:rPr>
                    <a:t>    </a:t>
                  </a:r>
                </a:p>
                <a:p>
                  <a:pPr algn="just"/>
                  <a:endParaRPr lang="en-US" sz="1500" b="1" dirty="0">
                    <a:solidFill>
                      <a:srgbClr val="C00000"/>
                    </a:solidFill>
                    <a:cs typeface="Times New Roman" panose="02020603050405020304" pitchFamily="18" charset="0"/>
                  </a:endParaRPr>
                </a:p>
              </p:txBody>
            </p:sp>
          </p:grpSp>
        </p:grpSp>
        <p:sp>
          <p:nvSpPr>
            <p:cNvPr id="14" name="Rectangle 13">
              <a:extLst>
                <a:ext uri="{FF2B5EF4-FFF2-40B4-BE49-F238E27FC236}">
                  <a16:creationId xmlns:a16="http://schemas.microsoft.com/office/drawing/2014/main" id="{D1E96E12-899B-21F0-DACF-06FC4069CCE5}"/>
                </a:ext>
              </a:extLst>
            </p:cNvPr>
            <p:cNvSpPr/>
            <p:nvPr/>
          </p:nvSpPr>
          <p:spPr>
            <a:xfrm>
              <a:off x="3768132" y="1955823"/>
              <a:ext cx="5030627" cy="381692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9" name="TextBox 28">
            <a:extLst>
              <a:ext uri="{FF2B5EF4-FFF2-40B4-BE49-F238E27FC236}">
                <a16:creationId xmlns:a16="http://schemas.microsoft.com/office/drawing/2014/main" id="{1679BBC8-4D03-6E95-A33A-3BC2DF8BA862}"/>
              </a:ext>
            </a:extLst>
          </p:cNvPr>
          <p:cNvSpPr txBox="1"/>
          <p:nvPr/>
        </p:nvSpPr>
        <p:spPr>
          <a:xfrm>
            <a:off x="6148993" y="954644"/>
            <a:ext cx="4900652" cy="584775"/>
          </a:xfrm>
          <a:prstGeom prst="rect">
            <a:avLst/>
          </a:prstGeom>
          <a:noFill/>
        </p:spPr>
        <p:txBody>
          <a:bodyPr wrap="square" rtlCol="0">
            <a:spAutoFit/>
          </a:bodyPr>
          <a:lstStyle/>
          <a:p>
            <a:pPr algn="ctr"/>
            <a:r>
              <a:rPr lang="en-US" sz="3200" b="1" dirty="0">
                <a:solidFill>
                  <a:srgbClr val="C00000"/>
                </a:solidFill>
                <a:latin typeface="Calibri" panose="020F0502020204030204" pitchFamily="34" charset="0"/>
                <a:ea typeface="Calibri" panose="020F0502020204030204" pitchFamily="34" charset="0"/>
                <a:cs typeface="Calibri" panose="020F0502020204030204" pitchFamily="34" charset="0"/>
              </a:rPr>
              <a:t>Dataset Characteristics</a:t>
            </a:r>
          </a:p>
        </p:txBody>
      </p:sp>
      <p:sp>
        <p:nvSpPr>
          <p:cNvPr id="32" name="TextBox 31">
            <a:extLst>
              <a:ext uri="{FF2B5EF4-FFF2-40B4-BE49-F238E27FC236}">
                <a16:creationId xmlns:a16="http://schemas.microsoft.com/office/drawing/2014/main" id="{0EFC452B-58F2-84BF-21B6-269DEC63CDDC}"/>
              </a:ext>
            </a:extLst>
          </p:cNvPr>
          <p:cNvSpPr txBox="1"/>
          <p:nvPr/>
        </p:nvSpPr>
        <p:spPr>
          <a:xfrm>
            <a:off x="-322247" y="964958"/>
            <a:ext cx="5235038" cy="584775"/>
          </a:xfrm>
          <a:prstGeom prst="rect">
            <a:avLst/>
          </a:prstGeom>
          <a:noFill/>
        </p:spPr>
        <p:txBody>
          <a:bodyPr wrap="square" rtlCol="0">
            <a:spAutoFit/>
          </a:bodyPr>
          <a:lstStyle/>
          <a:p>
            <a:pPr algn="ctr"/>
            <a:r>
              <a:rPr lang="en-US" sz="3200" b="1" dirty="0">
                <a:solidFill>
                  <a:srgbClr val="C00000"/>
                </a:solidFill>
                <a:latin typeface="Calibri" panose="020F0502020204030204" pitchFamily="34" charset="0"/>
                <a:ea typeface="Calibri" panose="020F0502020204030204" pitchFamily="34" charset="0"/>
                <a:cs typeface="Calibri" panose="020F0502020204030204" pitchFamily="34" charset="0"/>
              </a:rPr>
              <a:t>Design Considerations</a:t>
            </a:r>
          </a:p>
        </p:txBody>
      </p:sp>
    </p:spTree>
    <p:extLst>
      <p:ext uri="{BB962C8B-B14F-4D97-AF65-F5344CB8AC3E}">
        <p14:creationId xmlns:p14="http://schemas.microsoft.com/office/powerpoint/2010/main" val="32814275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339315B-8AAE-A946-ABBF-894F2E4B1338}"/>
              </a:ext>
            </a:extLst>
          </p:cNvPr>
          <p:cNvSpPr>
            <a:spLocks noGrp="1"/>
          </p:cNvSpPr>
          <p:nvPr>
            <p:ph type="title"/>
          </p:nvPr>
        </p:nvSpPr>
        <p:spPr>
          <a:xfrm>
            <a:off x="4219149" y="133129"/>
            <a:ext cx="4438703" cy="610863"/>
          </a:xfrm>
        </p:spPr>
        <p:txBody>
          <a:bodyPr>
            <a:normAutofit/>
          </a:bodyPr>
          <a:lstStyle/>
          <a:p>
            <a:r>
              <a:rPr lang="en-US" sz="3600" dirty="0"/>
              <a:t>Dataset Preparation</a:t>
            </a:r>
          </a:p>
        </p:txBody>
      </p:sp>
      <p:sp>
        <p:nvSpPr>
          <p:cNvPr id="10" name="Slide Number Placeholder 9">
            <a:extLst>
              <a:ext uri="{FF2B5EF4-FFF2-40B4-BE49-F238E27FC236}">
                <a16:creationId xmlns:a16="http://schemas.microsoft.com/office/drawing/2014/main" id="{F42DD107-ADDE-7EDB-266F-246ADC310004}"/>
              </a:ext>
            </a:extLst>
          </p:cNvPr>
          <p:cNvSpPr>
            <a:spLocks noGrp="1"/>
          </p:cNvSpPr>
          <p:nvPr>
            <p:ph type="sldNum" sz="quarter" idx="13"/>
          </p:nvPr>
        </p:nvSpPr>
        <p:spPr/>
        <p:txBody>
          <a:bodyPr/>
          <a:lstStyle/>
          <a:p>
            <a:fld id="{294A09A9-5501-47C1-A89A-A340965A2BE2}" type="slidenum">
              <a:rPr lang="en-US" smtClean="0"/>
              <a:pPr/>
              <a:t>8</a:t>
            </a:fld>
            <a:endParaRPr lang="en-US" dirty="0">
              <a:latin typeface="+mn-lt"/>
            </a:endParaRPr>
          </a:p>
        </p:txBody>
      </p:sp>
      <p:grpSp>
        <p:nvGrpSpPr>
          <p:cNvPr id="2" name="Group 1">
            <a:extLst>
              <a:ext uri="{FF2B5EF4-FFF2-40B4-BE49-F238E27FC236}">
                <a16:creationId xmlns:a16="http://schemas.microsoft.com/office/drawing/2014/main" id="{1A6C99E2-C58B-F2A2-BF3C-CA9355C62529}"/>
              </a:ext>
            </a:extLst>
          </p:cNvPr>
          <p:cNvGrpSpPr/>
          <p:nvPr/>
        </p:nvGrpSpPr>
        <p:grpSpPr>
          <a:xfrm>
            <a:off x="486383" y="2799382"/>
            <a:ext cx="6301644" cy="2029568"/>
            <a:chOff x="481782" y="1113781"/>
            <a:chExt cx="6301644" cy="2029568"/>
          </a:xfrm>
        </p:grpSpPr>
        <p:pic>
          <p:nvPicPr>
            <p:cNvPr id="4" name="Graphic 3" descr="Checkmark with solid fill">
              <a:extLst>
                <a:ext uri="{FF2B5EF4-FFF2-40B4-BE49-F238E27FC236}">
                  <a16:creationId xmlns:a16="http://schemas.microsoft.com/office/drawing/2014/main" id="{D5293980-2297-1076-697E-BD2B9343289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81782" y="1113781"/>
              <a:ext cx="311993" cy="336322"/>
            </a:xfrm>
            <a:prstGeom prst="rect">
              <a:avLst/>
            </a:prstGeom>
          </p:spPr>
        </p:pic>
        <p:sp>
          <p:nvSpPr>
            <p:cNvPr id="5" name="TextBox 4">
              <a:extLst>
                <a:ext uri="{FF2B5EF4-FFF2-40B4-BE49-F238E27FC236}">
                  <a16:creationId xmlns:a16="http://schemas.microsoft.com/office/drawing/2014/main" id="{7722E4FC-207F-18AE-7612-098908776B78}"/>
                </a:ext>
              </a:extLst>
            </p:cNvPr>
            <p:cNvSpPr txBox="1"/>
            <p:nvPr/>
          </p:nvSpPr>
          <p:spPr>
            <a:xfrm>
              <a:off x="793776" y="1142801"/>
              <a:ext cx="5989650" cy="2000548"/>
            </a:xfrm>
            <a:prstGeom prst="rect">
              <a:avLst/>
            </a:prstGeom>
            <a:noFill/>
          </p:spPr>
          <p:txBody>
            <a:bodyPr wrap="square" rtlCol="0">
              <a:spAutoFit/>
            </a:bodyPr>
            <a:lstStyle/>
            <a:p>
              <a:pPr algn="just"/>
              <a:r>
                <a:rPr lang="en-US" sz="2800" b="1" dirty="0">
                  <a:solidFill>
                    <a:srgbClr val="C00000"/>
                  </a:solidFill>
                  <a:latin typeface="Calibri" panose="020F0502020204030204" pitchFamily="34" charset="0"/>
                  <a:ea typeface="Calibri" panose="020F0502020204030204" pitchFamily="34" charset="0"/>
                  <a:cs typeface="Calibri" panose="020F0502020204030204" pitchFamily="34" charset="0"/>
                </a:rPr>
                <a:t>Feature Extraction</a:t>
              </a:r>
            </a:p>
            <a:p>
              <a:pPr algn="just"/>
              <a:r>
                <a:rPr lang="en-US" sz="2400" b="1"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-Extraction of the Real, Imaginary and Phase components of the matrix</a:t>
              </a:r>
            </a:p>
            <a:p>
              <a:pPr algn="just"/>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    - A matrix of shape 16 x 16 x 3 for each sample</a:t>
              </a:r>
            </a:p>
          </p:txBody>
        </p:sp>
      </p:grpSp>
      <p:grpSp>
        <p:nvGrpSpPr>
          <p:cNvPr id="7" name="Group 6">
            <a:extLst>
              <a:ext uri="{FF2B5EF4-FFF2-40B4-BE49-F238E27FC236}">
                <a16:creationId xmlns:a16="http://schemas.microsoft.com/office/drawing/2014/main" id="{E04ACEE0-CFAD-07A2-A6E0-BDD639C3C9BB}"/>
              </a:ext>
            </a:extLst>
          </p:cNvPr>
          <p:cNvGrpSpPr/>
          <p:nvPr/>
        </p:nvGrpSpPr>
        <p:grpSpPr>
          <a:xfrm>
            <a:off x="551737" y="4846377"/>
            <a:ext cx="8031173" cy="1290904"/>
            <a:chOff x="481782" y="1113781"/>
            <a:chExt cx="8031173" cy="1290904"/>
          </a:xfrm>
        </p:grpSpPr>
        <p:pic>
          <p:nvPicPr>
            <p:cNvPr id="9" name="Graphic 8" descr="Checkmark with solid fill">
              <a:extLst>
                <a:ext uri="{FF2B5EF4-FFF2-40B4-BE49-F238E27FC236}">
                  <a16:creationId xmlns:a16="http://schemas.microsoft.com/office/drawing/2014/main" id="{A5EB48DE-F69F-9446-0C20-2D3B8718B06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81782" y="1113781"/>
              <a:ext cx="311993" cy="336322"/>
            </a:xfrm>
            <a:prstGeom prst="rect">
              <a:avLst/>
            </a:prstGeom>
          </p:spPr>
        </p:pic>
        <p:sp>
          <p:nvSpPr>
            <p:cNvPr id="12" name="TextBox 11">
              <a:extLst>
                <a:ext uri="{FF2B5EF4-FFF2-40B4-BE49-F238E27FC236}">
                  <a16:creationId xmlns:a16="http://schemas.microsoft.com/office/drawing/2014/main" id="{1B764404-8D09-43F1-1990-A53BBE1CB480}"/>
                </a:ext>
              </a:extLst>
            </p:cNvPr>
            <p:cNvSpPr txBox="1"/>
            <p:nvPr/>
          </p:nvSpPr>
          <p:spPr>
            <a:xfrm>
              <a:off x="798538" y="1142801"/>
              <a:ext cx="7714417" cy="1261884"/>
            </a:xfrm>
            <a:prstGeom prst="rect">
              <a:avLst/>
            </a:prstGeom>
            <a:noFill/>
          </p:spPr>
          <p:txBody>
            <a:bodyPr wrap="square" rtlCol="0">
              <a:spAutoFit/>
            </a:bodyPr>
            <a:lstStyle/>
            <a:p>
              <a:pPr algn="just"/>
              <a:r>
                <a:rPr lang="en-US" sz="2800" b="1" dirty="0">
                  <a:solidFill>
                    <a:srgbClr val="C00000"/>
                  </a:solidFill>
                  <a:latin typeface="Calibri" panose="020F0502020204030204" pitchFamily="34" charset="0"/>
                  <a:ea typeface="Calibri" panose="020F0502020204030204" pitchFamily="34" charset="0"/>
                  <a:cs typeface="Calibri" panose="020F0502020204030204" pitchFamily="34" charset="0"/>
                </a:rPr>
                <a:t>Label</a:t>
              </a:r>
            </a:p>
            <a:p>
              <a:pPr algn="just"/>
              <a:r>
                <a:rPr lang="en-US" sz="2400" b="1"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 Target angles as a sparse vector</a:t>
              </a:r>
            </a:p>
            <a:p>
              <a:pPr algn="just"/>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    - </a:t>
              </a:r>
              <a:r>
                <a:rPr lang="en-US" sz="2400" b="1" dirty="0">
                  <a:solidFill>
                    <a:schemeClr val="bg1"/>
                  </a:solidFill>
                  <a:latin typeface="Calibri" panose="020F0502020204030204" pitchFamily="34" charset="0"/>
                  <a:ea typeface="Calibri" panose="020F0502020204030204" pitchFamily="34" charset="0"/>
                  <a:cs typeface="Calibri" panose="020F0502020204030204" pitchFamily="34" charset="0"/>
                </a:rPr>
                <a:t>1</a:t>
              </a:r>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sym typeface="Wingdings" panose="05000000000000000000" pitchFamily="2" charset="2"/>
                </a:rPr>
                <a:t> Target presence, </a:t>
              </a:r>
              <a:r>
                <a:rPr lang="en-US" sz="2400" b="1" dirty="0">
                  <a:solidFill>
                    <a:schemeClr val="bg1"/>
                  </a:solidFill>
                  <a:latin typeface="Calibri" panose="020F0502020204030204" pitchFamily="34" charset="0"/>
                  <a:ea typeface="Calibri" panose="020F0502020204030204" pitchFamily="34" charset="0"/>
                  <a:cs typeface="Calibri" panose="020F0502020204030204" pitchFamily="34" charset="0"/>
                </a:rPr>
                <a:t>0</a:t>
              </a:r>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sym typeface="Wingdings" panose="05000000000000000000" pitchFamily="2" charset="2"/>
                </a:rPr>
                <a:t> Target absence</a:t>
              </a:r>
              <a:endPar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grpSp>
      <p:grpSp>
        <p:nvGrpSpPr>
          <p:cNvPr id="13" name="Group 12">
            <a:extLst>
              <a:ext uri="{FF2B5EF4-FFF2-40B4-BE49-F238E27FC236}">
                <a16:creationId xmlns:a16="http://schemas.microsoft.com/office/drawing/2014/main" id="{2CACC9ED-48C3-D488-7AB3-CF2567226590}"/>
              </a:ext>
            </a:extLst>
          </p:cNvPr>
          <p:cNvGrpSpPr/>
          <p:nvPr/>
        </p:nvGrpSpPr>
        <p:grpSpPr>
          <a:xfrm>
            <a:off x="486383" y="818228"/>
            <a:ext cx="9926756" cy="2029568"/>
            <a:chOff x="481782" y="1075320"/>
            <a:chExt cx="9926756" cy="2029568"/>
          </a:xfrm>
        </p:grpSpPr>
        <p:grpSp>
          <p:nvGrpSpPr>
            <p:cNvPr id="15" name="Group 14">
              <a:extLst>
                <a:ext uri="{FF2B5EF4-FFF2-40B4-BE49-F238E27FC236}">
                  <a16:creationId xmlns:a16="http://schemas.microsoft.com/office/drawing/2014/main" id="{8CE00C62-FB92-298A-A68A-394717F84BD1}"/>
                </a:ext>
              </a:extLst>
            </p:cNvPr>
            <p:cNvGrpSpPr/>
            <p:nvPr/>
          </p:nvGrpSpPr>
          <p:grpSpPr>
            <a:xfrm>
              <a:off x="481782" y="1075320"/>
              <a:ext cx="8026410" cy="2029568"/>
              <a:chOff x="481782" y="1113781"/>
              <a:chExt cx="8026410" cy="2029568"/>
            </a:xfrm>
          </p:grpSpPr>
          <p:pic>
            <p:nvPicPr>
              <p:cNvPr id="17" name="Graphic 16" descr="Checkmark with solid fill">
                <a:extLst>
                  <a:ext uri="{FF2B5EF4-FFF2-40B4-BE49-F238E27FC236}">
                    <a16:creationId xmlns:a16="http://schemas.microsoft.com/office/drawing/2014/main" id="{A233E351-CC2F-7B99-9490-E5066955355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81782" y="1113781"/>
                <a:ext cx="311993" cy="336322"/>
              </a:xfrm>
              <a:prstGeom prst="rect">
                <a:avLst/>
              </a:prstGeom>
            </p:spPr>
          </p:pic>
          <p:sp>
            <p:nvSpPr>
              <p:cNvPr id="18" name="TextBox 17">
                <a:extLst>
                  <a:ext uri="{FF2B5EF4-FFF2-40B4-BE49-F238E27FC236}">
                    <a16:creationId xmlns:a16="http://schemas.microsoft.com/office/drawing/2014/main" id="{1142F2D8-B49F-0A7F-516F-514F1A3D6CA2}"/>
                  </a:ext>
                </a:extLst>
              </p:cNvPr>
              <p:cNvSpPr txBox="1"/>
              <p:nvPr/>
            </p:nvSpPr>
            <p:spPr>
              <a:xfrm>
                <a:off x="793775" y="1142801"/>
                <a:ext cx="7714417" cy="2000548"/>
              </a:xfrm>
              <a:prstGeom prst="rect">
                <a:avLst/>
              </a:prstGeom>
              <a:noFill/>
            </p:spPr>
            <p:txBody>
              <a:bodyPr wrap="square" rtlCol="0">
                <a:spAutoFit/>
              </a:bodyPr>
              <a:lstStyle/>
              <a:p>
                <a:pPr algn="just"/>
                <a:r>
                  <a:rPr lang="en-US" sz="2800" b="1" dirty="0">
                    <a:solidFill>
                      <a:srgbClr val="C00000"/>
                    </a:solidFill>
                    <a:latin typeface="Calibri" panose="020F0502020204030204" pitchFamily="34" charset="0"/>
                    <a:ea typeface="Calibri" panose="020F0502020204030204" pitchFamily="34" charset="0"/>
                    <a:cs typeface="Calibri" panose="020F0502020204030204" pitchFamily="34" charset="0"/>
                  </a:rPr>
                  <a:t>Covariance Matrix Generation</a:t>
                </a:r>
              </a:p>
              <a:p>
                <a:pPr algn="just"/>
                <a:r>
                  <a:rPr lang="en-US" sz="2400" b="1" dirty="0">
                    <a:solidFill>
                      <a:schemeClr val="bg1"/>
                    </a:solidFill>
                    <a:latin typeface="Calibri" panose="020F0502020204030204" pitchFamily="34" charset="0"/>
                    <a:ea typeface="Calibri" panose="020F0502020204030204" pitchFamily="34" charset="0"/>
                    <a:cs typeface="Calibri" panose="020F0502020204030204" pitchFamily="34" charset="0"/>
                  </a:rPr>
                  <a:t>    - </a:t>
                </a:r>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Antenna array response for angle combinations</a:t>
                </a:r>
              </a:p>
              <a:p>
                <a:pPr algn="just"/>
                <a:r>
                  <a:rPr lang="en-US" sz="2400" b="1" dirty="0">
                    <a:solidFill>
                      <a:schemeClr val="bg1"/>
                    </a:solidFill>
                    <a:latin typeface="Calibri" panose="020F0502020204030204" pitchFamily="34" charset="0"/>
                    <a:ea typeface="Calibri" panose="020F0502020204030204" pitchFamily="34" charset="0"/>
                    <a:cs typeface="Calibri" panose="020F0502020204030204" pitchFamily="34" charset="0"/>
                  </a:rPr>
                  <a:t>    - </a:t>
                </a:r>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Signal generation (200 snapshots)</a:t>
                </a:r>
              </a:p>
              <a:p>
                <a:pPr algn="just"/>
                <a:r>
                  <a:rPr lang="en-US" sz="2400" b="1" dirty="0">
                    <a:solidFill>
                      <a:schemeClr val="bg1"/>
                    </a:solidFill>
                    <a:latin typeface="Calibri" panose="020F0502020204030204" pitchFamily="34" charset="0"/>
                    <a:ea typeface="Calibri" panose="020F0502020204030204" pitchFamily="34" charset="0"/>
                    <a:cs typeface="Calibri" panose="020F0502020204030204" pitchFamily="34" charset="0"/>
                  </a:rPr>
                  <a:t>    - </a:t>
                </a:r>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Addition of noise based on SNR</a:t>
                </a:r>
              </a:p>
              <a:p>
                <a:pPr algn="just"/>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en-US" sz="2400" b="1" kern="1200" dirty="0">
                    <a:solidFill>
                      <a:schemeClr val="bg1"/>
                    </a:solidFill>
                    <a:effectLst/>
                    <a:latin typeface="Calibri" panose="020F0502020204030204" pitchFamily="34" charset="0"/>
                    <a:ea typeface="Calibri" panose="020F0502020204030204" pitchFamily="34" charset="0"/>
                    <a:cs typeface="Calibri" panose="020F0502020204030204" pitchFamily="34" charset="0"/>
                  </a:rPr>
                  <a:t>- </a:t>
                </a:r>
                <a:r>
                  <a:rPr lang="en-US" sz="2400" kern="1200" dirty="0">
                    <a:solidFill>
                      <a:schemeClr val="bg1"/>
                    </a:solidFill>
                    <a:effectLst/>
                    <a:latin typeface="Calibri" panose="020F0502020204030204" pitchFamily="34" charset="0"/>
                    <a:ea typeface="Calibri" panose="020F0502020204030204" pitchFamily="34" charset="0"/>
                    <a:cs typeface="Calibri" panose="020F0502020204030204" pitchFamily="34" charset="0"/>
                  </a:rPr>
                  <a:t>Matrix shape 16 x 16</a:t>
                </a:r>
                <a:r>
                  <a:rPr lang="en-US" sz="2400" dirty="0">
                    <a:solidFill>
                      <a:schemeClr val="bg1"/>
                    </a:solidFill>
                    <a:effectLst/>
                    <a:latin typeface="Calibri" panose="020F0502020204030204" pitchFamily="34" charset="0"/>
                    <a:ea typeface="Calibri" panose="020F0502020204030204" pitchFamily="34" charset="0"/>
                    <a:cs typeface="Calibri" panose="020F0502020204030204" pitchFamily="34" charset="0"/>
                  </a:rPr>
                  <a:t> </a:t>
                </a:r>
              </a:p>
            </p:txBody>
          </p:sp>
        </p:grpSp>
        <mc:AlternateContent xmlns:mc="http://schemas.openxmlformats.org/markup-compatibility/2006">
          <mc:Choice xmlns:a14="http://schemas.microsoft.com/office/drawing/2010/main" Requires="a14">
            <p:sp>
              <p:nvSpPr>
                <p:cNvPr id="16" name="TextBox 15">
                  <a:extLst>
                    <a:ext uri="{FF2B5EF4-FFF2-40B4-BE49-F238E27FC236}">
                      <a16:creationId xmlns:a16="http://schemas.microsoft.com/office/drawing/2014/main" id="{D61D2138-93AE-214E-89A1-B550B4F588A6}"/>
                    </a:ext>
                  </a:extLst>
                </p:cNvPr>
                <p:cNvSpPr txBox="1"/>
                <p:nvPr/>
              </p:nvSpPr>
              <p:spPr>
                <a:xfrm>
                  <a:off x="7745693" y="1218997"/>
                  <a:ext cx="2662845" cy="694036"/>
                </a:xfrm>
                <a:prstGeom prst="rect">
                  <a:avLst/>
                </a:prstGeom>
                <a:noFill/>
                <a:ln>
                  <a:solidFill>
                    <a:schemeClr val="tx1"/>
                  </a:solidFill>
                </a:ln>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pt-BR" sz="2400" b="1" i="1" smtClean="0">
                            <a:solidFill>
                              <a:schemeClr val="bg1"/>
                            </a:solidFill>
                            <a:latin typeface="Cambria Math" panose="02040503050406030204" pitchFamily="18" charset="0"/>
                          </a:rPr>
                          <m:t>𝑹</m:t>
                        </m:r>
                        <m:r>
                          <a:rPr lang="pt-BR" sz="2400" i="1" smtClean="0">
                            <a:solidFill>
                              <a:schemeClr val="bg1"/>
                            </a:solidFill>
                            <a:latin typeface="Cambria Math" panose="02040503050406030204" pitchFamily="18" charset="0"/>
                          </a:rPr>
                          <m:t> = </m:t>
                        </m:r>
                        <m:f>
                          <m:fPr>
                            <m:ctrlPr>
                              <a:rPr lang="pt-BR" sz="2400" i="1" smtClean="0">
                                <a:solidFill>
                                  <a:schemeClr val="bg1"/>
                                </a:solidFill>
                                <a:latin typeface="Cambria Math" panose="02040503050406030204" pitchFamily="18" charset="0"/>
                              </a:rPr>
                            </m:ctrlPr>
                          </m:fPr>
                          <m:num>
                            <m:r>
                              <a:rPr lang="en-US" sz="2400" b="0" i="1" smtClean="0">
                                <a:solidFill>
                                  <a:schemeClr val="bg1"/>
                                </a:solidFill>
                                <a:latin typeface="Cambria Math" panose="02040503050406030204" pitchFamily="18" charset="0"/>
                              </a:rPr>
                              <m:t>1</m:t>
                            </m:r>
                          </m:num>
                          <m:den>
                            <m:r>
                              <a:rPr lang="en-US" sz="2400" b="0" i="1" smtClean="0">
                                <a:solidFill>
                                  <a:schemeClr val="bg1"/>
                                </a:solidFill>
                                <a:latin typeface="Cambria Math" panose="02040503050406030204" pitchFamily="18" charset="0"/>
                              </a:rPr>
                              <m:t>𝑆</m:t>
                            </m:r>
                          </m:den>
                        </m:f>
                        <m:r>
                          <a:rPr lang="en-US" sz="2400" b="1" i="1" smtClean="0">
                            <a:solidFill>
                              <a:schemeClr val="bg1"/>
                            </a:solidFill>
                            <a:latin typeface="Cambria Math" panose="02040503050406030204" pitchFamily="18" charset="0"/>
                          </a:rPr>
                          <m:t>𝒀</m:t>
                        </m:r>
                        <m:sSup>
                          <m:sSupPr>
                            <m:ctrlPr>
                              <a:rPr lang="en-US" sz="2400" b="1" i="1" smtClean="0">
                                <a:solidFill>
                                  <a:schemeClr val="bg1"/>
                                </a:solidFill>
                                <a:latin typeface="Cambria Math" panose="02040503050406030204" pitchFamily="18" charset="0"/>
                              </a:rPr>
                            </m:ctrlPr>
                          </m:sSupPr>
                          <m:e>
                            <m:r>
                              <a:rPr lang="en-US" sz="2400" b="1" i="1" smtClean="0">
                                <a:solidFill>
                                  <a:schemeClr val="bg1"/>
                                </a:solidFill>
                                <a:latin typeface="Cambria Math" panose="02040503050406030204" pitchFamily="18" charset="0"/>
                              </a:rPr>
                              <m:t>𝒀</m:t>
                            </m:r>
                          </m:e>
                          <m:sup>
                            <m:r>
                              <a:rPr lang="en-US" sz="2400" b="1" i="1" smtClean="0">
                                <a:solidFill>
                                  <a:schemeClr val="bg1"/>
                                </a:solidFill>
                                <a:latin typeface="Cambria Math" panose="02040503050406030204" pitchFamily="18" charset="0"/>
                              </a:rPr>
                              <m:t>𝑯</m:t>
                            </m:r>
                          </m:sup>
                        </m:sSup>
                        <m:r>
                          <a:rPr lang="pt-BR" sz="2400" b="1" i="1">
                            <a:solidFill>
                              <a:schemeClr val="bg1"/>
                            </a:solidFill>
                            <a:latin typeface="Cambria Math" panose="02040503050406030204" pitchFamily="18" charset="0"/>
                          </a:rPr>
                          <m:t> </m:t>
                        </m:r>
                        <m:r>
                          <a:rPr lang="pt-BR" sz="2400" i="1">
                            <a:solidFill>
                              <a:schemeClr val="bg1"/>
                            </a:solidFill>
                            <a:latin typeface="Cambria Math" panose="02040503050406030204" pitchFamily="18" charset="0"/>
                          </a:rPr>
                          <m:t>+ </m:t>
                        </m:r>
                        <m:sSup>
                          <m:sSupPr>
                            <m:ctrlPr>
                              <a:rPr lang="pt-BR" sz="2400" i="1" smtClean="0">
                                <a:solidFill>
                                  <a:schemeClr val="bg1"/>
                                </a:solidFill>
                                <a:latin typeface="Cambria Math" panose="02040503050406030204" pitchFamily="18" charset="0"/>
                              </a:rPr>
                            </m:ctrlPr>
                          </m:sSupPr>
                          <m:e>
                            <m:r>
                              <a:rPr lang="en-US" sz="2400" i="1">
                                <a:solidFill>
                                  <a:schemeClr val="bg1"/>
                                </a:solidFill>
                                <a:latin typeface="Cambria Math" panose="02040503050406030204" pitchFamily="18" charset="0"/>
                                <a:ea typeface="Cambria Math" panose="02040503050406030204" pitchFamily="18" charset="0"/>
                              </a:rPr>
                              <m:t>𝜎</m:t>
                            </m:r>
                          </m:e>
                          <m:sup>
                            <m:r>
                              <a:rPr lang="en-US" sz="2400" b="0" i="1" smtClean="0">
                                <a:solidFill>
                                  <a:schemeClr val="bg1"/>
                                </a:solidFill>
                                <a:latin typeface="Cambria Math" panose="02040503050406030204" pitchFamily="18" charset="0"/>
                              </a:rPr>
                              <m:t>2</m:t>
                            </m:r>
                          </m:sup>
                        </m:sSup>
                        <m:r>
                          <a:rPr lang="pt-BR" sz="2400" b="1" i="1">
                            <a:solidFill>
                              <a:schemeClr val="bg1"/>
                            </a:solidFill>
                            <a:latin typeface="Cambria Math" panose="02040503050406030204" pitchFamily="18" charset="0"/>
                          </a:rPr>
                          <m:t> </m:t>
                        </m:r>
                        <m:r>
                          <a:rPr lang="pt-BR" sz="2400" b="1" i="1">
                            <a:solidFill>
                              <a:schemeClr val="bg1"/>
                            </a:solidFill>
                            <a:latin typeface="Cambria Math" panose="02040503050406030204" pitchFamily="18" charset="0"/>
                          </a:rPr>
                          <m:t>𝑰</m:t>
                        </m:r>
                      </m:oMath>
                    </m:oMathPara>
                  </a14:m>
                  <a:endParaRPr lang="en-US" sz="2400" b="1" dirty="0">
                    <a:solidFill>
                      <a:schemeClr val="bg1"/>
                    </a:solidFill>
                  </a:endParaRPr>
                </a:p>
              </p:txBody>
            </p:sp>
          </mc:Choice>
          <mc:Fallback>
            <p:sp>
              <p:nvSpPr>
                <p:cNvPr id="16" name="TextBox 15">
                  <a:extLst>
                    <a:ext uri="{FF2B5EF4-FFF2-40B4-BE49-F238E27FC236}">
                      <a16:creationId xmlns:a16="http://schemas.microsoft.com/office/drawing/2014/main" id="{D61D2138-93AE-214E-89A1-B550B4F588A6}"/>
                    </a:ext>
                  </a:extLst>
                </p:cNvPr>
                <p:cNvSpPr txBox="1">
                  <a:spLocks noRot="1" noChangeAspect="1" noMove="1" noResize="1" noEditPoints="1" noAdjustHandles="1" noChangeArrowheads="1" noChangeShapeType="1" noTextEdit="1"/>
                </p:cNvSpPr>
                <p:nvPr/>
              </p:nvSpPr>
              <p:spPr>
                <a:xfrm>
                  <a:off x="7745693" y="1218997"/>
                  <a:ext cx="2662845" cy="694036"/>
                </a:xfrm>
                <a:prstGeom prst="rect">
                  <a:avLst/>
                </a:prstGeom>
                <a:blipFill>
                  <a:blip r:embed="rId5"/>
                  <a:stretch>
                    <a:fillRect/>
                  </a:stretch>
                </a:blipFill>
                <a:ln>
                  <a:solidFill>
                    <a:schemeClr val="tx1"/>
                  </a:solidFill>
                </a:ln>
              </p:spPr>
              <p:txBody>
                <a:bodyPr/>
                <a:lstStyle/>
                <a:p>
                  <a:r>
                    <a:rPr lang="en-US">
                      <a:noFill/>
                    </a:rPr>
                    <a:t> </a:t>
                  </a:r>
                </a:p>
              </p:txBody>
            </p:sp>
          </mc:Fallback>
        </mc:AlternateContent>
      </p:grpSp>
      <p:grpSp>
        <p:nvGrpSpPr>
          <p:cNvPr id="22" name="Group 21">
            <a:extLst>
              <a:ext uri="{FF2B5EF4-FFF2-40B4-BE49-F238E27FC236}">
                <a16:creationId xmlns:a16="http://schemas.microsoft.com/office/drawing/2014/main" id="{7A4FF07B-7AA5-6EEB-4453-233C1082F366}"/>
              </a:ext>
            </a:extLst>
          </p:cNvPr>
          <p:cNvGrpSpPr/>
          <p:nvPr/>
        </p:nvGrpSpPr>
        <p:grpSpPr>
          <a:xfrm>
            <a:off x="6668484" y="3132917"/>
            <a:ext cx="6002771" cy="3475541"/>
            <a:chOff x="2950313" y="4441432"/>
            <a:chExt cx="4260501" cy="3475541"/>
          </a:xfrm>
        </p:grpSpPr>
        <p:sp>
          <p:nvSpPr>
            <p:cNvPr id="26" name="TextBox 25">
              <a:extLst>
                <a:ext uri="{FF2B5EF4-FFF2-40B4-BE49-F238E27FC236}">
                  <a16:creationId xmlns:a16="http://schemas.microsoft.com/office/drawing/2014/main" id="{143D168F-0AA4-8043-A7DE-DBE562D6C70F}"/>
                </a:ext>
              </a:extLst>
            </p:cNvPr>
            <p:cNvSpPr txBox="1"/>
            <p:nvPr/>
          </p:nvSpPr>
          <p:spPr>
            <a:xfrm>
              <a:off x="3044967" y="4441432"/>
              <a:ext cx="3942311" cy="2000548"/>
            </a:xfrm>
            <a:prstGeom prst="rect">
              <a:avLst/>
            </a:prstGeom>
            <a:noFill/>
          </p:spPr>
          <p:txBody>
            <a:bodyPr wrap="square" rtlCol="0">
              <a:spAutoFit/>
            </a:bodyPr>
            <a:lstStyle/>
            <a:p>
              <a:pPr algn="just"/>
              <a:r>
                <a:rPr lang="en-US" sz="2800" b="1" dirty="0">
                  <a:solidFill>
                    <a:srgbClr val="C00000"/>
                  </a:solidFill>
                  <a:latin typeface="Calibri" panose="020F0502020204030204" pitchFamily="34" charset="0"/>
                  <a:ea typeface="Calibri" panose="020F0502020204030204" pitchFamily="34" charset="0"/>
                  <a:cs typeface="Calibri" panose="020F0502020204030204" pitchFamily="34" charset="0"/>
                </a:rPr>
                <a:t>Overall Dataset Composition</a:t>
              </a:r>
            </a:p>
            <a:p>
              <a:pPr algn="just"/>
              <a:r>
                <a:rPr lang="en-US" sz="1500" b="1" dirty="0">
                  <a:solidFill>
                    <a:srgbClr val="C00000"/>
                  </a:solidFill>
                  <a:latin typeface="Calibri" panose="020F0502020204030204" pitchFamily="34" charset="0"/>
                  <a:ea typeface="Calibri" panose="020F0502020204030204" pitchFamily="34" charset="0"/>
                  <a:cs typeface="Calibri" panose="020F0502020204030204" pitchFamily="34" charset="0"/>
                </a:rPr>
                <a:t>    </a:t>
              </a:r>
              <a:r>
                <a:rPr lang="en-US" sz="2400" dirty="0">
                  <a:solidFill>
                    <a:srgbClr val="C00000"/>
                  </a:solidFill>
                  <a:latin typeface="Calibri" panose="020F0502020204030204" pitchFamily="34" charset="0"/>
                  <a:ea typeface="Calibri" panose="020F0502020204030204" pitchFamily="34" charset="0"/>
                  <a:cs typeface="Calibri" panose="020F0502020204030204" pitchFamily="34" charset="0"/>
                </a:rPr>
                <a:t>- </a:t>
              </a:r>
              <a:r>
                <a:rPr lang="en-US" sz="2400" b="1" dirty="0">
                  <a:solidFill>
                    <a:schemeClr val="bg1"/>
                  </a:solidFill>
                  <a:latin typeface="Calibri" panose="020F0502020204030204" pitchFamily="34" charset="0"/>
                  <a:ea typeface="Calibri" panose="020F0502020204030204" pitchFamily="34" charset="0"/>
                  <a:cs typeface="Calibri" panose="020F0502020204030204" pitchFamily="34" charset="0"/>
                </a:rPr>
                <a:t>Narrow Grid</a:t>
              </a:r>
            </a:p>
            <a:p>
              <a:pPr marL="742950" lvl="1" indent="-285750" algn="just">
                <a:buFont typeface="Arial" panose="020B0604020202020204" pitchFamily="34" charset="0"/>
                <a:buChar char="•"/>
              </a:pPr>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Total samples: 7260 X 5 = 36,300</a:t>
              </a:r>
            </a:p>
            <a:p>
              <a:pPr marL="742950" lvl="1" indent="-285750" algn="just">
                <a:buFont typeface="Arial" panose="020B0604020202020204" pitchFamily="34" charset="0"/>
                <a:buChar char="•"/>
              </a:pPr>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Feature shape: 36,300 x 16 x 16 x 3</a:t>
              </a:r>
            </a:p>
            <a:p>
              <a:pPr marL="742950" lvl="1" indent="-285750" algn="just">
                <a:buFont typeface="Arial" panose="020B0604020202020204" pitchFamily="34" charset="0"/>
                <a:buChar char="•"/>
              </a:pPr>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Label shape   : 36,300 x 121</a:t>
              </a:r>
            </a:p>
          </p:txBody>
        </p:sp>
        <p:sp>
          <p:nvSpPr>
            <p:cNvPr id="24" name="TextBox 23">
              <a:extLst>
                <a:ext uri="{FF2B5EF4-FFF2-40B4-BE49-F238E27FC236}">
                  <a16:creationId xmlns:a16="http://schemas.microsoft.com/office/drawing/2014/main" id="{90260ECF-6F65-5EAD-A5DF-99E791BEABAE}"/>
                </a:ext>
              </a:extLst>
            </p:cNvPr>
            <p:cNvSpPr txBox="1"/>
            <p:nvPr/>
          </p:nvSpPr>
          <p:spPr>
            <a:xfrm>
              <a:off x="2950313" y="6054925"/>
              <a:ext cx="4260501" cy="1862048"/>
            </a:xfrm>
            <a:prstGeom prst="rect">
              <a:avLst/>
            </a:prstGeom>
            <a:noFill/>
          </p:spPr>
          <p:txBody>
            <a:bodyPr wrap="square" rtlCol="0">
              <a:spAutoFit/>
            </a:bodyPr>
            <a:lstStyle/>
            <a:p>
              <a:pPr algn="just"/>
              <a:endParaRPr lang="en-US" sz="15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algn="just"/>
              <a:r>
                <a:rPr lang="en-US" sz="1500" b="1"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en-US" sz="1500"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en-US" sz="2400" b="1" dirty="0">
                  <a:solidFill>
                    <a:schemeClr val="bg1"/>
                  </a:solidFill>
                  <a:latin typeface="Calibri" panose="020F0502020204030204" pitchFamily="34" charset="0"/>
                  <a:ea typeface="Calibri" panose="020F0502020204030204" pitchFamily="34" charset="0"/>
                  <a:cs typeface="Calibri" panose="020F0502020204030204" pitchFamily="34" charset="0"/>
                </a:rPr>
                <a:t>Wide Grid</a:t>
              </a:r>
            </a:p>
            <a:p>
              <a:pPr marL="742950" lvl="1" indent="-285750" algn="just">
                <a:buFont typeface="Arial" panose="020B0604020202020204" pitchFamily="34" charset="0"/>
                <a:buChar char="•"/>
              </a:pPr>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Total samples: 16290 X 5 = 81,450</a:t>
              </a:r>
            </a:p>
            <a:p>
              <a:pPr marL="742950" lvl="1" indent="-285750" algn="just">
                <a:buFont typeface="Arial" panose="020B0604020202020204" pitchFamily="34" charset="0"/>
                <a:buChar char="•"/>
              </a:pPr>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Feature shape: 81,450 x 16 x 16 x 3</a:t>
              </a:r>
            </a:p>
            <a:p>
              <a:pPr marL="742950" lvl="1" indent="-285750" algn="just">
                <a:buFont typeface="Arial" panose="020B0604020202020204" pitchFamily="34" charset="0"/>
                <a:buChar char="•"/>
              </a:pPr>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Label shape   : 81,450 x 181</a:t>
              </a:r>
            </a:p>
          </p:txBody>
        </p:sp>
      </p:grpSp>
      <p:pic>
        <p:nvPicPr>
          <p:cNvPr id="45" name="Picture 44">
            <a:extLst>
              <a:ext uri="{FF2B5EF4-FFF2-40B4-BE49-F238E27FC236}">
                <a16:creationId xmlns:a16="http://schemas.microsoft.com/office/drawing/2014/main" id="{DC88903D-5101-64B5-7282-9F4D0C932EC3}"/>
              </a:ext>
            </a:extLst>
          </p:cNvPr>
          <p:cNvPicPr>
            <a:picLocks noChangeAspect="1"/>
          </p:cNvPicPr>
          <p:nvPr/>
        </p:nvPicPr>
        <p:blipFill>
          <a:blip r:embed="rId6"/>
          <a:stretch>
            <a:fillRect/>
          </a:stretch>
        </p:blipFill>
        <p:spPr>
          <a:xfrm>
            <a:off x="6525811" y="1670942"/>
            <a:ext cx="5179806" cy="1274323"/>
          </a:xfrm>
          <a:prstGeom prst="rect">
            <a:avLst/>
          </a:prstGeom>
        </p:spPr>
      </p:pic>
    </p:spTree>
    <p:extLst>
      <p:ext uri="{BB962C8B-B14F-4D97-AF65-F5344CB8AC3E}">
        <p14:creationId xmlns:p14="http://schemas.microsoft.com/office/powerpoint/2010/main" val="25215375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5CFF5F-6DFB-0D49-B8B1-661F7E7888AF}"/>
              </a:ext>
            </a:extLst>
          </p:cNvPr>
          <p:cNvSpPr>
            <a:spLocks noGrp="1"/>
          </p:cNvSpPr>
          <p:nvPr>
            <p:ph type="title"/>
          </p:nvPr>
        </p:nvSpPr>
        <p:spPr>
          <a:xfrm>
            <a:off x="3628334" y="367785"/>
            <a:ext cx="4935332" cy="610863"/>
          </a:xfrm>
        </p:spPr>
        <p:txBody>
          <a:bodyPr>
            <a:normAutofit/>
          </a:bodyPr>
          <a:lstStyle/>
          <a:p>
            <a:r>
              <a:rPr lang="en-US" b="1" dirty="0">
                <a:latin typeface="Calibri" panose="020F0502020204030204" pitchFamily="34" charset="0"/>
                <a:ea typeface="Calibri" panose="020F0502020204030204" pitchFamily="34" charset="0"/>
                <a:cs typeface="Calibri" panose="020F0502020204030204" pitchFamily="34" charset="0"/>
              </a:rPr>
              <a:t>Model Architecture</a:t>
            </a:r>
          </a:p>
        </p:txBody>
      </p:sp>
      <p:sp>
        <p:nvSpPr>
          <p:cNvPr id="8" name="Slide Number Placeholder 7">
            <a:extLst>
              <a:ext uri="{FF2B5EF4-FFF2-40B4-BE49-F238E27FC236}">
                <a16:creationId xmlns:a16="http://schemas.microsoft.com/office/drawing/2014/main" id="{9A7E9316-308D-A403-87EE-E32DE2DFE8F4}"/>
              </a:ext>
            </a:extLst>
          </p:cNvPr>
          <p:cNvSpPr>
            <a:spLocks noGrp="1"/>
          </p:cNvSpPr>
          <p:nvPr>
            <p:ph type="sldNum" sz="quarter" idx="13"/>
          </p:nvPr>
        </p:nvSpPr>
        <p:spPr/>
        <p:txBody>
          <a:bodyPr/>
          <a:lstStyle/>
          <a:p>
            <a:fld id="{294A09A9-5501-47C1-A89A-A340965A2BE2}" type="slidenum">
              <a:rPr lang="en-US" smtClean="0"/>
              <a:pPr/>
              <a:t>9</a:t>
            </a:fld>
            <a:endParaRPr lang="en-US" dirty="0">
              <a:latin typeface="+mn-lt"/>
            </a:endParaRPr>
          </a:p>
        </p:txBody>
      </p:sp>
      <p:pic>
        <p:nvPicPr>
          <p:cNvPr id="112" name="Picture 111">
            <a:extLst>
              <a:ext uri="{FF2B5EF4-FFF2-40B4-BE49-F238E27FC236}">
                <a16:creationId xmlns:a16="http://schemas.microsoft.com/office/drawing/2014/main" id="{6167EB76-D84A-A1CB-6E23-B9450DB09E75}"/>
              </a:ext>
            </a:extLst>
          </p:cNvPr>
          <p:cNvPicPr>
            <a:picLocks noChangeAspect="1"/>
          </p:cNvPicPr>
          <p:nvPr/>
        </p:nvPicPr>
        <p:blipFill>
          <a:blip r:embed="rId3"/>
          <a:stretch>
            <a:fillRect/>
          </a:stretch>
        </p:blipFill>
        <p:spPr>
          <a:xfrm>
            <a:off x="481352" y="978648"/>
            <a:ext cx="6697661" cy="4124217"/>
          </a:xfrm>
          <a:prstGeom prst="rect">
            <a:avLst/>
          </a:prstGeom>
        </p:spPr>
      </p:pic>
      <p:sp>
        <p:nvSpPr>
          <p:cNvPr id="3" name="TextBox 2">
            <a:extLst>
              <a:ext uri="{FF2B5EF4-FFF2-40B4-BE49-F238E27FC236}">
                <a16:creationId xmlns:a16="http://schemas.microsoft.com/office/drawing/2014/main" id="{B77CB7F8-5933-D388-1AC5-EAA85A50BBAB}"/>
              </a:ext>
            </a:extLst>
          </p:cNvPr>
          <p:cNvSpPr txBox="1"/>
          <p:nvPr/>
        </p:nvSpPr>
        <p:spPr>
          <a:xfrm>
            <a:off x="3800272" y="2726178"/>
            <a:ext cx="8229600" cy="3847207"/>
          </a:xfrm>
          <a:prstGeom prst="rect">
            <a:avLst/>
          </a:prstGeom>
          <a:noFill/>
        </p:spPr>
        <p:txBody>
          <a:bodyPr wrap="square" rtlCol="0">
            <a:spAutoFit/>
          </a:bodyPr>
          <a:lstStyle/>
          <a:p>
            <a:pPr algn="just"/>
            <a:r>
              <a:rPr lang="en-US" sz="2800" b="1" dirty="0">
                <a:solidFill>
                  <a:srgbClr val="C00000"/>
                </a:solidFill>
                <a:latin typeface="Calibri" panose="020F0502020204030204" pitchFamily="34" charset="0"/>
                <a:ea typeface="Calibri" panose="020F0502020204030204" pitchFamily="34" charset="0"/>
                <a:cs typeface="Calibri" panose="020F0502020204030204" pitchFamily="34" charset="0"/>
              </a:rPr>
              <a:t>Model structure:</a:t>
            </a:r>
            <a:endParaRPr lang="en-US" sz="2800" dirty="0">
              <a:latin typeface="Calibri" panose="020F0502020204030204" pitchFamily="34" charset="0"/>
              <a:ea typeface="Calibri" panose="020F0502020204030204" pitchFamily="34" charset="0"/>
              <a:cs typeface="Calibri" panose="020F0502020204030204" pitchFamily="34" charset="0"/>
            </a:endParaRPr>
          </a:p>
          <a:p>
            <a:pPr marL="285750" indent="-285750" algn="just">
              <a:buFont typeface="Arial" panose="020B0604020202020204" pitchFamily="34" charset="0"/>
              <a:buChar char="•"/>
            </a:pPr>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Input layer to load the dataset</a:t>
            </a:r>
          </a:p>
          <a:p>
            <a:pPr marL="285750" indent="-285750" algn="just">
              <a:buFont typeface="Arial" panose="020B0604020202020204" pitchFamily="34" charset="0"/>
              <a:buChar char="•"/>
            </a:pPr>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4 Convolutional layers with Normalization and </a:t>
            </a:r>
            <a:r>
              <a:rPr lang="en-US" sz="2400" dirty="0" err="1">
                <a:solidFill>
                  <a:schemeClr val="bg1"/>
                </a:solidFill>
                <a:latin typeface="Calibri" panose="020F0502020204030204" pitchFamily="34" charset="0"/>
                <a:ea typeface="Calibri" panose="020F0502020204030204" pitchFamily="34" charset="0"/>
                <a:cs typeface="Calibri" panose="020F0502020204030204" pitchFamily="34" charset="0"/>
              </a:rPr>
              <a:t>ReLU</a:t>
            </a:r>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 Activation Function, 256 filters with the size of 3×3</a:t>
            </a:r>
          </a:p>
          <a:p>
            <a:pPr marL="285750" indent="-285750" algn="just">
              <a:buFont typeface="Arial" panose="020B0604020202020204" pitchFamily="34" charset="0"/>
              <a:buChar char="•"/>
            </a:pPr>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Flatten Layer to flatten the output of the convolutional model to feed it to a Fully Connected (Dense) layer</a:t>
            </a:r>
          </a:p>
          <a:p>
            <a:pPr marL="285750" indent="-285750" algn="just">
              <a:buFont typeface="Arial" panose="020B0604020202020204" pitchFamily="34" charset="0"/>
              <a:buChar char="•"/>
            </a:pPr>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3 Fully Connected layers with Dropout and </a:t>
            </a:r>
            <a:r>
              <a:rPr lang="en-US" sz="2400" dirty="0" err="1">
                <a:solidFill>
                  <a:schemeClr val="bg1"/>
                </a:solidFill>
                <a:latin typeface="Calibri" panose="020F0502020204030204" pitchFamily="34" charset="0"/>
                <a:ea typeface="Calibri" panose="020F0502020204030204" pitchFamily="34" charset="0"/>
                <a:cs typeface="Calibri" panose="020F0502020204030204" pitchFamily="34" charset="0"/>
              </a:rPr>
              <a:t>ReLU</a:t>
            </a:r>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 Activation Functions, with 4098, 2048, and 1024, respectively</a:t>
            </a:r>
          </a:p>
          <a:p>
            <a:pPr marL="285750" indent="-285750" algn="just">
              <a:buFont typeface="Arial" panose="020B0604020202020204" pitchFamily="34" charset="0"/>
              <a:buChar char="•"/>
            </a:pPr>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Fully Connected layer with Sigmoid Activation Function as the output</a:t>
            </a:r>
          </a:p>
        </p:txBody>
      </p:sp>
    </p:spTree>
    <p:extLst>
      <p:ext uri="{BB962C8B-B14F-4D97-AF65-F5344CB8AC3E}">
        <p14:creationId xmlns:p14="http://schemas.microsoft.com/office/powerpoint/2010/main" val="15563106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2AEAD8D-B0BE-B0EE-0BBE-BEBFE438FA43}"/>
              </a:ext>
            </a:extLst>
          </p:cNvPr>
          <p:cNvSpPr>
            <a:spLocks noGrp="1"/>
          </p:cNvSpPr>
          <p:nvPr>
            <p:ph type="title"/>
          </p:nvPr>
        </p:nvSpPr>
        <p:spPr>
          <a:xfrm>
            <a:off x="4037228" y="75678"/>
            <a:ext cx="5456442" cy="610863"/>
          </a:xfrm>
        </p:spPr>
        <p:txBody>
          <a:bodyPr>
            <a:noAutofit/>
          </a:bodyPr>
          <a:lstStyle/>
          <a:p>
            <a:r>
              <a:rPr lang="en-US" dirty="0">
                <a:latin typeface="Calibri" panose="020F0502020204030204" pitchFamily="34" charset="0"/>
                <a:ea typeface="Calibri" panose="020F0502020204030204" pitchFamily="34" charset="0"/>
                <a:cs typeface="Calibri" panose="020F0502020204030204" pitchFamily="34" charset="0"/>
              </a:rPr>
              <a:t>Model Parameters</a:t>
            </a:r>
          </a:p>
        </p:txBody>
      </p:sp>
      <p:sp>
        <p:nvSpPr>
          <p:cNvPr id="11" name="Slide Number Placeholder 10">
            <a:extLst>
              <a:ext uri="{FF2B5EF4-FFF2-40B4-BE49-F238E27FC236}">
                <a16:creationId xmlns:a16="http://schemas.microsoft.com/office/drawing/2014/main" id="{B999C118-511C-75CF-123D-41A004341F6E}"/>
              </a:ext>
            </a:extLst>
          </p:cNvPr>
          <p:cNvSpPr>
            <a:spLocks noGrp="1"/>
          </p:cNvSpPr>
          <p:nvPr>
            <p:ph type="sldNum" sz="quarter" idx="13"/>
          </p:nvPr>
        </p:nvSpPr>
        <p:spPr/>
        <p:txBody>
          <a:bodyPr/>
          <a:lstStyle/>
          <a:p>
            <a:fld id="{294A09A9-5501-47C1-A89A-A340965A2BE2}" type="slidenum">
              <a:rPr lang="en-US" smtClean="0"/>
              <a:pPr/>
              <a:t>10</a:t>
            </a:fld>
            <a:endParaRPr lang="en-US" dirty="0">
              <a:latin typeface="+mn-lt"/>
            </a:endParaRPr>
          </a:p>
        </p:txBody>
      </p:sp>
      <p:pic>
        <p:nvPicPr>
          <p:cNvPr id="2" name="Picture 1">
            <a:extLst>
              <a:ext uri="{FF2B5EF4-FFF2-40B4-BE49-F238E27FC236}">
                <a16:creationId xmlns:a16="http://schemas.microsoft.com/office/drawing/2014/main" id="{63A27412-71EE-1BEB-3AE3-8EB193ADC948}"/>
              </a:ext>
            </a:extLst>
          </p:cNvPr>
          <p:cNvPicPr>
            <a:picLocks noChangeAspect="1"/>
          </p:cNvPicPr>
          <p:nvPr/>
        </p:nvPicPr>
        <p:blipFill>
          <a:blip r:embed="rId3"/>
          <a:stretch>
            <a:fillRect/>
          </a:stretch>
        </p:blipFill>
        <p:spPr>
          <a:xfrm>
            <a:off x="694823" y="566155"/>
            <a:ext cx="4007013" cy="3676580"/>
          </a:xfrm>
          <a:prstGeom prst="rect">
            <a:avLst/>
          </a:prstGeom>
        </p:spPr>
      </p:pic>
      <p:pic>
        <p:nvPicPr>
          <p:cNvPr id="4" name="Picture 3">
            <a:extLst>
              <a:ext uri="{FF2B5EF4-FFF2-40B4-BE49-F238E27FC236}">
                <a16:creationId xmlns:a16="http://schemas.microsoft.com/office/drawing/2014/main" id="{103C305A-0D95-643B-B2E0-0C99A76D04EA}"/>
              </a:ext>
            </a:extLst>
          </p:cNvPr>
          <p:cNvPicPr>
            <a:picLocks noChangeAspect="1"/>
          </p:cNvPicPr>
          <p:nvPr/>
        </p:nvPicPr>
        <p:blipFill>
          <a:blip r:embed="rId4"/>
          <a:stretch>
            <a:fillRect/>
          </a:stretch>
        </p:blipFill>
        <p:spPr>
          <a:xfrm>
            <a:off x="6955986" y="686541"/>
            <a:ext cx="3205076" cy="3618141"/>
          </a:xfrm>
          <a:prstGeom prst="rect">
            <a:avLst/>
          </a:prstGeom>
        </p:spPr>
      </p:pic>
      <p:sp>
        <p:nvSpPr>
          <p:cNvPr id="5" name="TextBox 4">
            <a:extLst>
              <a:ext uri="{FF2B5EF4-FFF2-40B4-BE49-F238E27FC236}">
                <a16:creationId xmlns:a16="http://schemas.microsoft.com/office/drawing/2014/main" id="{3099410B-A52E-20C1-F7BB-D11F57BC70E9}"/>
              </a:ext>
            </a:extLst>
          </p:cNvPr>
          <p:cNvSpPr txBox="1"/>
          <p:nvPr/>
        </p:nvSpPr>
        <p:spPr>
          <a:xfrm>
            <a:off x="440987" y="4271547"/>
            <a:ext cx="5805404" cy="2369880"/>
          </a:xfrm>
          <a:prstGeom prst="rect">
            <a:avLst/>
          </a:prstGeom>
          <a:noFill/>
        </p:spPr>
        <p:txBody>
          <a:bodyPr wrap="square" rtlCol="0">
            <a:spAutoFit/>
          </a:bodyPr>
          <a:lstStyle/>
          <a:p>
            <a:pPr algn="just"/>
            <a:r>
              <a:rPr lang="en-US" sz="2800" b="1" dirty="0">
                <a:solidFill>
                  <a:srgbClr val="C00000"/>
                </a:solidFill>
                <a:latin typeface="Calibri" panose="020F0502020204030204" pitchFamily="34" charset="0"/>
                <a:ea typeface="Calibri" panose="020F0502020204030204" pitchFamily="34" charset="0"/>
                <a:cs typeface="Calibri" panose="020F0502020204030204" pitchFamily="34" charset="0"/>
              </a:rPr>
              <a:t>Model training:</a:t>
            </a:r>
            <a:endParaRPr lang="en-US" sz="2800" dirty="0">
              <a:latin typeface="Calibri" panose="020F0502020204030204" pitchFamily="34" charset="0"/>
              <a:ea typeface="Calibri" panose="020F0502020204030204" pitchFamily="34" charset="0"/>
              <a:cs typeface="Calibri" panose="020F0502020204030204" pitchFamily="34" charset="0"/>
            </a:endParaRPr>
          </a:p>
          <a:p>
            <a:pPr marL="285750" indent="-285750" algn="just">
              <a:buFont typeface="Arial" panose="020B0604020202020204" pitchFamily="34" charset="0"/>
              <a:buChar char="•"/>
            </a:pPr>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Implemented in </a:t>
            </a:r>
            <a:r>
              <a:rPr lang="en-US" sz="2400" dirty="0" err="1">
                <a:solidFill>
                  <a:schemeClr val="bg1"/>
                </a:solidFill>
                <a:latin typeface="Calibri" panose="020F0502020204030204" pitchFamily="34" charset="0"/>
                <a:ea typeface="Calibri" panose="020F0502020204030204" pitchFamily="34" charset="0"/>
                <a:cs typeface="Calibri" panose="020F0502020204030204" pitchFamily="34" charset="0"/>
              </a:rPr>
              <a:t>tensorflow</a:t>
            </a:r>
            <a:endPar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marL="285750" indent="-285750" algn="just">
              <a:buFont typeface="Arial" panose="020B0604020202020204" pitchFamily="34" charset="0"/>
              <a:buChar char="•"/>
            </a:pPr>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Dropout (0.3) for regularization</a:t>
            </a:r>
          </a:p>
          <a:p>
            <a:pPr marL="285750" indent="-285750" algn="just">
              <a:buFont typeface="Arial" panose="020B0604020202020204" pitchFamily="34" charset="0"/>
              <a:buChar char="•"/>
            </a:pPr>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Train for 200 epochs, Adam Optimizer.</a:t>
            </a:r>
          </a:p>
          <a:p>
            <a:pPr marL="285750" indent="-285750" algn="just">
              <a:buFont typeface="Arial" panose="020B0604020202020204" pitchFamily="34" charset="0"/>
              <a:buChar char="•"/>
            </a:pPr>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Loss: BCE (Binary Cross Entropy)</a:t>
            </a:r>
          </a:p>
          <a:p>
            <a:pPr marL="285750" indent="-285750" algn="just">
              <a:buFont typeface="Arial" panose="020B0604020202020204" pitchFamily="34" charset="0"/>
              <a:buChar char="•"/>
            </a:pPr>
            <a:endParaRPr lang="en-US" sz="2400" dirty="0">
              <a:latin typeface="Calibri" panose="020F0502020204030204" pitchFamily="34" charset="0"/>
              <a:ea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077DFE9D-1A04-1C84-14BE-157BDAE3A9A4}"/>
              </a:ext>
            </a:extLst>
          </p:cNvPr>
          <p:cNvSpPr txBox="1"/>
          <p:nvPr/>
        </p:nvSpPr>
        <p:spPr>
          <a:xfrm>
            <a:off x="6015181" y="4410047"/>
            <a:ext cx="6004300" cy="2231380"/>
          </a:xfrm>
          <a:prstGeom prst="rect">
            <a:avLst/>
          </a:prstGeom>
          <a:noFill/>
        </p:spPr>
        <p:txBody>
          <a:bodyPr wrap="square" rtlCol="0">
            <a:spAutoFit/>
          </a:bodyPr>
          <a:lstStyle/>
          <a:p>
            <a:pPr algn="just"/>
            <a:r>
              <a:rPr lang="en-US" sz="2800" b="1" dirty="0">
                <a:solidFill>
                  <a:srgbClr val="C00000"/>
                </a:solidFill>
                <a:latin typeface="Calibri" panose="020F0502020204030204" pitchFamily="34" charset="0"/>
                <a:ea typeface="Calibri" panose="020F0502020204030204" pitchFamily="34" charset="0"/>
                <a:cs typeface="Calibri" panose="020F0502020204030204" pitchFamily="34" charset="0"/>
              </a:rPr>
              <a:t>Model parameters:</a:t>
            </a:r>
            <a:endParaRPr lang="en-US" sz="2800" dirty="0">
              <a:latin typeface="Calibri" panose="020F0502020204030204" pitchFamily="34" charset="0"/>
              <a:ea typeface="Calibri" panose="020F0502020204030204" pitchFamily="34" charset="0"/>
              <a:cs typeface="Calibri" panose="020F0502020204030204" pitchFamily="34" charset="0"/>
            </a:endParaRPr>
          </a:p>
          <a:p>
            <a:pPr marL="285750" indent="-285750" algn="just">
              <a:buFont typeface="Arial" panose="020B0604020202020204" pitchFamily="34" charset="0"/>
              <a:buChar char="•"/>
            </a:pPr>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Conv layers capture local features</a:t>
            </a:r>
          </a:p>
          <a:p>
            <a:pPr marL="285750" indent="-285750" algn="just">
              <a:buFont typeface="Arial" panose="020B0604020202020204" pitchFamily="34" charset="0"/>
              <a:buChar char="•"/>
            </a:pPr>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Dense layers capture global features </a:t>
            </a:r>
          </a:p>
          <a:p>
            <a:pPr marL="285750" indent="-285750" algn="just">
              <a:buFont typeface="Arial" panose="020B0604020202020204" pitchFamily="34" charset="0"/>
              <a:buChar char="•"/>
            </a:pPr>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Total Number of Trainable Parameters: Almost 280M</a:t>
            </a:r>
          </a:p>
          <a:p>
            <a:pPr marL="285750" indent="-285750" algn="just">
              <a:buFont typeface="Arial" panose="020B0604020202020204" pitchFamily="34" charset="0"/>
              <a:buChar char="•"/>
            </a:pPr>
            <a:endParaRPr lang="en-US" sz="15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4736610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BD236F-05C7-E362-BBFD-FDDAC76A175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0A8C8CA-8E4E-EA8D-767E-10E505E2B0C8}"/>
              </a:ext>
            </a:extLst>
          </p:cNvPr>
          <p:cNvSpPr>
            <a:spLocks noGrp="1"/>
          </p:cNvSpPr>
          <p:nvPr>
            <p:ph type="title"/>
          </p:nvPr>
        </p:nvSpPr>
        <p:spPr>
          <a:xfrm>
            <a:off x="5394882" y="137309"/>
            <a:ext cx="5456442" cy="610863"/>
          </a:xfrm>
        </p:spPr>
        <p:txBody>
          <a:bodyPr>
            <a:noAutofit/>
          </a:bodyPr>
          <a:lstStyle/>
          <a:p>
            <a:r>
              <a:rPr lang="en-US" dirty="0">
                <a:latin typeface="Calibri" panose="020F0502020204030204" pitchFamily="34" charset="0"/>
                <a:ea typeface="Calibri" panose="020F0502020204030204" pitchFamily="34" charset="0"/>
                <a:cs typeface="Calibri" panose="020F0502020204030204" pitchFamily="34" charset="0"/>
              </a:rPr>
              <a:t>Results</a:t>
            </a:r>
          </a:p>
        </p:txBody>
      </p:sp>
      <p:sp>
        <p:nvSpPr>
          <p:cNvPr id="11" name="Slide Number Placeholder 10">
            <a:extLst>
              <a:ext uri="{FF2B5EF4-FFF2-40B4-BE49-F238E27FC236}">
                <a16:creationId xmlns:a16="http://schemas.microsoft.com/office/drawing/2014/main" id="{2873185F-353C-95FE-47DF-3E5356AA1E64}"/>
              </a:ext>
            </a:extLst>
          </p:cNvPr>
          <p:cNvSpPr>
            <a:spLocks noGrp="1"/>
          </p:cNvSpPr>
          <p:nvPr>
            <p:ph type="sldNum" sz="quarter" idx="13"/>
          </p:nvPr>
        </p:nvSpPr>
        <p:spPr/>
        <p:txBody>
          <a:bodyPr/>
          <a:lstStyle/>
          <a:p>
            <a:fld id="{294A09A9-5501-47C1-A89A-A340965A2BE2}" type="slidenum">
              <a:rPr lang="en-US" smtClean="0"/>
              <a:pPr/>
              <a:t>11</a:t>
            </a:fld>
            <a:endParaRPr lang="en-US" dirty="0">
              <a:latin typeface="+mn-lt"/>
            </a:endParaRPr>
          </a:p>
        </p:txBody>
      </p:sp>
      <p:pic>
        <p:nvPicPr>
          <p:cNvPr id="7" name="Picture 6" descr="A graph of a graph&#10;&#10;Description automatically generated">
            <a:extLst>
              <a:ext uri="{FF2B5EF4-FFF2-40B4-BE49-F238E27FC236}">
                <a16:creationId xmlns:a16="http://schemas.microsoft.com/office/drawing/2014/main" id="{998A0502-BB63-B68D-D124-B28411C673F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41955" y="1190961"/>
            <a:ext cx="2654456" cy="2515870"/>
          </a:xfrm>
          <a:prstGeom prst="rect">
            <a:avLst/>
          </a:prstGeom>
        </p:spPr>
      </p:pic>
      <p:pic>
        <p:nvPicPr>
          <p:cNvPr id="8" name="Picture 7" descr="A graph with a red line&#10;&#10;Description automatically generated">
            <a:extLst>
              <a:ext uri="{FF2B5EF4-FFF2-40B4-BE49-F238E27FC236}">
                <a16:creationId xmlns:a16="http://schemas.microsoft.com/office/drawing/2014/main" id="{A3729E01-83FA-151F-A551-21B68F7E951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22488" y="1190960"/>
            <a:ext cx="2709953" cy="2515871"/>
          </a:xfrm>
          <a:prstGeom prst="rect">
            <a:avLst/>
          </a:prstGeom>
        </p:spPr>
      </p:pic>
      <p:pic>
        <p:nvPicPr>
          <p:cNvPr id="9" name="Picture 8" descr="A graph with a red line&#10;&#10;Description automatically generated">
            <a:extLst>
              <a:ext uri="{FF2B5EF4-FFF2-40B4-BE49-F238E27FC236}">
                <a16:creationId xmlns:a16="http://schemas.microsoft.com/office/drawing/2014/main" id="{E2CABB8B-798E-7ADD-6982-494B1502780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358346" y="1118129"/>
            <a:ext cx="2806974" cy="2615334"/>
          </a:xfrm>
          <a:prstGeom prst="rect">
            <a:avLst/>
          </a:prstGeom>
        </p:spPr>
      </p:pic>
      <p:pic>
        <p:nvPicPr>
          <p:cNvPr id="10" name="Picture 9" descr="A graph of a graph&#10;&#10;Description automatically generated">
            <a:extLst>
              <a:ext uri="{FF2B5EF4-FFF2-40B4-BE49-F238E27FC236}">
                <a16:creationId xmlns:a16="http://schemas.microsoft.com/office/drawing/2014/main" id="{BC11F152-FFEB-A506-26C9-C5FE81F5FA5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741954" y="3714605"/>
            <a:ext cx="2766155" cy="2503569"/>
          </a:xfrm>
          <a:prstGeom prst="rect">
            <a:avLst/>
          </a:prstGeom>
        </p:spPr>
      </p:pic>
      <p:pic>
        <p:nvPicPr>
          <p:cNvPr id="13" name="Picture 12" descr="A graph of a graph&#10;&#10;Description automatically generated">
            <a:extLst>
              <a:ext uri="{FF2B5EF4-FFF2-40B4-BE49-F238E27FC236}">
                <a16:creationId xmlns:a16="http://schemas.microsoft.com/office/drawing/2014/main" id="{E01A9DD7-A124-6239-EDC3-4E9A40DD8FA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651243" y="3728114"/>
            <a:ext cx="2675924" cy="2440221"/>
          </a:xfrm>
          <a:prstGeom prst="rect">
            <a:avLst/>
          </a:prstGeom>
        </p:spPr>
      </p:pic>
      <p:pic>
        <p:nvPicPr>
          <p:cNvPr id="14" name="Picture 13" descr="A graph with red and blue lines&#10;&#10;Description automatically generated">
            <a:extLst>
              <a:ext uri="{FF2B5EF4-FFF2-40B4-BE49-F238E27FC236}">
                <a16:creationId xmlns:a16="http://schemas.microsoft.com/office/drawing/2014/main" id="{FB80D317-6BC7-1553-430D-78B24A9DF05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358345" y="3733982"/>
            <a:ext cx="2766155" cy="2148741"/>
          </a:xfrm>
          <a:prstGeom prst="rect">
            <a:avLst/>
          </a:prstGeom>
        </p:spPr>
      </p:pic>
      <p:sp>
        <p:nvSpPr>
          <p:cNvPr id="15" name="TextBox 14">
            <a:extLst>
              <a:ext uri="{FF2B5EF4-FFF2-40B4-BE49-F238E27FC236}">
                <a16:creationId xmlns:a16="http://schemas.microsoft.com/office/drawing/2014/main" id="{ED1C7A2F-907B-2C08-AC54-7557BE3EB817}"/>
              </a:ext>
            </a:extLst>
          </p:cNvPr>
          <p:cNvSpPr txBox="1"/>
          <p:nvPr/>
        </p:nvSpPr>
        <p:spPr>
          <a:xfrm>
            <a:off x="8395666" y="5895009"/>
            <a:ext cx="1209604" cy="323165"/>
          </a:xfrm>
          <a:prstGeom prst="rect">
            <a:avLst/>
          </a:prstGeom>
          <a:noFill/>
        </p:spPr>
        <p:txBody>
          <a:bodyPr wrap="square" rtlCol="0">
            <a:spAutoFit/>
          </a:bodyPr>
          <a:lstStyle/>
          <a:p>
            <a:pPr algn="just"/>
            <a:r>
              <a:rPr lang="en-US" sz="1500" b="1" dirty="0">
                <a:solidFill>
                  <a:srgbClr val="C00000"/>
                </a:solidFill>
                <a:latin typeface="Times New Roman" panose="02020603050405020304" pitchFamily="18" charset="0"/>
                <a:cs typeface="Times New Roman" panose="02020603050405020304" pitchFamily="18" charset="0"/>
              </a:rPr>
              <a:t>RMSE</a:t>
            </a:r>
            <a:endParaRPr lang="en-US" sz="1500" dirty="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8A607706-44E3-F239-8AEA-13D5D87440B2}"/>
              </a:ext>
            </a:extLst>
          </p:cNvPr>
          <p:cNvSpPr txBox="1"/>
          <p:nvPr/>
        </p:nvSpPr>
        <p:spPr>
          <a:xfrm>
            <a:off x="4691570" y="651832"/>
            <a:ext cx="4070263" cy="1077218"/>
          </a:xfrm>
          <a:prstGeom prst="rect">
            <a:avLst/>
          </a:prstGeom>
          <a:noFill/>
        </p:spPr>
        <p:txBody>
          <a:bodyPr wrap="square" rtlCol="0">
            <a:spAutoFit/>
          </a:bodyPr>
          <a:lstStyle/>
          <a:p>
            <a:pPr algn="just"/>
            <a:r>
              <a:rPr lang="en-US" sz="3200" b="1" dirty="0">
                <a:solidFill>
                  <a:srgbClr val="C00000"/>
                </a:solidFill>
                <a:latin typeface="Calibri" panose="020F0502020204030204" pitchFamily="34" charset="0"/>
                <a:ea typeface="Calibri" panose="020F0502020204030204" pitchFamily="34" charset="0"/>
                <a:cs typeface="Calibri" panose="020F0502020204030204" pitchFamily="34" charset="0"/>
              </a:rPr>
              <a:t>Narrow Band Grid</a:t>
            </a:r>
            <a:endParaRPr lang="en-US" sz="3200" dirty="0">
              <a:latin typeface="Calibri" panose="020F0502020204030204" pitchFamily="34" charset="0"/>
              <a:ea typeface="Calibri" panose="020F0502020204030204" pitchFamily="34" charset="0"/>
              <a:cs typeface="Calibri" panose="020F0502020204030204" pitchFamily="34" charset="0"/>
            </a:endParaRPr>
          </a:p>
          <a:p>
            <a:pPr marL="285750" indent="-285750" algn="just">
              <a:buFont typeface="Arial" panose="020B0604020202020204" pitchFamily="34" charset="0"/>
              <a:buChar char="•"/>
            </a:pPr>
            <a:endParaRPr lang="en-US" sz="32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162941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A74D98-BDD9-9497-3D90-3DD6EA428D4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8938535-CFD4-C946-EA76-33E3FE8B0194}"/>
              </a:ext>
            </a:extLst>
          </p:cNvPr>
          <p:cNvSpPr>
            <a:spLocks noGrp="1"/>
          </p:cNvSpPr>
          <p:nvPr>
            <p:ph type="title"/>
          </p:nvPr>
        </p:nvSpPr>
        <p:spPr>
          <a:xfrm>
            <a:off x="5258695" y="59488"/>
            <a:ext cx="5456442" cy="610863"/>
          </a:xfrm>
        </p:spPr>
        <p:txBody>
          <a:bodyPr>
            <a:noAutofit/>
          </a:bodyPr>
          <a:lstStyle/>
          <a:p>
            <a:r>
              <a:rPr lang="en-US" dirty="0">
                <a:latin typeface="Calibri" panose="020F0502020204030204" pitchFamily="34" charset="0"/>
                <a:ea typeface="Calibri" panose="020F0502020204030204" pitchFamily="34" charset="0"/>
                <a:cs typeface="Calibri" panose="020F0502020204030204" pitchFamily="34" charset="0"/>
              </a:rPr>
              <a:t>Results</a:t>
            </a:r>
          </a:p>
        </p:txBody>
      </p:sp>
      <p:sp>
        <p:nvSpPr>
          <p:cNvPr id="11" name="Slide Number Placeholder 10">
            <a:extLst>
              <a:ext uri="{FF2B5EF4-FFF2-40B4-BE49-F238E27FC236}">
                <a16:creationId xmlns:a16="http://schemas.microsoft.com/office/drawing/2014/main" id="{5A034D81-260F-9D50-E8C5-8825087FF6DB}"/>
              </a:ext>
            </a:extLst>
          </p:cNvPr>
          <p:cNvSpPr>
            <a:spLocks noGrp="1"/>
          </p:cNvSpPr>
          <p:nvPr>
            <p:ph type="sldNum" sz="quarter" idx="13"/>
          </p:nvPr>
        </p:nvSpPr>
        <p:spPr/>
        <p:txBody>
          <a:bodyPr/>
          <a:lstStyle/>
          <a:p>
            <a:fld id="{294A09A9-5501-47C1-A89A-A340965A2BE2}" type="slidenum">
              <a:rPr lang="en-US" smtClean="0"/>
              <a:pPr/>
              <a:t>12</a:t>
            </a:fld>
            <a:endParaRPr lang="en-US" dirty="0">
              <a:latin typeface="+mn-lt"/>
            </a:endParaRPr>
          </a:p>
        </p:txBody>
      </p:sp>
      <p:sp>
        <p:nvSpPr>
          <p:cNvPr id="15" name="TextBox 14">
            <a:extLst>
              <a:ext uri="{FF2B5EF4-FFF2-40B4-BE49-F238E27FC236}">
                <a16:creationId xmlns:a16="http://schemas.microsoft.com/office/drawing/2014/main" id="{5631C8C2-8117-9B1F-6965-6FE0A1C18955}"/>
              </a:ext>
            </a:extLst>
          </p:cNvPr>
          <p:cNvSpPr txBox="1"/>
          <p:nvPr/>
        </p:nvSpPr>
        <p:spPr>
          <a:xfrm>
            <a:off x="8712576" y="6078953"/>
            <a:ext cx="1209604" cy="323165"/>
          </a:xfrm>
          <a:prstGeom prst="rect">
            <a:avLst/>
          </a:prstGeom>
          <a:noFill/>
        </p:spPr>
        <p:txBody>
          <a:bodyPr wrap="square" rtlCol="0">
            <a:spAutoFit/>
          </a:bodyPr>
          <a:lstStyle/>
          <a:p>
            <a:pPr algn="just"/>
            <a:r>
              <a:rPr lang="en-US" sz="1500" b="1" dirty="0">
                <a:solidFill>
                  <a:srgbClr val="C00000"/>
                </a:solidFill>
                <a:latin typeface="Times New Roman" panose="02020603050405020304" pitchFamily="18" charset="0"/>
                <a:cs typeface="Times New Roman" panose="02020603050405020304" pitchFamily="18" charset="0"/>
              </a:rPr>
              <a:t>RMSE</a:t>
            </a:r>
            <a:endParaRPr lang="en-US" sz="1500" dirty="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742A14B4-DDA2-2DFE-A2C8-61916308762C}"/>
              </a:ext>
            </a:extLst>
          </p:cNvPr>
          <p:cNvSpPr txBox="1"/>
          <p:nvPr/>
        </p:nvSpPr>
        <p:spPr>
          <a:xfrm>
            <a:off x="4730303" y="561796"/>
            <a:ext cx="4105345" cy="861774"/>
          </a:xfrm>
          <a:prstGeom prst="rect">
            <a:avLst/>
          </a:prstGeom>
          <a:noFill/>
        </p:spPr>
        <p:txBody>
          <a:bodyPr wrap="square" rtlCol="0">
            <a:spAutoFit/>
          </a:bodyPr>
          <a:lstStyle/>
          <a:p>
            <a:pPr algn="just"/>
            <a:r>
              <a:rPr lang="en-US" sz="3200" b="1" dirty="0">
                <a:solidFill>
                  <a:srgbClr val="C00000"/>
                </a:solidFill>
                <a:latin typeface="Calibri" panose="020F0502020204030204" pitchFamily="34" charset="0"/>
                <a:ea typeface="Calibri" panose="020F0502020204030204" pitchFamily="34" charset="0"/>
                <a:cs typeface="Calibri" panose="020F0502020204030204" pitchFamily="34" charset="0"/>
              </a:rPr>
              <a:t>Wide Band Grid</a:t>
            </a:r>
            <a:endParaRPr lang="en-US" sz="3200" b="1" dirty="0">
              <a:latin typeface="Calibri" panose="020F0502020204030204" pitchFamily="34" charset="0"/>
              <a:ea typeface="Calibri" panose="020F0502020204030204" pitchFamily="34" charset="0"/>
              <a:cs typeface="Calibri" panose="020F0502020204030204" pitchFamily="34" charset="0"/>
            </a:endParaRPr>
          </a:p>
          <a:p>
            <a:pPr marL="285750" indent="-285750" algn="just">
              <a:buFont typeface="Arial" panose="020B0604020202020204" pitchFamily="34" charset="0"/>
              <a:buChar char="•"/>
            </a:pPr>
            <a:endParaRPr lang="en-US" b="1" dirty="0">
              <a:cs typeface="Times New Roman" panose="02020603050405020304" pitchFamily="18" charset="0"/>
            </a:endParaRPr>
          </a:p>
        </p:txBody>
      </p:sp>
      <p:pic>
        <p:nvPicPr>
          <p:cNvPr id="17" name="Picture 16" descr="A graph with red and blue lines&#10;&#10;Description automatically generated">
            <a:extLst>
              <a:ext uri="{FF2B5EF4-FFF2-40B4-BE49-F238E27FC236}">
                <a16:creationId xmlns:a16="http://schemas.microsoft.com/office/drawing/2014/main" id="{379714C8-241F-5B99-BE0B-83204ABA91B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8897" y="1058414"/>
            <a:ext cx="2892905" cy="2672353"/>
          </a:xfrm>
          <a:prstGeom prst="rect">
            <a:avLst/>
          </a:prstGeom>
        </p:spPr>
      </p:pic>
      <p:pic>
        <p:nvPicPr>
          <p:cNvPr id="18" name="Picture 17" descr="A graph with red and blue lines&#10;&#10;Description automatically generated">
            <a:extLst>
              <a:ext uri="{FF2B5EF4-FFF2-40B4-BE49-F238E27FC236}">
                <a16:creationId xmlns:a16="http://schemas.microsoft.com/office/drawing/2014/main" id="{E580956A-D7CB-0F37-1B56-A9E7F2494A4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83647" y="1058415"/>
            <a:ext cx="2762709" cy="2530134"/>
          </a:xfrm>
          <a:prstGeom prst="rect">
            <a:avLst/>
          </a:prstGeom>
        </p:spPr>
      </p:pic>
      <p:pic>
        <p:nvPicPr>
          <p:cNvPr id="19" name="Picture 18" descr="A graph with red and blue dots&#10;&#10;Description automatically generated">
            <a:extLst>
              <a:ext uri="{FF2B5EF4-FFF2-40B4-BE49-F238E27FC236}">
                <a16:creationId xmlns:a16="http://schemas.microsoft.com/office/drawing/2014/main" id="{9C7E0E92-D2AE-F3BA-D1A7-FF078B5D8AC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506794" y="1099403"/>
            <a:ext cx="2860081" cy="2672353"/>
          </a:xfrm>
          <a:prstGeom prst="rect">
            <a:avLst/>
          </a:prstGeom>
        </p:spPr>
      </p:pic>
      <p:pic>
        <p:nvPicPr>
          <p:cNvPr id="20" name="Picture 19" descr="A graph with red and blue dots&#10;&#10;Description automatically generated">
            <a:extLst>
              <a:ext uri="{FF2B5EF4-FFF2-40B4-BE49-F238E27FC236}">
                <a16:creationId xmlns:a16="http://schemas.microsoft.com/office/drawing/2014/main" id="{6FF56805-9C25-6C49-CC2D-5876F0852A0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494769" y="3661223"/>
            <a:ext cx="2826740" cy="2672353"/>
          </a:xfrm>
          <a:prstGeom prst="rect">
            <a:avLst/>
          </a:prstGeom>
        </p:spPr>
      </p:pic>
      <p:pic>
        <p:nvPicPr>
          <p:cNvPr id="21" name="Picture 20" descr="A graph with red and blue dots&#10;&#10;Description automatically generated">
            <a:extLst>
              <a:ext uri="{FF2B5EF4-FFF2-40B4-BE49-F238E27FC236}">
                <a16:creationId xmlns:a16="http://schemas.microsoft.com/office/drawing/2014/main" id="{961657A1-3EF8-2A0D-58EF-27C71D8D2A5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613889" y="3690971"/>
            <a:ext cx="2822919" cy="2612859"/>
          </a:xfrm>
          <a:prstGeom prst="rect">
            <a:avLst/>
          </a:prstGeom>
        </p:spPr>
      </p:pic>
      <p:pic>
        <p:nvPicPr>
          <p:cNvPr id="22" name="Picture 21" descr="A graph with red and blue lines&#10;&#10;Description automatically generated">
            <a:extLst>
              <a:ext uri="{FF2B5EF4-FFF2-40B4-BE49-F238E27FC236}">
                <a16:creationId xmlns:a16="http://schemas.microsoft.com/office/drawing/2014/main" id="{F7BF9DEF-473F-5598-674D-3F81039EECB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694196" y="3730767"/>
            <a:ext cx="2774185" cy="2360850"/>
          </a:xfrm>
          <a:prstGeom prst="rect">
            <a:avLst/>
          </a:prstGeom>
        </p:spPr>
      </p:pic>
    </p:spTree>
    <p:extLst>
      <p:ext uri="{BB962C8B-B14F-4D97-AF65-F5344CB8AC3E}">
        <p14:creationId xmlns:p14="http://schemas.microsoft.com/office/powerpoint/2010/main" val="30881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7D567D-4DB0-A4EA-9FD0-4CE6E3A3AFC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FEED5B2-EE53-3306-5B92-79050F4DF7E9}"/>
              </a:ext>
            </a:extLst>
          </p:cNvPr>
          <p:cNvSpPr>
            <a:spLocks noGrp="1"/>
          </p:cNvSpPr>
          <p:nvPr>
            <p:ph type="title"/>
          </p:nvPr>
        </p:nvSpPr>
        <p:spPr>
          <a:xfrm>
            <a:off x="4434509" y="176654"/>
            <a:ext cx="4119346" cy="610863"/>
          </a:xfrm>
        </p:spPr>
        <p:txBody>
          <a:bodyPr>
            <a:noAutofit/>
          </a:bodyPr>
          <a:lstStyle/>
          <a:p>
            <a:r>
              <a:rPr lang="en-US" dirty="0">
                <a:latin typeface="Calibri" panose="020F0502020204030204" pitchFamily="34" charset="0"/>
                <a:ea typeface="Calibri" panose="020F0502020204030204" pitchFamily="34" charset="0"/>
                <a:cs typeface="Calibri" panose="020F0502020204030204" pitchFamily="34" charset="0"/>
              </a:rPr>
              <a:t>Ablation Study</a:t>
            </a:r>
          </a:p>
        </p:txBody>
      </p:sp>
      <p:sp>
        <p:nvSpPr>
          <p:cNvPr id="11" name="Slide Number Placeholder 10">
            <a:extLst>
              <a:ext uri="{FF2B5EF4-FFF2-40B4-BE49-F238E27FC236}">
                <a16:creationId xmlns:a16="http://schemas.microsoft.com/office/drawing/2014/main" id="{F359BEE7-2B75-5CA0-0C90-59676F9D3C03}"/>
              </a:ext>
            </a:extLst>
          </p:cNvPr>
          <p:cNvSpPr>
            <a:spLocks noGrp="1"/>
          </p:cNvSpPr>
          <p:nvPr>
            <p:ph type="sldNum" sz="quarter" idx="13"/>
          </p:nvPr>
        </p:nvSpPr>
        <p:spPr/>
        <p:txBody>
          <a:bodyPr/>
          <a:lstStyle/>
          <a:p>
            <a:fld id="{294A09A9-5501-47C1-A89A-A340965A2BE2}" type="slidenum">
              <a:rPr lang="en-US" smtClean="0"/>
              <a:pPr/>
              <a:t>13</a:t>
            </a:fld>
            <a:endParaRPr lang="en-US" dirty="0">
              <a:latin typeface="+mn-lt"/>
            </a:endParaRPr>
          </a:p>
        </p:txBody>
      </p:sp>
      <p:sp>
        <p:nvSpPr>
          <p:cNvPr id="2" name="TextBox 1">
            <a:extLst>
              <a:ext uri="{FF2B5EF4-FFF2-40B4-BE49-F238E27FC236}">
                <a16:creationId xmlns:a16="http://schemas.microsoft.com/office/drawing/2014/main" id="{DB04CCF7-A9F9-0B13-A1B5-C9C114DC7F9E}"/>
              </a:ext>
            </a:extLst>
          </p:cNvPr>
          <p:cNvSpPr txBox="1"/>
          <p:nvPr/>
        </p:nvSpPr>
        <p:spPr>
          <a:xfrm>
            <a:off x="1112169" y="1060038"/>
            <a:ext cx="10139491" cy="4832092"/>
          </a:xfrm>
          <a:prstGeom prst="rect">
            <a:avLst/>
          </a:prstGeom>
          <a:noFill/>
        </p:spPr>
        <p:txBody>
          <a:bodyPr wrap="square" rtlCol="0">
            <a:spAutoFit/>
          </a:bodyPr>
          <a:lstStyle/>
          <a:p>
            <a:pPr marL="285750" indent="-285750" algn="just">
              <a:buFont typeface="Arial" panose="020B0604020202020204" pitchFamily="34" charset="0"/>
              <a:buChar char="•"/>
            </a:pPr>
            <a:r>
              <a:rPr lang="en-US" sz="2800" dirty="0">
                <a:solidFill>
                  <a:schemeClr val="bg1"/>
                </a:solidFill>
                <a:latin typeface="Calibri" panose="020F0502020204030204" pitchFamily="34" charset="0"/>
                <a:ea typeface="Calibri" panose="020F0502020204030204" pitchFamily="34" charset="0"/>
                <a:cs typeface="Calibri" panose="020F0502020204030204" pitchFamily="34" charset="0"/>
              </a:rPr>
              <a:t>Comparison of different input representations:</a:t>
            </a:r>
          </a:p>
          <a:p>
            <a:pPr algn="just"/>
            <a:r>
              <a:rPr lang="en-US" sz="2800" dirty="0">
                <a:solidFill>
                  <a:schemeClr val="bg1"/>
                </a:solidFill>
                <a:latin typeface="Calibri" panose="020F0502020204030204" pitchFamily="34" charset="0"/>
                <a:ea typeface="Calibri" panose="020F0502020204030204" pitchFamily="34" charset="0"/>
                <a:cs typeface="Calibri" panose="020F0502020204030204" pitchFamily="34" charset="0"/>
              </a:rPr>
              <a:t>	Full covariance matrix vs. reduced representations</a:t>
            </a:r>
          </a:p>
          <a:p>
            <a:pPr algn="just"/>
            <a:r>
              <a:rPr lang="en-US" sz="2800" dirty="0">
                <a:solidFill>
                  <a:schemeClr val="bg1"/>
                </a:solidFill>
                <a:latin typeface="Calibri" panose="020F0502020204030204" pitchFamily="34" charset="0"/>
                <a:ea typeface="Calibri" panose="020F0502020204030204" pitchFamily="34" charset="0"/>
                <a:cs typeface="Calibri" panose="020F0502020204030204" pitchFamily="34" charset="0"/>
              </a:rPr>
              <a:t>	Excluding phase information increased RMSE</a:t>
            </a:r>
          </a:p>
          <a:p>
            <a:pPr marL="285750" indent="-285750" algn="just">
              <a:buFont typeface="Arial" panose="020B0604020202020204" pitchFamily="34" charset="0"/>
              <a:buChar char="•"/>
            </a:pPr>
            <a:endParaRPr lang="en-US" sz="28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marL="285750" indent="-285750" algn="just">
              <a:buFont typeface="Arial" panose="020B0604020202020204" pitchFamily="34" charset="0"/>
              <a:buChar char="•"/>
            </a:pPr>
            <a:r>
              <a:rPr lang="en-US" sz="2800" dirty="0">
                <a:solidFill>
                  <a:schemeClr val="bg1"/>
                </a:solidFill>
                <a:latin typeface="Calibri" panose="020F0502020204030204" pitchFamily="34" charset="0"/>
                <a:ea typeface="Calibri" panose="020F0502020204030204" pitchFamily="34" charset="0"/>
                <a:cs typeface="Calibri" panose="020F0502020204030204" pitchFamily="34" charset="0"/>
              </a:rPr>
              <a:t>Testing different network depths:</a:t>
            </a:r>
          </a:p>
          <a:p>
            <a:pPr algn="just"/>
            <a:r>
              <a:rPr lang="en-US" sz="2800" dirty="0">
                <a:solidFill>
                  <a:schemeClr val="bg1"/>
                </a:solidFill>
                <a:latin typeface="Calibri" panose="020F0502020204030204" pitchFamily="34" charset="0"/>
                <a:ea typeface="Calibri" panose="020F0502020204030204" pitchFamily="34" charset="0"/>
                <a:cs typeface="Calibri" panose="020F0502020204030204" pitchFamily="34" charset="0"/>
              </a:rPr>
              <a:t>	CNN-Small: 47% faster inference but slight accuracy drop</a:t>
            </a:r>
          </a:p>
          <a:p>
            <a:pPr algn="just"/>
            <a:r>
              <a:rPr lang="en-US" sz="2800" dirty="0">
                <a:solidFill>
                  <a:schemeClr val="bg1"/>
                </a:solidFill>
                <a:latin typeface="Calibri" panose="020F0502020204030204" pitchFamily="34" charset="0"/>
                <a:ea typeface="Calibri" panose="020F0502020204030204" pitchFamily="34" charset="0"/>
                <a:cs typeface="Calibri" panose="020F0502020204030204" pitchFamily="34" charset="0"/>
              </a:rPr>
              <a:t>	Res-CNN: Higher accuracy but computationally expensive</a:t>
            </a:r>
          </a:p>
          <a:p>
            <a:pPr marL="285750" indent="-285750" algn="just">
              <a:buFont typeface="Arial" panose="020B0604020202020204" pitchFamily="34" charset="0"/>
              <a:buChar char="•"/>
            </a:pPr>
            <a:endParaRPr lang="en-US" sz="28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marL="285750" indent="-285750" algn="just">
              <a:buFont typeface="Arial" panose="020B0604020202020204" pitchFamily="34" charset="0"/>
              <a:buChar char="•"/>
            </a:pPr>
            <a:r>
              <a:rPr lang="en-US" sz="2800" dirty="0">
                <a:solidFill>
                  <a:schemeClr val="bg1"/>
                </a:solidFill>
                <a:latin typeface="Calibri" panose="020F0502020204030204" pitchFamily="34" charset="0"/>
                <a:ea typeface="Calibri" panose="020F0502020204030204" pitchFamily="34" charset="0"/>
                <a:cs typeface="Calibri" panose="020F0502020204030204" pitchFamily="34" charset="0"/>
              </a:rPr>
              <a:t>Angular resolution impact:</a:t>
            </a:r>
          </a:p>
          <a:p>
            <a:pPr algn="just"/>
            <a:r>
              <a:rPr lang="en-US" sz="2800" dirty="0">
                <a:solidFill>
                  <a:schemeClr val="bg1"/>
                </a:solidFill>
                <a:latin typeface="Calibri" panose="020F0502020204030204" pitchFamily="34" charset="0"/>
                <a:ea typeface="Calibri" panose="020F0502020204030204" pitchFamily="34" charset="0"/>
                <a:cs typeface="Calibri" panose="020F0502020204030204" pitchFamily="34" charset="0"/>
              </a:rPr>
              <a:t>	1° resolution: More accurate</a:t>
            </a:r>
          </a:p>
          <a:p>
            <a:pPr algn="just"/>
            <a:r>
              <a:rPr lang="en-US" sz="2800" dirty="0">
                <a:solidFill>
                  <a:schemeClr val="bg1"/>
                </a:solidFill>
                <a:latin typeface="Calibri" panose="020F0502020204030204" pitchFamily="34" charset="0"/>
                <a:ea typeface="Calibri" panose="020F0502020204030204" pitchFamily="34" charset="0"/>
                <a:cs typeface="Calibri" panose="020F0502020204030204" pitchFamily="34" charset="0"/>
              </a:rPr>
              <a:t>	2° resolution: Faster but less precise</a:t>
            </a:r>
          </a:p>
        </p:txBody>
      </p:sp>
    </p:spTree>
    <p:extLst>
      <p:ext uri="{BB962C8B-B14F-4D97-AF65-F5344CB8AC3E}">
        <p14:creationId xmlns:p14="http://schemas.microsoft.com/office/powerpoint/2010/main" val="35892611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064691-9AF7-DC4B-4759-C00386C6C61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AB275E9-59BA-9934-C28D-D432F199F282}"/>
              </a:ext>
            </a:extLst>
          </p:cNvPr>
          <p:cNvSpPr>
            <a:spLocks noGrp="1"/>
          </p:cNvSpPr>
          <p:nvPr>
            <p:ph type="title"/>
          </p:nvPr>
        </p:nvSpPr>
        <p:spPr>
          <a:xfrm>
            <a:off x="2099469" y="804310"/>
            <a:ext cx="8166488" cy="610863"/>
          </a:xfrm>
        </p:spPr>
        <p:txBody>
          <a:bodyPr>
            <a:noAutofit/>
          </a:bodyPr>
          <a:lstStyle/>
          <a:p>
            <a:pPr algn="ctr"/>
            <a:r>
              <a:rPr lang="en-US" dirty="0">
                <a:latin typeface="Calibri" panose="020F0502020204030204" pitchFamily="34" charset="0"/>
                <a:ea typeface="Calibri" panose="020F0502020204030204" pitchFamily="34" charset="0"/>
                <a:cs typeface="Calibri" panose="020F0502020204030204" pitchFamily="34" charset="0"/>
              </a:rPr>
              <a:t>Computational Complexity Analysis</a:t>
            </a:r>
          </a:p>
        </p:txBody>
      </p:sp>
      <p:sp>
        <p:nvSpPr>
          <p:cNvPr id="11" name="Slide Number Placeholder 10">
            <a:extLst>
              <a:ext uri="{FF2B5EF4-FFF2-40B4-BE49-F238E27FC236}">
                <a16:creationId xmlns:a16="http://schemas.microsoft.com/office/drawing/2014/main" id="{6D2CBAFF-5CF0-1194-39FC-04D2B829DC46}"/>
              </a:ext>
            </a:extLst>
          </p:cNvPr>
          <p:cNvSpPr>
            <a:spLocks noGrp="1"/>
          </p:cNvSpPr>
          <p:nvPr>
            <p:ph type="sldNum" sz="quarter" idx="13"/>
          </p:nvPr>
        </p:nvSpPr>
        <p:spPr/>
        <p:txBody>
          <a:bodyPr/>
          <a:lstStyle/>
          <a:p>
            <a:fld id="{294A09A9-5501-47C1-A89A-A340965A2BE2}" type="slidenum">
              <a:rPr lang="en-US" smtClean="0"/>
              <a:pPr/>
              <a:t>14</a:t>
            </a:fld>
            <a:endParaRPr lang="en-US" dirty="0">
              <a:latin typeface="+mn-lt"/>
            </a:endParaRPr>
          </a:p>
        </p:txBody>
      </p:sp>
      <p:pic>
        <p:nvPicPr>
          <p:cNvPr id="4" name="Picture 3">
            <a:extLst>
              <a:ext uri="{FF2B5EF4-FFF2-40B4-BE49-F238E27FC236}">
                <a16:creationId xmlns:a16="http://schemas.microsoft.com/office/drawing/2014/main" id="{EF915471-94CA-AF84-E8D3-CF9135BCCE96}"/>
              </a:ext>
            </a:extLst>
          </p:cNvPr>
          <p:cNvPicPr>
            <a:picLocks noChangeAspect="1"/>
          </p:cNvPicPr>
          <p:nvPr/>
        </p:nvPicPr>
        <p:blipFill>
          <a:blip r:embed="rId3"/>
          <a:stretch>
            <a:fillRect/>
          </a:stretch>
        </p:blipFill>
        <p:spPr>
          <a:xfrm>
            <a:off x="4044067" y="1463608"/>
            <a:ext cx="4277293" cy="597759"/>
          </a:xfrm>
          <a:prstGeom prst="rect">
            <a:avLst/>
          </a:prstGeom>
        </p:spPr>
      </p:pic>
      <p:pic>
        <p:nvPicPr>
          <p:cNvPr id="6" name="Picture 5">
            <a:extLst>
              <a:ext uri="{FF2B5EF4-FFF2-40B4-BE49-F238E27FC236}">
                <a16:creationId xmlns:a16="http://schemas.microsoft.com/office/drawing/2014/main" id="{C243F779-572E-8EEA-FB21-74737FA1E741}"/>
              </a:ext>
            </a:extLst>
          </p:cNvPr>
          <p:cNvPicPr>
            <a:picLocks noChangeAspect="1"/>
          </p:cNvPicPr>
          <p:nvPr/>
        </p:nvPicPr>
        <p:blipFill>
          <a:blip r:embed="rId4"/>
          <a:stretch>
            <a:fillRect/>
          </a:stretch>
        </p:blipFill>
        <p:spPr>
          <a:xfrm>
            <a:off x="4407624" y="2061367"/>
            <a:ext cx="2855528" cy="404533"/>
          </a:xfrm>
          <a:prstGeom prst="rect">
            <a:avLst/>
          </a:prstGeom>
        </p:spPr>
      </p:pic>
      <p:pic>
        <p:nvPicPr>
          <p:cNvPr id="8" name="Picture 7">
            <a:extLst>
              <a:ext uri="{FF2B5EF4-FFF2-40B4-BE49-F238E27FC236}">
                <a16:creationId xmlns:a16="http://schemas.microsoft.com/office/drawing/2014/main" id="{8CCAE65F-6459-CF74-8636-151911CCD422}"/>
              </a:ext>
            </a:extLst>
          </p:cNvPr>
          <p:cNvPicPr>
            <a:picLocks noChangeAspect="1"/>
          </p:cNvPicPr>
          <p:nvPr/>
        </p:nvPicPr>
        <p:blipFill>
          <a:blip r:embed="rId5"/>
          <a:stretch>
            <a:fillRect/>
          </a:stretch>
        </p:blipFill>
        <p:spPr>
          <a:xfrm>
            <a:off x="4463999" y="2426556"/>
            <a:ext cx="2799153" cy="709645"/>
          </a:xfrm>
          <a:prstGeom prst="rect">
            <a:avLst/>
          </a:prstGeom>
        </p:spPr>
      </p:pic>
      <p:pic>
        <p:nvPicPr>
          <p:cNvPr id="10" name="Picture 9">
            <a:extLst>
              <a:ext uri="{FF2B5EF4-FFF2-40B4-BE49-F238E27FC236}">
                <a16:creationId xmlns:a16="http://schemas.microsoft.com/office/drawing/2014/main" id="{4D13DC64-277A-7773-0588-5DFDDD52ACDE}"/>
              </a:ext>
            </a:extLst>
          </p:cNvPr>
          <p:cNvPicPr>
            <a:picLocks noChangeAspect="1"/>
          </p:cNvPicPr>
          <p:nvPr/>
        </p:nvPicPr>
        <p:blipFill>
          <a:blip r:embed="rId6"/>
          <a:stretch>
            <a:fillRect/>
          </a:stretch>
        </p:blipFill>
        <p:spPr>
          <a:xfrm>
            <a:off x="2265919" y="3174638"/>
            <a:ext cx="7432087" cy="2282102"/>
          </a:xfrm>
          <a:prstGeom prst="rect">
            <a:avLst/>
          </a:prstGeom>
        </p:spPr>
      </p:pic>
    </p:spTree>
    <p:extLst>
      <p:ext uri="{BB962C8B-B14F-4D97-AF65-F5344CB8AC3E}">
        <p14:creationId xmlns:p14="http://schemas.microsoft.com/office/powerpoint/2010/main" val="14843150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9DCA8EB-B770-A50C-4CE9-360DE05CEB3F}"/>
              </a:ext>
            </a:extLst>
          </p:cNvPr>
          <p:cNvSpPr>
            <a:spLocks noGrp="1"/>
          </p:cNvSpPr>
          <p:nvPr>
            <p:ph type="title"/>
          </p:nvPr>
        </p:nvSpPr>
        <p:spPr>
          <a:xfrm>
            <a:off x="2635297" y="639359"/>
            <a:ext cx="7951914" cy="610863"/>
          </a:xfrm>
        </p:spPr>
        <p:txBody>
          <a:bodyPr>
            <a:noAutofit/>
          </a:bodyPr>
          <a:lstStyle/>
          <a:p>
            <a:r>
              <a:rPr lang="en-US" dirty="0">
                <a:latin typeface="Calibri" panose="020F0502020204030204" pitchFamily="34" charset="0"/>
                <a:ea typeface="Calibri" panose="020F0502020204030204" pitchFamily="34" charset="0"/>
                <a:cs typeface="Calibri" panose="020F0502020204030204" pitchFamily="34" charset="0"/>
              </a:rPr>
              <a:t>Conclusion &amp; Future Direction</a:t>
            </a:r>
          </a:p>
        </p:txBody>
      </p:sp>
      <p:sp>
        <p:nvSpPr>
          <p:cNvPr id="9" name="Slide Number Placeholder 8">
            <a:extLst>
              <a:ext uri="{FF2B5EF4-FFF2-40B4-BE49-F238E27FC236}">
                <a16:creationId xmlns:a16="http://schemas.microsoft.com/office/drawing/2014/main" id="{3F2BD2A1-0D29-E681-DB87-8D4B35F3B0E9}"/>
              </a:ext>
            </a:extLst>
          </p:cNvPr>
          <p:cNvSpPr>
            <a:spLocks noGrp="1"/>
          </p:cNvSpPr>
          <p:nvPr>
            <p:ph type="sldNum" sz="quarter" idx="13"/>
          </p:nvPr>
        </p:nvSpPr>
        <p:spPr/>
        <p:txBody>
          <a:bodyPr/>
          <a:lstStyle/>
          <a:p>
            <a:fld id="{294A09A9-5501-47C1-A89A-A340965A2BE2}" type="slidenum">
              <a:rPr lang="en-US" smtClean="0"/>
              <a:pPr/>
              <a:t>15</a:t>
            </a:fld>
            <a:endParaRPr lang="en-US" dirty="0">
              <a:latin typeface="+mn-lt"/>
            </a:endParaRPr>
          </a:p>
        </p:txBody>
      </p:sp>
      <p:sp>
        <p:nvSpPr>
          <p:cNvPr id="2" name="TextBox 1">
            <a:extLst>
              <a:ext uri="{FF2B5EF4-FFF2-40B4-BE49-F238E27FC236}">
                <a16:creationId xmlns:a16="http://schemas.microsoft.com/office/drawing/2014/main" id="{469D8020-00B3-AB87-6DD4-C281326AF9CF}"/>
              </a:ext>
            </a:extLst>
          </p:cNvPr>
          <p:cNvSpPr txBox="1"/>
          <p:nvPr/>
        </p:nvSpPr>
        <p:spPr>
          <a:xfrm>
            <a:off x="791183" y="1449145"/>
            <a:ext cx="10875523" cy="4893647"/>
          </a:xfrm>
          <a:prstGeom prst="rect">
            <a:avLst/>
          </a:prstGeom>
          <a:noFill/>
        </p:spPr>
        <p:txBody>
          <a:bodyPr wrap="square" rtlCol="0">
            <a:spAutoFit/>
          </a:bodyPr>
          <a:lstStyle/>
          <a:p>
            <a:pPr marL="285750" indent="-285750" algn="just">
              <a:buFont typeface="Arial" panose="020B0604020202020204" pitchFamily="34" charset="0"/>
              <a:buChar char="•"/>
            </a:pPr>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Deep Learning Models can overcome the limitations of the analytical methods, like low performance under low SNR, targets that are close to each other, imperfections </a:t>
            </a:r>
          </a:p>
          <a:p>
            <a:pPr marL="285750" indent="-285750" algn="just">
              <a:buFont typeface="Arial" panose="020B0604020202020204" pitchFamily="34" charset="0"/>
              <a:buChar char="•"/>
            </a:pPr>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Using the Real, Imaginary, and Phase of the Covariance Matrix as Input</a:t>
            </a:r>
          </a:p>
          <a:p>
            <a:pPr marL="285750" indent="-285750" algn="just">
              <a:buFont typeface="Arial" panose="020B0604020202020204" pitchFamily="34" charset="0"/>
              <a:buChar char="•"/>
            </a:pPr>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Creating a dataset for all the different combinations for two targets, for Narrow Band Grid and Wide Band Grid</a:t>
            </a:r>
          </a:p>
          <a:p>
            <a:pPr marL="285750" indent="-285750" algn="just">
              <a:buFont typeface="Arial" panose="020B0604020202020204" pitchFamily="34" charset="0"/>
              <a:buChar char="•"/>
            </a:pPr>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The trained model for the Narrow Band can effectively estimate the DOAs</a:t>
            </a:r>
          </a:p>
          <a:p>
            <a:pPr marL="285750" indent="-285750" algn="just">
              <a:buFont typeface="Arial" panose="020B0604020202020204" pitchFamily="34" charset="0"/>
              <a:buChar char="•"/>
            </a:pPr>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The trained model for the Wide Band has errors and misclassification for some DOAs.</a:t>
            </a:r>
          </a:p>
          <a:p>
            <a:pPr marL="285750" indent="-285750" algn="just">
              <a:buFont typeface="Arial" panose="020B0604020202020204" pitchFamily="34" charset="0"/>
              <a:buChar char="•"/>
            </a:pPr>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Future Directions-</a:t>
            </a:r>
          </a:p>
          <a:p>
            <a:pPr algn="just"/>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	- Hybrid deep learning models, Real-world dataset expansion</a:t>
            </a:r>
          </a:p>
          <a:p>
            <a:pPr algn="just"/>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	- Lightweight architectures for real-time applications, Incorporating temporal dynamics (RNNs, attention mechanisms)</a:t>
            </a:r>
          </a:p>
          <a:p>
            <a:pPr marL="285750" indent="-285750" algn="just">
              <a:buFont typeface="Arial" panose="020B0604020202020204" pitchFamily="34" charset="0"/>
              <a:buChar char="•"/>
            </a:pPr>
            <a:endPar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3255420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3E4573F4-21AA-5CB9-EA2B-1E1404A28C40}"/>
              </a:ext>
            </a:extLst>
          </p:cNvPr>
          <p:cNvSpPr>
            <a:spLocks noGrp="1"/>
          </p:cNvSpPr>
          <p:nvPr>
            <p:ph type="title"/>
          </p:nvPr>
        </p:nvSpPr>
        <p:spPr>
          <a:xfrm>
            <a:off x="4444411" y="401543"/>
            <a:ext cx="4102060" cy="610863"/>
          </a:xfrm>
        </p:spPr>
        <p:txBody>
          <a:bodyPr>
            <a:normAutofit/>
          </a:bodyPr>
          <a:lstStyle/>
          <a:p>
            <a:r>
              <a:rPr lang="en-US" dirty="0">
                <a:latin typeface="Calibri" panose="020F0502020204030204" pitchFamily="34" charset="0"/>
                <a:ea typeface="Calibri" panose="020F0502020204030204" pitchFamily="34" charset="0"/>
                <a:cs typeface="Calibri" panose="020F0502020204030204" pitchFamily="34" charset="0"/>
              </a:rPr>
              <a:t>Key References</a:t>
            </a:r>
          </a:p>
        </p:txBody>
      </p:sp>
      <p:sp>
        <p:nvSpPr>
          <p:cNvPr id="13" name="TextBox 12">
            <a:extLst>
              <a:ext uri="{FF2B5EF4-FFF2-40B4-BE49-F238E27FC236}">
                <a16:creationId xmlns:a16="http://schemas.microsoft.com/office/drawing/2014/main" id="{3FDDEEAC-DDAF-72DB-58F8-134CB5A83A1F}"/>
              </a:ext>
            </a:extLst>
          </p:cNvPr>
          <p:cNvSpPr txBox="1"/>
          <p:nvPr/>
        </p:nvSpPr>
        <p:spPr>
          <a:xfrm>
            <a:off x="819647" y="1012406"/>
            <a:ext cx="10996215" cy="5401479"/>
          </a:xfrm>
          <a:prstGeom prst="rect">
            <a:avLst/>
          </a:prstGeom>
          <a:noFill/>
        </p:spPr>
        <p:txBody>
          <a:bodyPr wrap="square" rtlCol="0">
            <a:spAutoFit/>
          </a:bodyPr>
          <a:lstStyle/>
          <a:p>
            <a:pPr marL="342900" indent="-342900">
              <a:buFont typeface="+mj-lt"/>
              <a:buAutoNum type="arabicPeriod"/>
            </a:pPr>
            <a:r>
              <a:rPr lang="en-US" sz="2300" dirty="0">
                <a:solidFill>
                  <a:schemeClr val="bg1"/>
                </a:solidFill>
                <a:latin typeface="Calibri" panose="020F0502020204030204" pitchFamily="34" charset="0"/>
                <a:ea typeface="Calibri" panose="020F0502020204030204" pitchFamily="34" charset="0"/>
                <a:cs typeface="Calibri" panose="020F0502020204030204" pitchFamily="34" charset="0"/>
              </a:rPr>
              <a:t>F. Wen, J. Shi, J. He, and T.-K. Truong, “2D-DOD and 2D-DOA estimation using sparse L-shaped EMVS-MIMO radar,” IEEE Transactions on Aerospace and Electronic Systems, vol. 59, no. 2, pp. 2077–2084, 2023.</a:t>
            </a:r>
          </a:p>
          <a:p>
            <a:pPr marL="342900" indent="-342900">
              <a:buFont typeface="+mj-lt"/>
              <a:buAutoNum type="arabicPeriod"/>
            </a:pPr>
            <a:endParaRPr lang="en-US" sz="23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marL="342900" indent="-342900">
              <a:buFont typeface="+mj-lt"/>
              <a:buAutoNum type="arabicPeriod"/>
            </a:pPr>
            <a:r>
              <a:rPr lang="en-US" sz="2300" dirty="0">
                <a:solidFill>
                  <a:schemeClr val="bg1"/>
                </a:solidFill>
                <a:latin typeface="Calibri" panose="020F0502020204030204" pitchFamily="34" charset="0"/>
                <a:ea typeface="Calibri" panose="020F0502020204030204" pitchFamily="34" charset="0"/>
                <a:cs typeface="Calibri" panose="020F0502020204030204" pitchFamily="34" charset="0"/>
              </a:rPr>
              <a:t>H. Lee, J. Ahn, Y. Kim, and J. Chung, “Direction-of-arrival estimation of far-field sources under near-field interferences in passive sonar array,” IEEE Access, vol. 9, pp. 28,413–28,420, 2021.</a:t>
            </a:r>
          </a:p>
          <a:p>
            <a:pPr marL="342900" indent="-342900">
              <a:buFont typeface="+mj-lt"/>
              <a:buAutoNum type="arabicPeriod"/>
            </a:pPr>
            <a:endParaRPr lang="en-US" sz="23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marL="342900" indent="-342900">
              <a:buFont typeface="+mj-lt"/>
              <a:buAutoNum type="arabicPeriod"/>
            </a:pPr>
            <a:r>
              <a:rPr lang="en-US" sz="2300" dirty="0">
                <a:solidFill>
                  <a:schemeClr val="bg1"/>
                </a:solidFill>
                <a:latin typeface="Calibri" panose="020F0502020204030204" pitchFamily="34" charset="0"/>
                <a:ea typeface="Calibri" panose="020F0502020204030204" pitchFamily="34" charset="0"/>
                <a:cs typeface="Calibri" panose="020F0502020204030204" pitchFamily="34" charset="0"/>
              </a:rPr>
              <a:t>C. Yu, Y. Li, L. Li, Z. Huang, Q. Wu, and R. C. de, “Dual Lawson norm-based robust DOA estimation for RIS-aided wireless communication systems,” IEEE Transactions on Aerospace and Electronic Systems, pp. 1–11, 2024.</a:t>
            </a:r>
          </a:p>
          <a:p>
            <a:pPr marL="342900" indent="-342900">
              <a:buFont typeface="+mj-lt"/>
              <a:buAutoNum type="arabicPeriod"/>
            </a:pPr>
            <a:endParaRPr lang="en-US" sz="23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marL="342900" indent="-342900">
              <a:buFont typeface="+mj-lt"/>
              <a:buAutoNum type="arabicPeriod"/>
            </a:pPr>
            <a:r>
              <a:rPr lang="en-US" sz="2300" dirty="0">
                <a:solidFill>
                  <a:schemeClr val="bg1"/>
                </a:solidFill>
                <a:latin typeface="Calibri" panose="020F0502020204030204" pitchFamily="34" charset="0"/>
                <a:ea typeface="Calibri" panose="020F0502020204030204" pitchFamily="34" charset="0"/>
                <a:cs typeface="Calibri" panose="020F0502020204030204" pitchFamily="34" charset="0"/>
              </a:rPr>
              <a:t>P. Chen, Z. Chen, L. Liu, Y. Chen, and X. Wang, “SDOA-Net: An efficient deep learning-based DOA estimation network for imperfect array,” IEEE Transactions on Instrumentation and Measurement, 2024.</a:t>
            </a:r>
          </a:p>
        </p:txBody>
      </p:sp>
      <p:sp>
        <p:nvSpPr>
          <p:cNvPr id="7" name="Slide Number Placeholder 6">
            <a:extLst>
              <a:ext uri="{FF2B5EF4-FFF2-40B4-BE49-F238E27FC236}">
                <a16:creationId xmlns:a16="http://schemas.microsoft.com/office/drawing/2014/main" id="{6BAB24EF-375D-D5D5-FF56-47DDDA09EBAA}"/>
              </a:ext>
            </a:extLst>
          </p:cNvPr>
          <p:cNvSpPr>
            <a:spLocks noGrp="1"/>
          </p:cNvSpPr>
          <p:nvPr>
            <p:ph type="sldNum" sz="quarter" idx="13"/>
          </p:nvPr>
        </p:nvSpPr>
        <p:spPr/>
        <p:txBody>
          <a:bodyPr/>
          <a:lstStyle/>
          <a:p>
            <a:fld id="{294A09A9-5501-47C1-A89A-A340965A2BE2}" type="slidenum">
              <a:rPr lang="en-US" smtClean="0"/>
              <a:pPr/>
              <a:t>16</a:t>
            </a:fld>
            <a:endParaRPr lang="en-US" dirty="0">
              <a:latin typeface="+mn-lt"/>
            </a:endParaRPr>
          </a:p>
        </p:txBody>
      </p:sp>
    </p:spTree>
    <p:extLst>
      <p:ext uri="{BB962C8B-B14F-4D97-AF65-F5344CB8AC3E}">
        <p14:creationId xmlns:p14="http://schemas.microsoft.com/office/powerpoint/2010/main" val="22828052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7C8B67D3-1B4E-B0A6-9125-9062F47CD2A4}"/>
              </a:ext>
            </a:extLst>
          </p:cNvPr>
          <p:cNvSpPr>
            <a:spLocks noGrp="1"/>
          </p:cNvSpPr>
          <p:nvPr>
            <p:ph type="sldNum" sz="quarter" idx="13"/>
          </p:nvPr>
        </p:nvSpPr>
        <p:spPr/>
        <p:txBody>
          <a:bodyPr/>
          <a:lstStyle/>
          <a:p>
            <a:fld id="{294A09A9-5501-47C1-A89A-A340965A2BE2}" type="slidenum">
              <a:rPr lang="en-US" smtClean="0"/>
              <a:pPr/>
              <a:t>17</a:t>
            </a:fld>
            <a:endParaRPr lang="en-US" dirty="0">
              <a:latin typeface="+mn-lt"/>
            </a:endParaRPr>
          </a:p>
        </p:txBody>
      </p:sp>
      <p:sp>
        <p:nvSpPr>
          <p:cNvPr id="2" name="Title 10">
            <a:extLst>
              <a:ext uri="{FF2B5EF4-FFF2-40B4-BE49-F238E27FC236}">
                <a16:creationId xmlns:a16="http://schemas.microsoft.com/office/drawing/2014/main" id="{EBAFDF52-6453-1FF5-6E9D-636A5664DF12}"/>
              </a:ext>
            </a:extLst>
          </p:cNvPr>
          <p:cNvSpPr>
            <a:spLocks noGrp="1"/>
          </p:cNvSpPr>
          <p:nvPr>
            <p:ph type="title"/>
          </p:nvPr>
        </p:nvSpPr>
        <p:spPr>
          <a:xfrm>
            <a:off x="4488555" y="2772677"/>
            <a:ext cx="4102060" cy="610863"/>
          </a:xfrm>
        </p:spPr>
        <p:txBody>
          <a:bodyPr>
            <a:normAutofit/>
          </a:bodyPr>
          <a:lstStyle/>
          <a:p>
            <a:r>
              <a:rPr lang="en-US" dirty="0">
                <a:latin typeface="Calibri" panose="020F0502020204030204" pitchFamily="34" charset="0"/>
                <a:ea typeface="Calibri" panose="020F0502020204030204" pitchFamily="34" charset="0"/>
                <a:cs typeface="Calibri" panose="020F0502020204030204" pitchFamily="34" charset="0"/>
              </a:rPr>
              <a:t>Thank you!</a:t>
            </a:r>
          </a:p>
        </p:txBody>
      </p:sp>
    </p:spTree>
    <p:extLst>
      <p:ext uri="{BB962C8B-B14F-4D97-AF65-F5344CB8AC3E}">
        <p14:creationId xmlns:p14="http://schemas.microsoft.com/office/powerpoint/2010/main" val="3308310270"/>
      </p:ext>
    </p:extLst>
  </p:cSld>
  <p:clrMapOvr>
    <a:masterClrMapping/>
  </p:clrMapOvr>
</p:sld>
</file>

<file path=ppt/theme/theme1.xml><?xml version="1.0" encoding="utf-8"?>
<a:theme xmlns:a="http://schemas.openxmlformats.org/drawingml/2006/main" name="Theme1">
  <a:themeElements>
    <a:clrScheme name="Swiss">
      <a:dk1>
        <a:srgbClr val="000000"/>
      </a:dk1>
      <a:lt1>
        <a:srgbClr val="FFFFFF"/>
      </a:lt1>
      <a:dk2>
        <a:srgbClr val="E4E4E4"/>
      </a:dk2>
      <a:lt2>
        <a:srgbClr val="7CA655"/>
      </a:lt2>
      <a:accent1>
        <a:srgbClr val="A9D4DB"/>
      </a:accent1>
      <a:accent2>
        <a:srgbClr val="FBE284"/>
      </a:accent2>
      <a:accent3>
        <a:srgbClr val="4495A2"/>
      </a:accent3>
      <a:accent4>
        <a:srgbClr val="AA5881"/>
      </a:accent4>
      <a:accent5>
        <a:srgbClr val="E06742"/>
      </a:accent5>
      <a:accent6>
        <a:srgbClr val="F9D448"/>
      </a:accent6>
      <a:hlink>
        <a:srgbClr val="4495A2"/>
      </a:hlink>
      <a:folHlink>
        <a:srgbClr val="AA5881"/>
      </a:folHlink>
    </a:clrScheme>
    <a:fontScheme name="Custom 175">
      <a:majorFont>
        <a:latin typeface="Franklin Gothic Demi"/>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wissPresentation C_MW_JS_SL_v2" id="{50B954A5-DC84-41DE-87BB-B459A4E7EDA7}" vid="{75F44519-9FD6-49F7-AB9C-46D055682C3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52394509-fb14-43e7-92b5-456556b537a1"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C7912B40B35A7E4BBBCF324CA0226FBA" ma:contentTypeVersion="5" ma:contentTypeDescription="Create a new document." ma:contentTypeScope="" ma:versionID="c1253ff8ff6d8dd7b579459d3df871e5">
  <xsd:schema xmlns:xsd="http://www.w3.org/2001/XMLSchema" xmlns:xs="http://www.w3.org/2001/XMLSchema" xmlns:p="http://schemas.microsoft.com/office/2006/metadata/properties" xmlns:ns3="52394509-fb14-43e7-92b5-456556b537a1" targetNamespace="http://schemas.microsoft.com/office/2006/metadata/properties" ma:root="true" ma:fieldsID="1f65310639577b80d9e9c20c418d1c5e" ns3:_="">
    <xsd:import namespace="52394509-fb14-43e7-92b5-456556b537a1"/>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2394509-fb14-43e7-92b5-456556b537a1"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1446DA3-37A7-4516-A4F6-8B99D0D312BF}">
  <ds:schemaRefs>
    <ds:schemaRef ds:uri="http://schemas.microsoft.com/sharepoint/v3/contenttype/forms"/>
  </ds:schemaRefs>
</ds:datastoreItem>
</file>

<file path=customXml/itemProps2.xml><?xml version="1.0" encoding="utf-8"?>
<ds:datastoreItem xmlns:ds="http://schemas.openxmlformats.org/officeDocument/2006/customXml" ds:itemID="{6CC8E66C-AC30-44BA-8882-3290DF968F1F}">
  <ds:schemaRefs>
    <ds:schemaRef ds:uri="http://www.w3.org/XML/1998/namespace"/>
    <ds:schemaRef ds:uri="http://schemas.microsoft.com/office/infopath/2007/PartnerControls"/>
    <ds:schemaRef ds:uri="http://purl.org/dc/elements/1.1/"/>
    <ds:schemaRef ds:uri="http://schemas.microsoft.com/office/2006/documentManagement/types"/>
    <ds:schemaRef ds:uri="http://schemas.openxmlformats.org/package/2006/metadata/core-properties"/>
    <ds:schemaRef ds:uri="http://purl.org/dc/terms/"/>
    <ds:schemaRef ds:uri="52394509-fb14-43e7-92b5-456556b537a1"/>
    <ds:schemaRef ds:uri="http://schemas.microsoft.com/office/2006/metadata/properties"/>
    <ds:schemaRef ds:uri="http://purl.org/dc/dcmitype/"/>
  </ds:schemaRefs>
</ds:datastoreItem>
</file>

<file path=customXml/itemProps3.xml><?xml version="1.0" encoding="utf-8"?>
<ds:datastoreItem xmlns:ds="http://schemas.openxmlformats.org/officeDocument/2006/customXml" ds:itemID="{099C51B5-09AF-41E2-9F7F-3443209E8DF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2394509-fb14-43e7-92b5-456556b537a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0</TotalTime>
  <Words>4389</Words>
  <Application>Microsoft Office PowerPoint</Application>
  <PresentationFormat>Widescreen</PresentationFormat>
  <Paragraphs>335</Paragraphs>
  <Slides>17</Slides>
  <Notes>16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Arial</vt:lpstr>
      <vt:lpstr>Calibri</vt:lpstr>
      <vt:lpstr>Cambria Math</vt:lpstr>
      <vt:lpstr>Franklin Gothic Book</vt:lpstr>
      <vt:lpstr>Franklin Gothic Demi</vt:lpstr>
      <vt:lpstr>Times New Roman</vt:lpstr>
      <vt:lpstr>Wingdings</vt:lpstr>
      <vt:lpstr>Theme1</vt:lpstr>
      <vt:lpstr>PowerPoint Presentation</vt:lpstr>
      <vt:lpstr>Outline</vt:lpstr>
      <vt:lpstr>Introduction</vt:lpstr>
      <vt:lpstr>Motivation</vt:lpstr>
      <vt:lpstr>Related Works</vt:lpstr>
      <vt:lpstr>Project Objective</vt:lpstr>
      <vt:lpstr>Dataset Preparation</vt:lpstr>
      <vt:lpstr>Dataset Preparation</vt:lpstr>
      <vt:lpstr>Model Architecture</vt:lpstr>
      <vt:lpstr>Model Parameters</vt:lpstr>
      <vt:lpstr>Results</vt:lpstr>
      <vt:lpstr>Results</vt:lpstr>
      <vt:lpstr>Ablation Study</vt:lpstr>
      <vt:lpstr>Computational Complexity Analysis</vt:lpstr>
      <vt:lpstr>Conclusion &amp; Future Direction</vt:lpstr>
      <vt:lpstr>Key 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2020-10-14T20:04:43Z</dcterms:created>
  <dcterms:modified xsi:type="dcterms:W3CDTF">2025-03-26T20:01:23Z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0x010100C7912B40B35A7E4BBBCF324CA0226FBA</vt:lpwstr>
  </property>
  <property fmtid="{D5CDD505-2E9C-101B-9397-08002B2CF9AE}" pid="3" name="MSIP_Label_defa4170-0d19-0005-0004-bc88714345d2_Enabled">
    <vt:lpwstr>true</vt:lpwstr>
  </property>
  <property fmtid="{D5CDD505-2E9C-101B-9397-08002B2CF9AE}" pid="4" name="MSIP_Label_defa4170-0d19-0005-0004-bc88714345d2_SetDate">
    <vt:lpwstr>2024-09-04T06:27:42Z</vt:lpwstr>
  </property>
  <property fmtid="{D5CDD505-2E9C-101B-9397-08002B2CF9AE}" pid="5" name="MSIP_Label_defa4170-0d19-0005-0004-bc88714345d2_Method">
    <vt:lpwstr>Standard</vt:lpwstr>
  </property>
  <property fmtid="{D5CDD505-2E9C-101B-9397-08002B2CF9AE}" pid="6" name="MSIP_Label_defa4170-0d19-0005-0004-bc88714345d2_Name">
    <vt:lpwstr>defa4170-0d19-0005-0004-bc88714345d2</vt:lpwstr>
  </property>
  <property fmtid="{D5CDD505-2E9C-101B-9397-08002B2CF9AE}" pid="7" name="MSIP_Label_defa4170-0d19-0005-0004-bc88714345d2_SiteId">
    <vt:lpwstr>b91513ce-1df2-4466-be31-b1c92602dbe1</vt:lpwstr>
  </property>
  <property fmtid="{D5CDD505-2E9C-101B-9397-08002B2CF9AE}" pid="8" name="MSIP_Label_defa4170-0d19-0005-0004-bc88714345d2_ActionId">
    <vt:lpwstr>40ac7627-8784-4d9b-9f24-4fa6ad6cffeb</vt:lpwstr>
  </property>
  <property fmtid="{D5CDD505-2E9C-101B-9397-08002B2CF9AE}" pid="9" name="MSIP_Label_defa4170-0d19-0005-0004-bc88714345d2_ContentBits">
    <vt:lpwstr>0</vt:lpwstr>
  </property>
</Properties>
</file>